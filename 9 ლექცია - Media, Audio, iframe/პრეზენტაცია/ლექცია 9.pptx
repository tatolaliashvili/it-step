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  <p:sldMasterId id="2147483660" r:id="rId5"/>
  </p:sldMasterIdLst>
  <p:notesMasterIdLst>
    <p:notesMasterId r:id="rId14"/>
  </p:notesMasterIdLst>
  <p:sldIdLst>
    <p:sldId id="256" r:id="rId6"/>
    <p:sldId id="263" r:id="rId7"/>
    <p:sldId id="258" r:id="rId8"/>
    <p:sldId id="265" r:id="rId9"/>
    <p:sldId id="270" r:id="rId10"/>
    <p:sldId id="267" r:id="rId11"/>
    <p:sldId id="262" r:id="rId12"/>
    <p:sldId id="271" r:id="rId13"/>
  </p:sldIdLst>
  <p:sldSz cx="12192000" cy="6858000"/>
  <p:notesSz cx="6858000" cy="9144000"/>
  <p:embeddedFontLst>
    <p:embeddedFont>
      <p:font typeface="FiraGO" panose="020B0803050000020004" pitchFamily="34" charset="0"/>
      <p:regular r:id="rId15"/>
      <p:bold r:id="rId16"/>
      <p:italic r:id="rId17"/>
      <p:boldItalic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FiraGO Light" panose="020B0403050000020004" pitchFamily="34" charset="0"/>
      <p:regular r:id="rId23"/>
      <p: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5" roundtripDataSignature="AMtx7miGSzJV6VoQ7okuGXFlJ4wzkIxV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0C0C"/>
    <a:srgbClr val="F4DA33"/>
    <a:srgbClr val="1F51FF"/>
    <a:srgbClr val="D52A7B"/>
    <a:srgbClr val="6DC034"/>
    <a:srgbClr val="8F3FB3"/>
    <a:srgbClr val="662D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font" Target="fonts/font4.fntdata"/><Relationship Id="rId39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font" Target="fonts/font7.fnt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font" Target="fonts/font3.fntdata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10.fntdata"/><Relationship Id="rId37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36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35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029332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819968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487405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95264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6C6128F8-70FF-CD68-EC5C-9E89FB024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>
            <a:extLst>
              <a:ext uri="{FF2B5EF4-FFF2-40B4-BE49-F238E27FC236}">
                <a16:creationId xmlns:a16="http://schemas.microsoft.com/office/drawing/2014/main" id="{0760AC3D-A39D-B2CD-6E33-7BCBC101F9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6:notes">
            <a:extLst>
              <a:ext uri="{FF2B5EF4-FFF2-40B4-BE49-F238E27FC236}">
                <a16:creationId xmlns:a16="http://schemas.microsoft.com/office/drawing/2014/main" id="{D75B684C-B01E-6A58-30D5-38FD98260F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39821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6C6128F8-70FF-CD68-EC5C-9E89FB024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>
            <a:extLst>
              <a:ext uri="{FF2B5EF4-FFF2-40B4-BE49-F238E27FC236}">
                <a16:creationId xmlns:a16="http://schemas.microsoft.com/office/drawing/2014/main" id="{0760AC3D-A39D-B2CD-6E33-7BCBC101F9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6:notes">
            <a:extLst>
              <a:ext uri="{FF2B5EF4-FFF2-40B4-BE49-F238E27FC236}">
                <a16:creationId xmlns:a16="http://schemas.microsoft.com/office/drawing/2014/main" id="{D75B684C-B01E-6A58-30D5-38FD98260F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78549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>
            <a:spLocks noGrp="1"/>
          </p:cNvSpPr>
          <p:nvPr>
            <p:ph type="pic" idx="2"/>
          </p:nvPr>
        </p:nvSpPr>
        <p:spPr>
          <a:xfrm>
            <a:off x="5532357" y="855662"/>
            <a:ext cx="5759450" cy="514667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>
            <a:spLocks noGrp="1"/>
          </p:cNvSpPr>
          <p:nvPr>
            <p:ph type="pic" idx="2"/>
          </p:nvPr>
        </p:nvSpPr>
        <p:spPr>
          <a:xfrm>
            <a:off x="6096000" y="720671"/>
            <a:ext cx="6172200" cy="4873625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" name="Google Shape;68;p19"/>
          <p:cNvSpPr>
            <a:spLocks noGrp="1"/>
          </p:cNvSpPr>
          <p:nvPr>
            <p:ph type="pic" idx="3"/>
          </p:nvPr>
        </p:nvSpPr>
        <p:spPr>
          <a:xfrm>
            <a:off x="4038600" y="1936750"/>
            <a:ext cx="3533775" cy="3394075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6" name="Google Shape;96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2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5" name="Google Shape;115;p2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7" name="Google Shape;117;p2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3" name="Google Shape;133;p2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4" name="Google Shape;134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p2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1" name="Google Shape;14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anano303.github.io/media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"/>
          <p:cNvSpPr txBox="1"/>
          <p:nvPr/>
        </p:nvSpPr>
        <p:spPr>
          <a:xfrm>
            <a:off x="507975" y="2311372"/>
            <a:ext cx="1172096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1F51FF"/>
                </a:solidFill>
                <a:latin typeface="Arial"/>
                <a:ea typeface="Arial"/>
                <a:cs typeface="Arial"/>
                <a:sym typeface="Arial"/>
              </a:rPr>
              <a:t>FRONT-END W. ANGULAR</a:t>
            </a:r>
            <a:endParaRPr dirty="0"/>
          </a:p>
        </p:txBody>
      </p:sp>
      <p:sp>
        <p:nvSpPr>
          <p:cNvPr id="163" name="Google Shape;163;p1"/>
          <p:cNvSpPr txBox="1"/>
          <p:nvPr/>
        </p:nvSpPr>
        <p:spPr>
          <a:xfrm>
            <a:off x="546075" y="3327035"/>
            <a:ext cx="3186569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err="1">
                <a:solidFill>
                  <a:schemeClr val="lt1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ლექცია</a:t>
            </a:r>
            <a:r>
              <a:rPr lang="en-US" sz="2800">
                <a:solidFill>
                  <a:schemeClr val="lt1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 </a:t>
            </a:r>
            <a:r>
              <a:rPr lang="en-US" sz="2800">
                <a:solidFill>
                  <a:schemeClr val="lt1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9</a:t>
            </a:r>
            <a:endParaRPr sz="2800" dirty="0">
              <a:solidFill>
                <a:schemeClr val="lt1"/>
              </a:solidFill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5DA91E-2F44-CD9B-6153-9BE5ECDE32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213" y="5126030"/>
            <a:ext cx="887837" cy="10826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C411DE0-15D4-9D3F-7871-5A075C4740B5}"/>
              </a:ext>
            </a:extLst>
          </p:cNvPr>
          <p:cNvSpPr/>
          <p:nvPr/>
        </p:nvSpPr>
        <p:spPr>
          <a:xfrm>
            <a:off x="6362298" y="1902691"/>
            <a:ext cx="5245768" cy="4305604"/>
          </a:xfrm>
          <a:prstGeom prst="roundRect">
            <a:avLst>
              <a:gd name="adj" fmla="val 4634"/>
            </a:avLst>
          </a:prstGeom>
          <a:solidFill>
            <a:srgbClr val="0C0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69" name="Google Shape;169;p2"/>
          <p:cNvSpPr txBox="1"/>
          <p:nvPr/>
        </p:nvSpPr>
        <p:spPr>
          <a:xfrm>
            <a:off x="501813" y="602179"/>
            <a:ext cx="11720969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4400" b="1" cap="all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// </a:t>
            </a:r>
            <a:r>
              <a:rPr lang="ka-GE" sz="4400" b="1" cap="all" dirty="0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მედია /აუდიო თეგები</a:t>
            </a:r>
            <a:endParaRPr lang="ka-GE" sz="4400" b="1" cap="all" dirty="0"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a-GE" b="1" cap="all" dirty="0"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</a:endParaRPr>
          </a:p>
        </p:txBody>
      </p:sp>
      <p:sp>
        <p:nvSpPr>
          <p:cNvPr id="171" name="Google Shape;171;p2"/>
          <p:cNvSpPr/>
          <p:nvPr/>
        </p:nvSpPr>
        <p:spPr>
          <a:xfrm>
            <a:off x="332509" y="1597891"/>
            <a:ext cx="5421746" cy="5260109"/>
          </a:xfrm>
          <a:prstGeom prst="roundRect">
            <a:avLst>
              <a:gd name="adj" fmla="val 7003"/>
            </a:avLst>
          </a:prstGeom>
          <a:solidFill>
            <a:srgbClr val="0E2E5F">
              <a:alpha val="5372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"/>
          <p:cNvSpPr/>
          <p:nvPr/>
        </p:nvSpPr>
        <p:spPr>
          <a:xfrm flipV="1">
            <a:off x="654518" y="6208295"/>
            <a:ext cx="45719" cy="45719"/>
          </a:xfrm>
          <a:prstGeom prst="roundRect">
            <a:avLst>
              <a:gd name="adj" fmla="val 7003"/>
            </a:avLst>
          </a:prstGeom>
          <a:solidFill>
            <a:srgbClr val="0E2E5F">
              <a:alpha val="5372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"/>
          <p:cNvSpPr txBox="1"/>
          <p:nvPr/>
        </p:nvSpPr>
        <p:spPr>
          <a:xfrm>
            <a:off x="501813" y="1791855"/>
            <a:ext cx="5095423" cy="4739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ka-GE" sz="1600" dirty="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მედია თეგი:</a:t>
            </a:r>
            <a:r>
              <a:rPr lang="en-US" sz="1600" dirty="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</a:t>
            </a:r>
            <a:r>
              <a:rPr lang="ka-GE" sz="1600" dirty="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</a:t>
            </a:r>
            <a:r>
              <a:rPr lang="en-US" sz="1600" dirty="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&lt;video&gt; &lt;/video&gt;</a:t>
            </a:r>
            <a:endParaRPr lang="ka-GE" sz="1600" dirty="0">
              <a:solidFill>
                <a:srgbClr val="F4DA33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r>
              <a:rPr lang="en-US" sz="1600" dirty="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</a:t>
            </a:r>
            <a:r>
              <a:rPr lang="ka-GE" sz="1600" dirty="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აუდიო თეგი:</a:t>
            </a:r>
            <a:r>
              <a:rPr lang="en-US" sz="1600" dirty="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  &lt;audio&gt; &lt;/audio&gt;</a:t>
            </a:r>
            <a:endParaRPr lang="ka-GE" sz="1600" dirty="0">
              <a:solidFill>
                <a:srgbClr val="F4DA33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endParaRPr lang="en-US" sz="1600" dirty="0">
              <a:solidFill>
                <a:srgbClr val="F4DA33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r>
              <a:rPr lang="en-US" sz="1600" dirty="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video -</a:t>
            </a:r>
            <a:r>
              <a:rPr lang="ka-GE" sz="1600" dirty="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ქმნის ვიდეო კონტენტს</a:t>
            </a:r>
            <a:r>
              <a:rPr lang="en-US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;</a:t>
            </a:r>
          </a:p>
          <a:p>
            <a:r>
              <a:rPr lang="en-US" sz="1600" dirty="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Audio -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ქმნის</a:t>
            </a:r>
            <a:r>
              <a:rPr lang="en-US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აუდიო კონტენტს;</a:t>
            </a:r>
          </a:p>
          <a:p>
            <a:endParaRPr lang="en-US" sz="1600" dirty="0">
              <a:solidFill>
                <a:srgbClr val="F4DA33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pPr lvl="0"/>
            <a:r>
              <a:rPr lang="ka-GE" sz="1600" dirty="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ძირითადი ატრიბუტები:</a:t>
            </a:r>
            <a:endParaRPr lang="en-US" sz="1600" dirty="0">
              <a:solidFill>
                <a:srgbClr val="F4DA33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pPr lvl="0"/>
            <a:endParaRPr lang="ka-GE" sz="1600" dirty="0">
              <a:solidFill>
                <a:srgbClr val="F4DA33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r>
              <a:rPr lang="ka-GE" sz="1600" dirty="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.</a:t>
            </a:r>
            <a:r>
              <a:rPr lang="en-US" sz="1600" dirty="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controls -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მართავს მედია</a:t>
            </a:r>
            <a:r>
              <a:rPr lang="en-US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ფაილებს</a:t>
            </a:r>
            <a:r>
              <a:rPr lang="en-US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(</a:t>
            </a:r>
            <a:r>
              <a:rPr lang="en-US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Play, Pause, Volume, </a:t>
            </a:r>
            <a:r>
              <a:rPr lang="en-US" sz="1600" dirty="0" err="1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Fullscreen</a:t>
            </a:r>
            <a:r>
              <a:rPr lang="en-US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)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                          </a:t>
            </a:r>
          </a:p>
          <a:p>
            <a:pPr lvl="0"/>
            <a:r>
              <a:rPr lang="en-US" sz="1600" dirty="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.</a:t>
            </a:r>
            <a:r>
              <a:rPr lang="en-US" sz="1600" dirty="0" err="1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src</a:t>
            </a:r>
            <a:r>
              <a:rPr lang="en-US" sz="1600" dirty="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-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გადაეცემა მედია ფაილის მისამართი</a:t>
            </a:r>
            <a:r>
              <a:rPr lang="en-US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(URL)</a:t>
            </a:r>
            <a:endParaRPr lang="en-US" sz="1600" dirty="0">
              <a:solidFill>
                <a:srgbClr val="F4DA33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pPr lvl="0"/>
            <a:r>
              <a:rPr lang="en-US" sz="1600" dirty="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.type -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განსაზღვრავს ფაილის ტიპს</a:t>
            </a:r>
            <a:r>
              <a:rPr lang="en-US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(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მაგ: </a:t>
            </a:r>
            <a:r>
              <a:rPr lang="en-US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video/mp4; audio/mp3)</a:t>
            </a:r>
            <a:endParaRPr lang="ka-GE" sz="1600" dirty="0">
              <a:solidFill>
                <a:srgbClr val="F4DA33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pPr lvl="0"/>
            <a:r>
              <a:rPr lang="ka-GE" sz="1600" dirty="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.</a:t>
            </a:r>
            <a:r>
              <a:rPr lang="en-US" sz="1600" dirty="0" err="1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autoplay</a:t>
            </a:r>
            <a:r>
              <a:rPr lang="en-US" sz="1600" dirty="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-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მედია ფაილის ავტომატური გაშვება</a:t>
            </a:r>
            <a:r>
              <a:rPr lang="en-US" sz="1600" dirty="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</a:t>
            </a:r>
          </a:p>
          <a:p>
            <a:pPr lvl="0"/>
            <a:r>
              <a:rPr lang="en-US" sz="1600" dirty="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.muted -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უხმო რეჟიმი (აუცილებელი ატრიბუტი </a:t>
            </a:r>
            <a:r>
              <a:rPr lang="en-US" sz="1600" dirty="0" err="1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autoplay</a:t>
            </a:r>
            <a:r>
              <a:rPr lang="en-US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-ის ასამუშავებლად)</a:t>
            </a:r>
            <a:endParaRPr lang="en-US" sz="1600" dirty="0">
              <a:solidFill>
                <a:srgbClr val="F4DA33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pPr lvl="0"/>
            <a:r>
              <a:rPr lang="en-US" sz="1600" dirty="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.loop -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ჩაციკლული გაშვება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lt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  <a:sym typeface="Arial"/>
            </a:endParaRPr>
          </a:p>
        </p:txBody>
      </p:sp>
      <p:sp>
        <p:nvSpPr>
          <p:cNvPr id="174" name="Google Shape;174;p2"/>
          <p:cNvSpPr txBox="1"/>
          <p:nvPr/>
        </p:nvSpPr>
        <p:spPr>
          <a:xfrm>
            <a:off x="911817" y="4375547"/>
            <a:ext cx="4926883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lt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  <a:sym typeface="Arial"/>
            </a:endParaRP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26" r="18526"/>
          <a:stretch>
            <a:fillRect/>
          </a:stretch>
        </p:blipFill>
        <p:spPr>
          <a:xfrm>
            <a:off x="4847291" y="-205581"/>
            <a:ext cx="8275782" cy="8522148"/>
          </a:xfrm>
        </p:spPr>
      </p:pic>
    </p:spTree>
    <p:extLst>
      <p:ext uri="{BB962C8B-B14F-4D97-AF65-F5344CB8AC3E}">
        <p14:creationId xmlns:p14="http://schemas.microsoft.com/office/powerpoint/2010/main" val="2229055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5FAD63D-8ABB-8EE6-A946-0B8BDB7F972E}"/>
              </a:ext>
            </a:extLst>
          </p:cNvPr>
          <p:cNvSpPr/>
          <p:nvPr/>
        </p:nvSpPr>
        <p:spPr>
          <a:xfrm>
            <a:off x="6200777" y="2022763"/>
            <a:ext cx="5336705" cy="2831089"/>
          </a:xfrm>
          <a:prstGeom prst="roundRect">
            <a:avLst>
              <a:gd name="adj" fmla="val 4634"/>
            </a:avLst>
          </a:prstGeom>
          <a:solidFill>
            <a:srgbClr val="0C0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80" name="Google Shape;180;p3"/>
          <p:cNvSpPr txBox="1"/>
          <p:nvPr/>
        </p:nvSpPr>
        <p:spPr>
          <a:xfrm>
            <a:off x="471031" y="317987"/>
            <a:ext cx="11720969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4400" b="1" cap="all" dirty="0">
                <a:solidFill>
                  <a:srgbClr val="6DC034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Noto Sans"/>
              </a:rPr>
              <a:t>// </a:t>
            </a:r>
            <a:r>
              <a:rPr lang="en-US" sz="4400" b="1" cap="all" dirty="0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iframe + google map</a:t>
            </a:r>
            <a:endParaRPr lang="ka-GE" b="1" cap="all" dirty="0"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Noto Sans"/>
            </a:endParaRPr>
          </a:p>
        </p:txBody>
      </p:sp>
      <p:sp>
        <p:nvSpPr>
          <p:cNvPr id="181" name="Google Shape;181;p3"/>
          <p:cNvSpPr/>
          <p:nvPr/>
        </p:nvSpPr>
        <p:spPr>
          <a:xfrm>
            <a:off x="304800" y="1884218"/>
            <a:ext cx="5449455" cy="3837852"/>
          </a:xfrm>
          <a:prstGeom prst="roundRect">
            <a:avLst>
              <a:gd name="adj" fmla="val 3038"/>
            </a:avLst>
          </a:prstGeom>
          <a:solidFill>
            <a:srgbClr val="0E2E5F">
              <a:alpha val="5372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3"/>
          <p:cNvSpPr txBox="1"/>
          <p:nvPr/>
        </p:nvSpPr>
        <p:spPr>
          <a:xfrm>
            <a:off x="387926" y="2022763"/>
            <a:ext cx="5449455" cy="353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ka-GE" sz="1600" dirty="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</a:t>
            </a:r>
            <a:r>
              <a:rPr lang="en-US" sz="1600" dirty="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Iframe -</a:t>
            </a:r>
            <a:r>
              <a:rPr lang="ka-GE" sz="1600" dirty="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უზრუნველყოფს სხვადასხვა ტიპის კონტენტის ჩატვირთვას.</a:t>
            </a:r>
          </a:p>
          <a:p>
            <a:endParaRPr lang="ka-GE" sz="1600" dirty="0">
              <a:solidFill>
                <a:schemeClr val="lt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r>
              <a:rPr lang="en-US" sz="1600" dirty="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Google map embedded -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ვებსაიტზე კონკრეტული ლოკაციის გამოტანა მაპის ფორმატში</a:t>
            </a:r>
          </a:p>
          <a:p>
            <a:endParaRPr lang="ka-GE" sz="1600" dirty="0">
              <a:solidFill>
                <a:schemeClr val="lt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r>
              <a:rPr lang="en-US" sz="1600" dirty="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HTML </a:t>
            </a:r>
            <a:r>
              <a:rPr lang="ka-GE" sz="1600" dirty="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კოდის გადმოტანა - </a:t>
            </a:r>
            <a:r>
              <a:rPr lang="en-US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Share =&gt; Embed</a:t>
            </a:r>
            <a:endParaRPr lang="ka-GE" sz="1600" dirty="0">
              <a:solidFill>
                <a:schemeClr val="lt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endParaRPr lang="ka-GE" sz="1600" dirty="0">
              <a:solidFill>
                <a:schemeClr val="lt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r>
              <a:rPr lang="ka-GE" sz="1600" dirty="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ძირითადი ატრიბუტები: </a:t>
            </a:r>
            <a:endParaRPr lang="en-US" sz="1600" dirty="0">
              <a:solidFill>
                <a:srgbClr val="F4DA33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endParaRPr lang="ka-GE" sz="1600" dirty="0">
              <a:solidFill>
                <a:srgbClr val="F4DA33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r>
              <a:rPr lang="en-US" sz="1600" dirty="0" err="1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src</a:t>
            </a:r>
            <a:r>
              <a:rPr lang="en-US" sz="1600" dirty="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- </a:t>
            </a:r>
            <a:r>
              <a:rPr lang="en-US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google map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ის მისამართი (</a:t>
            </a:r>
            <a:r>
              <a:rPr lang="en-US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URL)</a:t>
            </a:r>
          </a:p>
          <a:p>
            <a:r>
              <a:rPr lang="en-US" sz="1600" dirty="0" err="1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allowfullscreen</a:t>
            </a:r>
            <a:r>
              <a:rPr lang="en-US" sz="1600" dirty="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-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ეკრანის სრული დაფარვა</a:t>
            </a:r>
          </a:p>
          <a:p>
            <a:r>
              <a:rPr lang="en-US" sz="1600" dirty="0" err="1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loadding</a:t>
            </a:r>
            <a:r>
              <a:rPr lang="en-US" sz="1600" dirty="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- </a:t>
            </a:r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განსაზღვრავს როდის ჩაიტვირთოს </a:t>
            </a:r>
            <a:r>
              <a:rPr lang="en-US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iframe</a:t>
            </a:r>
            <a:endParaRPr lang="en-US" sz="1600" dirty="0">
              <a:solidFill>
                <a:srgbClr val="F4DA33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endParaRPr lang="ka-GE" sz="1600" dirty="0"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</p:txBody>
      </p:sp>
      <p:pic>
        <p:nvPicPr>
          <p:cNvPr id="11" name="Picture Placeholder 10"/>
          <p:cNvPicPr>
            <a:picLocks noGrp="1" noChangeAspect="1"/>
          </p:cNvPicPr>
          <p:nvPr>
            <p:ph type="pic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26" r="18526"/>
          <a:stretch>
            <a:fillRect/>
          </a:stretch>
        </p:blipFill>
        <p:spPr>
          <a:xfrm>
            <a:off x="4800511" y="481177"/>
            <a:ext cx="8137236" cy="6795137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5FAD63D-8ABB-8EE6-A946-0B8BDB7F972E}"/>
              </a:ext>
            </a:extLst>
          </p:cNvPr>
          <p:cNvSpPr/>
          <p:nvPr/>
        </p:nvSpPr>
        <p:spPr>
          <a:xfrm>
            <a:off x="6246957" y="2105891"/>
            <a:ext cx="5336705" cy="3275019"/>
          </a:xfrm>
          <a:prstGeom prst="roundRect">
            <a:avLst>
              <a:gd name="adj" fmla="val 4634"/>
            </a:avLst>
          </a:prstGeom>
          <a:solidFill>
            <a:srgbClr val="0C0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80" name="Google Shape;180;p3"/>
          <p:cNvSpPr txBox="1"/>
          <p:nvPr/>
        </p:nvSpPr>
        <p:spPr>
          <a:xfrm>
            <a:off x="576800" y="523945"/>
            <a:ext cx="11720969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4400" b="1" cap="all" dirty="0">
                <a:solidFill>
                  <a:srgbClr val="6DC034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Noto Sans"/>
              </a:rPr>
              <a:t>// </a:t>
            </a:r>
            <a:r>
              <a:rPr lang="en-US" sz="4400" b="1" cap="all" dirty="0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iframe + </a:t>
            </a:r>
            <a:r>
              <a:rPr lang="en-US" sz="4400" b="1" cap="all" dirty="0" err="1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youtube</a:t>
            </a:r>
            <a:r>
              <a:rPr lang="ka-GE" sz="4400" b="1" cap="all" dirty="0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 </a:t>
            </a:r>
            <a:r>
              <a:rPr lang="en-US" sz="4400" b="1" cap="all" dirty="0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 embedded</a:t>
            </a:r>
            <a:endParaRPr lang="ka-GE" sz="4400" b="1" cap="all" dirty="0"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</a:endParaRPr>
          </a:p>
          <a:p>
            <a:pPr lvl="0"/>
            <a:endParaRPr lang="ka-GE" b="1" cap="all" dirty="0"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Noto Sans"/>
            </a:endParaRPr>
          </a:p>
        </p:txBody>
      </p:sp>
      <p:sp>
        <p:nvSpPr>
          <p:cNvPr id="181" name="Google Shape;181;p3"/>
          <p:cNvSpPr/>
          <p:nvPr/>
        </p:nvSpPr>
        <p:spPr>
          <a:xfrm>
            <a:off x="583081" y="2010318"/>
            <a:ext cx="5336707" cy="3804701"/>
          </a:xfrm>
          <a:prstGeom prst="roundRect">
            <a:avLst>
              <a:gd name="adj" fmla="val 3038"/>
            </a:avLst>
          </a:prstGeom>
          <a:solidFill>
            <a:srgbClr val="0E2E5F">
              <a:alpha val="5372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80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YouTuBe embedded - </a:t>
            </a:r>
            <a:r>
              <a:rPr lang="ka-GE" sz="180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ვებსაიტზე</a:t>
            </a:r>
            <a:r>
              <a:rPr lang="en-US" sz="180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YouTube </a:t>
            </a:r>
            <a:r>
              <a:rPr lang="ka-GE" sz="180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ვიდეოს ჩატვირთვა</a:t>
            </a:r>
          </a:p>
          <a:p>
            <a:endParaRPr lang="ka-GE" sz="1800">
              <a:solidFill>
                <a:schemeClr val="lt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r>
              <a:rPr lang="en-US" sz="180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HTML </a:t>
            </a:r>
            <a:r>
              <a:rPr lang="ka-GE" sz="180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კოდის გადმოტანა - </a:t>
            </a:r>
            <a:r>
              <a:rPr lang="en-US" sz="180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Share =&gt; Embed</a:t>
            </a:r>
            <a:endParaRPr lang="ka-GE" sz="1800">
              <a:solidFill>
                <a:schemeClr val="lt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endParaRPr lang="ka-GE" sz="1800">
              <a:solidFill>
                <a:schemeClr val="lt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r>
              <a:rPr lang="ka-GE" sz="180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ძირითადი ატრიბუტები: </a:t>
            </a:r>
          </a:p>
          <a:p>
            <a:endParaRPr lang="ka-GE" sz="1800">
              <a:solidFill>
                <a:srgbClr val="F4DA33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r>
              <a:rPr lang="en-US" sz="180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src - </a:t>
            </a:r>
            <a:r>
              <a:rPr lang="en-US" sz="180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google map </a:t>
            </a:r>
            <a:r>
              <a:rPr lang="ka-GE" sz="180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ის მისამართი (</a:t>
            </a:r>
            <a:r>
              <a:rPr lang="en-US" sz="180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URL)</a:t>
            </a:r>
          </a:p>
          <a:p>
            <a:r>
              <a:rPr lang="en-US" sz="180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allowfullscreen - </a:t>
            </a:r>
            <a:r>
              <a:rPr lang="ka-GE" sz="180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ეკრანის სრული დაფარვა</a:t>
            </a:r>
          </a:p>
          <a:p>
            <a:r>
              <a:rPr lang="en-US" sz="180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Allow</a:t>
            </a:r>
            <a:r>
              <a:rPr lang="ka-GE" sz="180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- </a:t>
            </a:r>
            <a:r>
              <a:rPr lang="ka-GE" sz="180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დამატებითი ფუნქციების გააქტიურება </a:t>
            </a:r>
            <a:endParaRPr lang="ka-GE" sz="1800">
              <a:solidFill>
                <a:srgbClr val="F4DA33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r>
              <a:rPr lang="en-US" sz="180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Width &amp; height - </a:t>
            </a:r>
            <a:r>
              <a:rPr lang="ka-GE" sz="180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სიგანის და სიმაღლის კონტროლი</a:t>
            </a:r>
            <a:endParaRPr lang="ka-GE" sz="1800" dirty="0">
              <a:solidFill>
                <a:srgbClr val="F4DA33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26" r="18526"/>
          <a:stretch>
            <a:fillRect/>
          </a:stretch>
        </p:blipFill>
        <p:spPr>
          <a:xfrm>
            <a:off x="5051223" y="240145"/>
            <a:ext cx="7728172" cy="7167418"/>
          </a:xfrm>
        </p:spPr>
      </p:pic>
    </p:spTree>
    <p:extLst>
      <p:ext uri="{BB962C8B-B14F-4D97-AF65-F5344CB8AC3E}">
        <p14:creationId xmlns:p14="http://schemas.microsoft.com/office/powerpoint/2010/main" val="4201444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5FAD63D-8ABB-8EE6-A946-0B8BDB7F972E}"/>
              </a:ext>
            </a:extLst>
          </p:cNvPr>
          <p:cNvSpPr/>
          <p:nvPr/>
        </p:nvSpPr>
        <p:spPr>
          <a:xfrm>
            <a:off x="6324999" y="1907648"/>
            <a:ext cx="5336705" cy="2964873"/>
          </a:xfrm>
          <a:prstGeom prst="roundRect">
            <a:avLst>
              <a:gd name="adj" fmla="val 4634"/>
            </a:avLst>
          </a:prstGeom>
          <a:solidFill>
            <a:srgbClr val="0C0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80" name="Google Shape;180;p3"/>
          <p:cNvSpPr txBox="1"/>
          <p:nvPr/>
        </p:nvSpPr>
        <p:spPr>
          <a:xfrm>
            <a:off x="576800" y="523945"/>
            <a:ext cx="11720969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4400" b="1" cap="all" dirty="0">
                <a:solidFill>
                  <a:srgbClr val="6DC034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Noto Sans"/>
              </a:rPr>
              <a:t>// </a:t>
            </a:r>
            <a:r>
              <a:rPr lang="en-US" sz="4400" b="1" cap="all" dirty="0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ICONS</a:t>
            </a:r>
            <a:r>
              <a:rPr lang="ka-GE" sz="4400" b="1" cap="all" dirty="0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 და მათი გამოყენება </a:t>
            </a:r>
            <a:endParaRPr lang="ka-GE" b="1" cap="all" dirty="0"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Noto Sans"/>
            </a:endParaRPr>
          </a:p>
        </p:txBody>
      </p:sp>
      <p:sp>
        <p:nvSpPr>
          <p:cNvPr id="181" name="Google Shape;181;p3"/>
          <p:cNvSpPr/>
          <p:nvPr/>
        </p:nvSpPr>
        <p:spPr>
          <a:xfrm>
            <a:off x="656738" y="1846027"/>
            <a:ext cx="5336707" cy="3546083"/>
          </a:xfrm>
          <a:prstGeom prst="roundRect">
            <a:avLst>
              <a:gd name="adj" fmla="val 3038"/>
            </a:avLst>
          </a:prstGeom>
          <a:solidFill>
            <a:srgbClr val="0E2E5F">
              <a:alpha val="5372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3"/>
          <p:cNvSpPr txBox="1"/>
          <p:nvPr/>
        </p:nvSpPr>
        <p:spPr>
          <a:xfrm>
            <a:off x="988292" y="2152073"/>
            <a:ext cx="4673600" cy="4770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1600" dirty="0">
                <a:solidFill>
                  <a:srgbClr val="F4DA33"/>
                </a:solidFill>
                <a:ea typeface="FiraGO Light" panose="020B0403050000020004" pitchFamily="34" charset="0"/>
                <a:cs typeface="FiraGO Light" panose="020B0403050000020004" pitchFamily="34" charset="0"/>
              </a:rPr>
              <a:t>Font Awesome -  </a:t>
            </a:r>
            <a:r>
              <a:rPr lang="ka-GE" sz="1600" dirty="0">
                <a:solidFill>
                  <a:schemeClr val="lt1"/>
                </a:solidFill>
                <a:ea typeface="FiraGO Light" panose="020B0403050000020004" pitchFamily="34" charset="0"/>
                <a:cs typeface="FiraGO Light" panose="020B0403050000020004" pitchFamily="34" charset="0"/>
              </a:rPr>
              <a:t>აიქონების სია, მოიცავს ბრენდის სიმბოლოებს, სოციალურ ქსელებს სხვადასხვა ტიპის მარკერებს და სხვა.</a:t>
            </a:r>
            <a:endParaRPr lang="en-US" sz="1600" dirty="0">
              <a:solidFill>
                <a:schemeClr val="lt1"/>
              </a:solidFill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pPr lvl="0"/>
            <a:endParaRPr lang="en-US" sz="1600" dirty="0">
              <a:solidFill>
                <a:schemeClr val="lt1"/>
              </a:solidFill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r>
              <a:rPr lang="en-US" sz="1600" dirty="0">
                <a:solidFill>
                  <a:srgbClr val="F4DA33"/>
                </a:solidFill>
                <a:ea typeface="FiraGO Light" panose="020B0403050000020004" pitchFamily="34" charset="0"/>
                <a:cs typeface="FiraGO Light" panose="020B0403050000020004" pitchFamily="34" charset="0"/>
              </a:rPr>
              <a:t>https://fontawesome.com/icons - </a:t>
            </a:r>
            <a:r>
              <a:rPr lang="ka-GE" sz="1600" dirty="0">
                <a:solidFill>
                  <a:schemeClr val="lt1"/>
                </a:solidFill>
                <a:ea typeface="FiraGO Light" panose="020B0403050000020004" pitchFamily="34" charset="0"/>
                <a:cs typeface="FiraGO Light" panose="020B0403050000020004" pitchFamily="34" charset="0"/>
              </a:rPr>
              <a:t>ვებსაიტი აიქონებისთვის. </a:t>
            </a:r>
          </a:p>
          <a:p>
            <a:endParaRPr lang="ka-GE" sz="1600" dirty="0">
              <a:solidFill>
                <a:schemeClr val="lt1"/>
              </a:solidFill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pPr lvl="0"/>
            <a:r>
              <a:rPr lang="en-US" sz="1600" dirty="0">
                <a:solidFill>
                  <a:srgbClr val="F4DA33"/>
                </a:solidFill>
                <a:ea typeface="FiraGO Light" panose="020B0403050000020004" pitchFamily="34" charset="0"/>
                <a:cs typeface="FiraGO Light" panose="020B0403050000020004" pitchFamily="34" charset="0"/>
              </a:rPr>
              <a:t>https://cdnjs.com/libraries/font-awesome</a:t>
            </a:r>
            <a:r>
              <a:rPr lang="ka-GE" sz="1600" dirty="0">
                <a:solidFill>
                  <a:srgbClr val="F4DA33"/>
                </a:solidFill>
                <a:ea typeface="FiraGO Light" panose="020B0403050000020004" pitchFamily="34" charset="0"/>
                <a:cs typeface="FiraGO Light" panose="020B0403050000020004" pitchFamily="34" charset="0"/>
              </a:rPr>
              <a:t> - </a:t>
            </a:r>
            <a:r>
              <a:rPr lang="en-US" sz="1600" dirty="0">
                <a:solidFill>
                  <a:schemeClr val="lt1"/>
                </a:solidFill>
                <a:ea typeface="FiraGO Light" panose="020B0403050000020004" pitchFamily="34" charset="0"/>
                <a:cs typeface="FiraGO Light" panose="020B0403050000020004" pitchFamily="34" charset="0"/>
              </a:rPr>
              <a:t>CDN </a:t>
            </a:r>
            <a:r>
              <a:rPr lang="ka-GE" sz="1600" dirty="0">
                <a:solidFill>
                  <a:schemeClr val="lt1"/>
                </a:solidFill>
                <a:ea typeface="FiraGO Light" panose="020B0403050000020004" pitchFamily="34" charset="0"/>
                <a:cs typeface="FiraGO Light" panose="020B0403050000020004" pitchFamily="34" charset="0"/>
              </a:rPr>
              <a:t> ლინკი </a:t>
            </a:r>
            <a:r>
              <a:rPr lang="en-US" sz="1600" dirty="0">
                <a:solidFill>
                  <a:schemeClr val="lt1"/>
                </a:solidFill>
                <a:ea typeface="FiraGO Light" panose="020B0403050000020004" pitchFamily="34" charset="0"/>
                <a:cs typeface="FiraGO Light" panose="020B0403050000020004" pitchFamily="34" charset="0"/>
              </a:rPr>
              <a:t>HTML -</a:t>
            </a:r>
            <a:r>
              <a:rPr lang="ka-GE" sz="1600" dirty="0">
                <a:solidFill>
                  <a:schemeClr val="lt1"/>
                </a:solidFill>
                <a:ea typeface="FiraGO Light" panose="020B0403050000020004" pitchFamily="34" charset="0"/>
                <a:cs typeface="FiraGO Light" panose="020B0403050000020004" pitchFamily="34" charset="0"/>
              </a:rPr>
              <a:t>ის </a:t>
            </a:r>
            <a:r>
              <a:rPr lang="en-US" sz="1600" dirty="0">
                <a:solidFill>
                  <a:schemeClr val="lt1"/>
                </a:solidFill>
                <a:ea typeface="FiraGO Light" panose="020B0403050000020004" pitchFamily="34" charset="0"/>
                <a:cs typeface="FiraGO Light" panose="020B0403050000020004" pitchFamily="34" charset="0"/>
              </a:rPr>
              <a:t>&lt;head&gt;</a:t>
            </a:r>
            <a:r>
              <a:rPr lang="ka-GE" sz="1600" dirty="0">
                <a:solidFill>
                  <a:schemeClr val="lt1"/>
                </a:solidFill>
                <a:ea typeface="FiraGO Light" panose="020B0403050000020004" pitchFamily="34" charset="0"/>
                <a:cs typeface="FiraGO Light" panose="020B0403050000020004" pitchFamily="34" charset="0"/>
              </a:rPr>
              <a:t> თეგის </a:t>
            </a:r>
            <a:r>
              <a:rPr lang="en-US" sz="1600" dirty="0" err="1">
                <a:solidFill>
                  <a:schemeClr val="lt1"/>
                </a:solidFill>
                <a:ea typeface="FiraGO Light" panose="020B0403050000020004" pitchFamily="34" charset="0"/>
                <a:cs typeface="FiraGO Light" panose="020B0403050000020004" pitchFamily="34" charset="0"/>
              </a:rPr>
              <a:t>href</a:t>
            </a:r>
            <a:r>
              <a:rPr lang="en-US" sz="1600" dirty="0">
                <a:solidFill>
                  <a:schemeClr val="lt1"/>
                </a:solidFill>
                <a:ea typeface="FiraGO Light" panose="020B0403050000020004" pitchFamily="34" charset="0"/>
                <a:cs typeface="FiraGO Light" panose="020B0403050000020004" pitchFamily="34" charset="0"/>
              </a:rPr>
              <a:t> </a:t>
            </a:r>
            <a:r>
              <a:rPr lang="ka-GE" sz="1600" dirty="0">
                <a:solidFill>
                  <a:schemeClr val="lt1"/>
                </a:solidFill>
                <a:ea typeface="FiraGO Light" panose="020B0403050000020004" pitchFamily="34" charset="0"/>
                <a:cs typeface="FiraGO Light" panose="020B0403050000020004" pitchFamily="34" charset="0"/>
              </a:rPr>
              <a:t>ატრიბუტში შემოგვაქვს. </a:t>
            </a:r>
            <a:r>
              <a:rPr lang="en-US" sz="1600" dirty="0">
                <a:solidFill>
                  <a:schemeClr val="lt1"/>
                </a:solidFill>
                <a:ea typeface="FiraGO Light" panose="020B0403050000020004" pitchFamily="34" charset="0"/>
                <a:cs typeface="FiraGO Light" panose="020B0403050000020004" pitchFamily="34" charset="0"/>
              </a:rPr>
              <a:t> </a:t>
            </a:r>
            <a:endParaRPr lang="ka-GE" sz="1600" dirty="0">
              <a:solidFill>
                <a:schemeClr val="lt1"/>
              </a:solidFill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pPr lvl="0"/>
            <a:endParaRPr lang="ka-GE" sz="1600" dirty="0">
              <a:solidFill>
                <a:schemeClr val="lt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pPr lvl="0"/>
            <a:endParaRPr lang="ka-GE" sz="1600" dirty="0">
              <a:solidFill>
                <a:schemeClr val="lt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endParaRPr lang="ka-GE" sz="1600" dirty="0">
              <a:solidFill>
                <a:schemeClr val="lt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endParaRPr lang="ka-GE" sz="1600" dirty="0">
              <a:solidFill>
                <a:schemeClr val="lt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endParaRPr lang="ka-GE" sz="1600" dirty="0">
              <a:solidFill>
                <a:schemeClr val="lt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pPr lvl="0"/>
            <a:endParaRPr lang="ka-GE" sz="1600" dirty="0">
              <a:solidFill>
                <a:schemeClr val="lt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pPr lvl="0"/>
            <a:endParaRPr lang="ka-GE" sz="1600" dirty="0">
              <a:solidFill>
                <a:schemeClr val="lt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pPr lvl="0"/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</a:t>
            </a:r>
          </a:p>
          <a:p>
            <a:pPr lvl="0"/>
            <a:endParaRPr lang="ka-GE" sz="1600" dirty="0"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26" r="18526"/>
          <a:stretch>
            <a:fillRect/>
          </a:stretch>
        </p:blipFill>
        <p:spPr>
          <a:xfrm>
            <a:off x="5265986" y="-108189"/>
            <a:ext cx="7454730" cy="6966189"/>
          </a:xfrm>
        </p:spPr>
      </p:pic>
    </p:spTree>
    <p:extLst>
      <p:ext uri="{BB962C8B-B14F-4D97-AF65-F5344CB8AC3E}">
        <p14:creationId xmlns:p14="http://schemas.microsoft.com/office/powerpoint/2010/main" val="1603646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5FAD63D-8ABB-8EE6-A946-0B8BDB7F972E}"/>
              </a:ext>
            </a:extLst>
          </p:cNvPr>
          <p:cNvSpPr/>
          <p:nvPr/>
        </p:nvSpPr>
        <p:spPr>
          <a:xfrm>
            <a:off x="6200777" y="1431637"/>
            <a:ext cx="5271121" cy="3602182"/>
          </a:xfrm>
          <a:prstGeom prst="roundRect">
            <a:avLst>
              <a:gd name="adj" fmla="val 4634"/>
            </a:avLst>
          </a:prstGeom>
          <a:solidFill>
            <a:srgbClr val="0C0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80" name="Google Shape;180;p3"/>
          <p:cNvSpPr txBox="1"/>
          <p:nvPr/>
        </p:nvSpPr>
        <p:spPr>
          <a:xfrm>
            <a:off x="471031" y="200673"/>
            <a:ext cx="11720969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4400" b="1" cap="all" dirty="0">
                <a:solidFill>
                  <a:srgbClr val="6DC034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Noto Sans"/>
              </a:rPr>
              <a:t>// </a:t>
            </a:r>
            <a:r>
              <a:rPr lang="en-US" sz="4400" b="1" cap="all" dirty="0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SVG</a:t>
            </a:r>
            <a:endParaRPr lang="ka-GE" b="1" cap="all" dirty="0"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Noto Sans"/>
            </a:endParaRPr>
          </a:p>
        </p:txBody>
      </p:sp>
      <p:sp>
        <p:nvSpPr>
          <p:cNvPr id="181" name="Google Shape;181;p3"/>
          <p:cNvSpPr/>
          <p:nvPr/>
        </p:nvSpPr>
        <p:spPr>
          <a:xfrm>
            <a:off x="138546" y="1219200"/>
            <a:ext cx="5852680" cy="4962525"/>
          </a:xfrm>
          <a:prstGeom prst="roundRect">
            <a:avLst>
              <a:gd name="adj" fmla="val 3038"/>
            </a:avLst>
          </a:prstGeom>
          <a:solidFill>
            <a:srgbClr val="0E2E5F">
              <a:alpha val="5372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3"/>
          <p:cNvSpPr txBox="1"/>
          <p:nvPr/>
        </p:nvSpPr>
        <p:spPr>
          <a:xfrm>
            <a:off x="258617" y="1339331"/>
            <a:ext cx="5380183" cy="624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1600" dirty="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SVG (Scalable Vector Graphics) </a:t>
            </a:r>
            <a:r>
              <a:rPr lang="ka-GE" sz="1600" dirty="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- </a:t>
            </a:r>
            <a:r>
              <a:rPr lang="ka-GE" sz="1600" dirty="0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ვექტორული გრაფიკის ფორმატი(მასშტაბირებისას არ კარგავს ხარისხს). დაფუძნებულია </a:t>
            </a:r>
            <a:r>
              <a:rPr lang="en-US" sz="1600" dirty="0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XML</a:t>
            </a:r>
            <a:r>
              <a:rPr lang="ka-GE" sz="1600" dirty="0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-ზე (განიხილება როგორც ტექსტური ფაილები). შესაძლებელია სტილების მართვა  </a:t>
            </a:r>
            <a:r>
              <a:rPr lang="en-US" sz="1600" dirty="0" err="1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Css</a:t>
            </a:r>
            <a:r>
              <a:rPr lang="en-US" sz="1600" dirty="0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</a:t>
            </a:r>
            <a:r>
              <a:rPr lang="ka-GE" sz="1600" dirty="0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-ის, და დინამიური დაგენერირება </a:t>
            </a:r>
            <a:r>
              <a:rPr lang="en-US" sz="1600" dirty="0" err="1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Js</a:t>
            </a:r>
            <a:r>
              <a:rPr lang="en-US" sz="1600" dirty="0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</a:t>
            </a:r>
            <a:r>
              <a:rPr lang="ka-GE" sz="1600" dirty="0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-ის საშუალებით. </a:t>
            </a:r>
            <a:endParaRPr lang="en-US" sz="1600" dirty="0">
              <a:solidFill>
                <a:schemeClr val="bg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r>
              <a:rPr lang="en-US" sz="1600" dirty="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SVG -</a:t>
            </a:r>
            <a:r>
              <a:rPr lang="ka-GE" sz="1600" dirty="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ის სტრუქტურა - </a:t>
            </a:r>
            <a:r>
              <a:rPr lang="ka-GE" sz="1600" dirty="0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ძირითადი ელემენტების კომბინაცია: &lt;</a:t>
            </a:r>
            <a:r>
              <a:rPr lang="en-US" sz="1600" dirty="0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circle&gt; &lt;</a:t>
            </a:r>
            <a:r>
              <a:rPr lang="en-US" sz="1600" dirty="0" err="1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rect</a:t>
            </a:r>
            <a:r>
              <a:rPr lang="en-US" sz="1600" dirty="0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&gt; &lt;path&gt; </a:t>
            </a:r>
            <a:r>
              <a:rPr lang="ka-GE" sz="1600" dirty="0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&lt;</a:t>
            </a:r>
            <a:r>
              <a:rPr lang="en-US" sz="1600" dirty="0" err="1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xmlns</a:t>
            </a:r>
            <a:r>
              <a:rPr lang="en-US" sz="1600" dirty="0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&gt;</a:t>
            </a:r>
            <a:r>
              <a:rPr lang="ka-GE" sz="1600" dirty="0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&lt;</a:t>
            </a:r>
            <a:r>
              <a:rPr lang="en-US" sz="1600" dirty="0" err="1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viewBox</a:t>
            </a:r>
            <a:r>
              <a:rPr lang="en-US" sz="1600" dirty="0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&gt;</a:t>
            </a:r>
            <a:endParaRPr lang="ka-GE" sz="1600" dirty="0">
              <a:solidFill>
                <a:schemeClr val="bg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endParaRPr lang="ka-GE" sz="1600" dirty="0">
              <a:solidFill>
                <a:schemeClr val="bg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r>
              <a:rPr lang="en-US" sz="1600" dirty="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&lt;circle&gt; - </a:t>
            </a:r>
            <a:r>
              <a:rPr lang="ka-GE" sz="1600" dirty="0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გამოიყენება გეომეტრიული წრის გამოსახვისთვის.</a:t>
            </a:r>
            <a:endParaRPr lang="en-US" sz="1600" dirty="0">
              <a:solidFill>
                <a:schemeClr val="bg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r>
              <a:rPr lang="en-US" sz="1600" dirty="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&lt;</a:t>
            </a:r>
            <a:r>
              <a:rPr lang="en-US" sz="1600" dirty="0" err="1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rect</a:t>
            </a:r>
            <a:r>
              <a:rPr lang="en-US" sz="1600" dirty="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&gt; - </a:t>
            </a:r>
            <a:r>
              <a:rPr lang="ka-GE" sz="1600" dirty="0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გამოიყენება კვადრატების და მართკუთხა ფორმების გამოსახვისთვის</a:t>
            </a:r>
          </a:p>
          <a:p>
            <a:r>
              <a:rPr lang="ka-GE" sz="1600" dirty="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&lt;</a:t>
            </a:r>
            <a:r>
              <a:rPr lang="en-US" sz="1600" dirty="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path&gt; - </a:t>
            </a:r>
            <a:r>
              <a:rPr lang="ka-GE" sz="1600" dirty="0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გამოიყენება კომპლექსური გეომეტრიული ფიგურების შესაქმნელად.</a:t>
            </a:r>
            <a:endParaRPr lang="en-US" sz="1600" dirty="0">
              <a:solidFill>
                <a:schemeClr val="bg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r>
              <a:rPr lang="ka-GE" sz="1600" dirty="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&lt;</a:t>
            </a:r>
            <a:r>
              <a:rPr lang="en-US" sz="1600" dirty="0" err="1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xmlns</a:t>
            </a:r>
            <a:r>
              <a:rPr lang="en-US" sz="1600" dirty="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&gt;</a:t>
            </a:r>
            <a:r>
              <a:rPr lang="en-US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</a:t>
            </a:r>
            <a:r>
              <a:rPr lang="en-US" sz="1600" dirty="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- (xml Namespace)</a:t>
            </a:r>
            <a:r>
              <a:rPr lang="en-US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</a:t>
            </a:r>
            <a:r>
              <a:rPr lang="ka-GE" sz="1600" dirty="0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ატრიბუტი რომელიც მიუთითებს </a:t>
            </a:r>
            <a:r>
              <a:rPr lang="en-US" sz="1600" dirty="0" err="1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svg</a:t>
            </a:r>
            <a:r>
              <a:rPr lang="ka-GE" sz="1600" dirty="0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ფორმატზე.</a:t>
            </a:r>
          </a:p>
          <a:p>
            <a:r>
              <a:rPr lang="en-US" sz="1600" dirty="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&lt;</a:t>
            </a:r>
            <a:r>
              <a:rPr lang="en-US" sz="1600" dirty="0" err="1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viewBox</a:t>
            </a:r>
            <a:r>
              <a:rPr lang="en-US" sz="1600" dirty="0">
                <a:solidFill>
                  <a:srgbClr val="F4DA3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&gt; - </a:t>
            </a:r>
            <a:r>
              <a:rPr lang="ka-GE" sz="1600" dirty="0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განსაზღვრავს </a:t>
            </a:r>
            <a:r>
              <a:rPr lang="en-US" sz="1600" dirty="0" err="1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viewPort</a:t>
            </a:r>
            <a:r>
              <a:rPr lang="ka-GE" sz="1600" dirty="0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ის კოორდინატებს.</a:t>
            </a:r>
            <a:endParaRPr lang="en-US" sz="1600" dirty="0">
              <a:solidFill>
                <a:schemeClr val="lt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r>
              <a:rPr lang="en-US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                            </a:t>
            </a:r>
          </a:p>
          <a:p>
            <a:endParaRPr lang="ka-GE" sz="1600" dirty="0">
              <a:solidFill>
                <a:schemeClr val="lt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pPr lvl="0"/>
            <a:endParaRPr lang="ka-GE" sz="1600" dirty="0">
              <a:solidFill>
                <a:schemeClr val="lt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pPr lvl="0"/>
            <a:endParaRPr lang="ka-GE" sz="1600" dirty="0">
              <a:solidFill>
                <a:schemeClr val="lt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pPr lvl="0"/>
            <a:r>
              <a:rPr lang="ka-GE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</a:t>
            </a:r>
          </a:p>
          <a:p>
            <a:pPr lvl="0"/>
            <a:endParaRPr lang="ka-GE" sz="1600" dirty="0"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26" r="18526"/>
          <a:stretch>
            <a:fillRect/>
          </a:stretch>
        </p:blipFill>
        <p:spPr>
          <a:xfrm>
            <a:off x="5084615" y="-517237"/>
            <a:ext cx="7754265" cy="7675417"/>
          </a:xfrm>
        </p:spPr>
      </p:pic>
    </p:spTree>
    <p:extLst>
      <p:ext uri="{BB962C8B-B14F-4D97-AF65-F5344CB8AC3E}">
        <p14:creationId xmlns:p14="http://schemas.microsoft.com/office/powerpoint/2010/main" val="2158135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1">
          <a:extLst>
            <a:ext uri="{FF2B5EF4-FFF2-40B4-BE49-F238E27FC236}">
              <a16:creationId xmlns:a16="http://schemas.microsoft.com/office/drawing/2014/main" id="{AA1C56B9-8CDC-D13A-D566-89EA34096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">
            <a:extLst>
              <a:ext uri="{FF2B5EF4-FFF2-40B4-BE49-F238E27FC236}">
                <a16:creationId xmlns:a16="http://schemas.microsoft.com/office/drawing/2014/main" id="{98E62D9D-4B85-5ED2-373B-8E0998C56A8F}"/>
              </a:ext>
            </a:extLst>
          </p:cNvPr>
          <p:cNvSpPr txBox="1"/>
          <p:nvPr/>
        </p:nvSpPr>
        <p:spPr>
          <a:xfrm>
            <a:off x="3818764" y="0"/>
            <a:ext cx="11720969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4400" b="1" i="0">
                <a:solidFill>
                  <a:srgbClr val="F4DA33"/>
                </a:solidFill>
                <a:effectLst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//</a:t>
            </a:r>
            <a:r>
              <a:rPr lang="ka-GE" sz="4400" b="1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 </a:t>
            </a:r>
            <a:r>
              <a:rPr lang="ka-GE" sz="4400" b="1" smtClean="0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დავალება</a:t>
            </a:r>
            <a:endParaRPr lang="ka-GE" sz="2800" b="1" dirty="0">
              <a:solidFill>
                <a:srgbClr val="1F51FF"/>
              </a:solidFill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29938" y="933255"/>
            <a:ext cx="1149127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>
                <a:solidFill>
                  <a:srgbClr val="00B0F0"/>
                </a:solidFill>
                <a:latin typeface="+mn-lt"/>
              </a:rPr>
              <a:t>https://www.wix.com/website-template/view/html/2358?originUrl=https%3A%2F%2Fwww.wix.com%2Fwebsite%2Ftemplates%3Fcriteria%3DVideo%2BSite&amp;tpClick=view_button&amp;esi=8db09fae-e1c8-4157-af39-b7a3c935077e</a:t>
            </a:r>
          </a:p>
        </p:txBody>
      </p:sp>
      <p:sp>
        <p:nvSpPr>
          <p:cNvPr id="3" name="Rectangle 2"/>
          <p:cNvSpPr/>
          <p:nvPr/>
        </p:nvSpPr>
        <p:spPr>
          <a:xfrm>
            <a:off x="329938" y="2951947"/>
            <a:ext cx="11651530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a-GE" sz="4400" smtClean="0">
                <a:solidFill>
                  <a:schemeClr val="bg1"/>
                </a:solidFill>
              </a:rPr>
              <a:t>ააწყვეთ ანალოგიური დიზაინის ვებგვერდი, ჩაანაცვლეთ თქვენთვის სასურველი ვიდეოებით და ტექსტებით, არ შეცვალოთ დიზაინი</a:t>
            </a:r>
            <a:endParaRPr lang="en-US" sz="4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8382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1">
          <a:extLst>
            <a:ext uri="{FF2B5EF4-FFF2-40B4-BE49-F238E27FC236}">
              <a16:creationId xmlns:a16="http://schemas.microsoft.com/office/drawing/2014/main" id="{AA1C56B9-8CDC-D13A-D566-89EA34096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">
            <a:extLst>
              <a:ext uri="{FF2B5EF4-FFF2-40B4-BE49-F238E27FC236}">
                <a16:creationId xmlns:a16="http://schemas.microsoft.com/office/drawing/2014/main" id="{98E62D9D-4B85-5ED2-373B-8E0998C56A8F}"/>
              </a:ext>
            </a:extLst>
          </p:cNvPr>
          <p:cNvSpPr txBox="1"/>
          <p:nvPr/>
        </p:nvSpPr>
        <p:spPr>
          <a:xfrm>
            <a:off x="1555855" y="2488659"/>
            <a:ext cx="11720969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da-DK" sz="4400" b="1" i="0" u="none" strike="noStrike" kern="0" cap="none" spc="0" normalizeH="0" baseline="0" noProof="0" dirty="0">
                <a:ln>
                  <a:noFill/>
                </a:ln>
                <a:solidFill>
                  <a:srgbClr val="F4DA33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//</a:t>
            </a:r>
            <a:r>
              <a:rPr kumimoji="0" lang="ka-GE" sz="4400" b="1" i="0" u="none" strike="noStrike" kern="0" cap="none" spc="0" normalizeH="0" baseline="0" noProof="0" dirty="0">
                <a:ln>
                  <a:noFill/>
                </a:ln>
                <a:solidFill>
                  <a:srgbClr val="1F51FF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 წარმატებებს გისურვებთ &lt;3 </a:t>
            </a:r>
            <a:endParaRPr kumimoji="0" lang="ka-GE" sz="2800" b="1" i="0" u="none" strike="noStrike" kern="0" cap="none" spc="0" normalizeH="0" baseline="0" noProof="0" dirty="0">
              <a:ln>
                <a:noFill/>
              </a:ln>
              <a:solidFill>
                <a:srgbClr val="1F51FF"/>
              </a:solidFill>
              <a:effectLst/>
              <a:uLnTx/>
              <a:uFillTx/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Arial"/>
            </a:endParaRPr>
          </a:p>
        </p:txBody>
      </p:sp>
      <p:sp>
        <p:nvSpPr>
          <p:cNvPr id="3" name="Google Shape;202;p6">
            <a:extLst>
              <a:ext uri="{FF2B5EF4-FFF2-40B4-BE49-F238E27FC236}">
                <a16:creationId xmlns:a16="http://schemas.microsoft.com/office/drawing/2014/main" id="{98E62D9D-4B85-5ED2-373B-8E0998C56A8F}"/>
              </a:ext>
            </a:extLst>
          </p:cNvPr>
          <p:cNvSpPr txBox="1"/>
          <p:nvPr/>
        </p:nvSpPr>
        <p:spPr>
          <a:xfrm>
            <a:off x="868219" y="4895273"/>
            <a:ext cx="11933382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kumimoji="0" lang="da-DK" sz="2400" b="1" i="0" u="none" strike="noStrike" kern="0" cap="none" spc="0" normalizeH="0" baseline="0" noProof="0" smtClean="0">
                <a:ln>
                  <a:noFill/>
                </a:ln>
                <a:solidFill>
                  <a:srgbClr val="F4DA33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//</a:t>
            </a:r>
            <a:r>
              <a:rPr kumimoji="0" lang="ka-GE" sz="2400" b="1" i="0" u="none" strike="noStrike" kern="0" cap="none" spc="0" normalizeH="0" noProof="0" smtClean="0">
                <a:ln>
                  <a:noFill/>
                </a:ln>
                <a:solidFill>
                  <a:srgbClr val="F4DA33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 დღევანდელ თემაზე დეტალურ ინფოს გაეცანით: </a:t>
            </a:r>
            <a:r>
              <a:rPr lang="en-US" sz="2400" b="1" smtClean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hlinkClick r:id="rId4"/>
              </a:rPr>
              <a:t>DetailInfo</a:t>
            </a:r>
            <a:r>
              <a:rPr lang="en-US" sz="2400" b="1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 </a:t>
            </a:r>
            <a:r>
              <a:rPr lang="en-US" sz="2400" b="1" i="1" u="sng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https://anano303.github.io/media/</a:t>
            </a:r>
            <a:endParaRPr kumimoji="0" lang="ka-GE" sz="2400" b="1" i="1" u="sng" strike="noStrike" kern="0" cap="none" spc="0" normalizeH="0" baseline="0" noProof="0" dirty="0">
              <a:ln>
                <a:noFill/>
              </a:ln>
              <a:solidFill>
                <a:srgbClr val="1F51FF"/>
              </a:solidFill>
              <a:effectLst/>
              <a:uLnTx/>
              <a:uFillTx/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3366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B30F4B5B4F1C4F898D01A5B6D6EAC6" ma:contentTypeVersion="11" ma:contentTypeDescription="Create a new document." ma:contentTypeScope="" ma:versionID="5799349a26875bb54342e6f15b0d7dd3">
  <xsd:schema xmlns:xsd="http://www.w3.org/2001/XMLSchema" xmlns:xs="http://www.w3.org/2001/XMLSchema" xmlns:p="http://schemas.microsoft.com/office/2006/metadata/properties" xmlns:ns2="c6614108-75a9-4e66-8a32-9441b5203e5d" xmlns:ns3="03d70116-57c7-4d11-b8b6-fca79f70cc49" targetNamespace="http://schemas.microsoft.com/office/2006/metadata/properties" ma:root="true" ma:fieldsID="39757c6bdb6c88709aaa91037d09d708" ns2:_="" ns3:_="">
    <xsd:import namespace="c6614108-75a9-4e66-8a32-9441b5203e5d"/>
    <xsd:import namespace="03d70116-57c7-4d11-b8b6-fca79f70cc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614108-75a9-4e66-8a32-9441b5203e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34b8e8dd-1825-4134-a8d0-63b7970bc4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d70116-57c7-4d11-b8b6-fca79f70cc49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9c49b0b1-cf67-49ef-9804-19a02ea3f661}" ma:internalName="TaxCatchAll" ma:showField="CatchAllData" ma:web="03d70116-57c7-4d11-b8b6-fca79f70cc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6614108-75a9-4e66-8a32-9441b5203e5d">
      <Terms xmlns="http://schemas.microsoft.com/office/infopath/2007/PartnerControls"/>
    </lcf76f155ced4ddcb4097134ff3c332f>
    <TaxCatchAll xmlns="03d70116-57c7-4d11-b8b6-fca79f70cc49" xsi:nil="true"/>
  </documentManagement>
</p:properties>
</file>

<file path=customXml/itemProps1.xml><?xml version="1.0" encoding="utf-8"?>
<ds:datastoreItem xmlns:ds="http://schemas.openxmlformats.org/officeDocument/2006/customXml" ds:itemID="{8AB0CCA6-394F-4D36-A8E2-FFAF9F347528}"/>
</file>

<file path=customXml/itemProps2.xml><?xml version="1.0" encoding="utf-8"?>
<ds:datastoreItem xmlns:ds="http://schemas.openxmlformats.org/officeDocument/2006/customXml" ds:itemID="{BAE8887C-1181-4408-93E7-585542DE347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A9CC135-CD56-4F8B-921B-D95EF0B22F3D}">
  <ds:schemaRefs>
    <ds:schemaRef ds:uri="http://www.w3.org/XML/1998/namespace"/>
    <ds:schemaRef ds:uri="http://purl.org/dc/elements/1.1/"/>
    <ds:schemaRef ds:uri="6641dcd3-7dc6-4696-bf59-c6211389010d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schemas.microsoft.com/office/2006/metadata/properties"/>
    <ds:schemaRef ds:uri="61bf6615-2d26-442b-9d24-621696d9153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536</TotalTime>
  <Words>420</Words>
  <Application>Microsoft Office PowerPoint</Application>
  <PresentationFormat>Widescreen</PresentationFormat>
  <Paragraphs>79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FiraGO</vt:lpstr>
      <vt:lpstr>Noto Sans</vt:lpstr>
      <vt:lpstr>Calibri</vt:lpstr>
      <vt:lpstr>FiraGO Light</vt:lpstr>
      <vt:lpstr>Arial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ბაია გურაბანიძე</dc:creator>
  <cp:lastModifiedBy>Ani Beroshvili</cp:lastModifiedBy>
  <cp:revision>55</cp:revision>
  <dcterms:created xsi:type="dcterms:W3CDTF">2024-10-25T12:59:50Z</dcterms:created>
  <dcterms:modified xsi:type="dcterms:W3CDTF">2025-04-07T09:48:42Z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0x010100C6B30F4B5B4F1C4F898D01A5B6D6EAC6</vt:lpwstr>
  </property>
  <property fmtid="{D5CDD505-2E9C-101B-9397-08002B2CF9AE}" pid="3" name="MediaServiceImageTags">
    <vt:lpwstr/>
  </property>
</Properties>
</file>