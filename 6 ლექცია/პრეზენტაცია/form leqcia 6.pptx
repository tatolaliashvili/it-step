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60" r:id="rId5"/>
  </p:sldMasterIdLst>
  <p:notesMasterIdLst>
    <p:notesMasterId r:id="rId14"/>
  </p:notesMasterIdLst>
  <p:sldIdLst>
    <p:sldId id="256" r:id="rId6"/>
    <p:sldId id="257" r:id="rId7"/>
    <p:sldId id="262" r:id="rId8"/>
    <p:sldId id="263" r:id="rId9"/>
    <p:sldId id="266" r:id="rId10"/>
    <p:sldId id="265" r:id="rId11"/>
    <p:sldId id="264" r:id="rId12"/>
    <p:sldId id="267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FiraGO" panose="020B08030500000200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GSzJV6VoQ7okuGXFlJ4wzkIxV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DA33"/>
    <a:srgbClr val="D52A7B"/>
    <a:srgbClr val="8F3FB3"/>
    <a:srgbClr val="1F51FF"/>
    <a:srgbClr val="0C0C0C"/>
    <a:srgbClr val="6DC034"/>
    <a:srgbClr val="662D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D76024-326E-D3B6-1EBA-7391AD02025D}" v="20" dt="2024-11-09T13:40:00.1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3.fntdata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იაშვილი რატი" userId="S::r.iashvili23@itstep.ge::638083d1-4ae4-40dd-93ae-63ada4327ecf" providerId="AD" clId="Web-{30D76024-326E-D3B6-1EBA-7391AD02025D}"/>
    <pc:docChg chg="modSld">
      <pc:chgData name="იაშვილი რატი" userId="S::r.iashvili23@itstep.ge::638083d1-4ae4-40dd-93ae-63ada4327ecf" providerId="AD" clId="Web-{30D76024-326E-D3B6-1EBA-7391AD02025D}" dt="2024-11-09T13:40:00.165" v="10" actId="20577"/>
      <pc:docMkLst>
        <pc:docMk/>
      </pc:docMkLst>
      <pc:sldChg chg="modSp">
        <pc:chgData name="იაშვილი რატი" userId="S::r.iashvili23@itstep.ge::638083d1-4ae4-40dd-93ae-63ada4327ecf" providerId="AD" clId="Web-{30D76024-326E-D3B6-1EBA-7391AD02025D}" dt="2024-11-09T13:40:00.165" v="10" actId="20577"/>
        <pc:sldMkLst>
          <pc:docMk/>
          <pc:sldMk cId="3470991571" sldId="263"/>
        </pc:sldMkLst>
        <pc:spChg chg="mod">
          <ac:chgData name="იაშვილი რატი" userId="S::r.iashvili23@itstep.ge::638083d1-4ae4-40dd-93ae-63ada4327ecf" providerId="AD" clId="Web-{30D76024-326E-D3B6-1EBA-7391AD02025D}" dt="2024-11-09T13:40:00.165" v="10" actId="20577"/>
          <ac:spMkLst>
            <pc:docMk/>
            <pc:sldMk cId="3470991571" sldId="263"/>
            <ac:spMk id="5" creationId="{00000000-0000-0000-0000-000000000000}"/>
          </ac:spMkLst>
        </pc:spChg>
      </pc:sldChg>
      <pc:sldChg chg="modSp">
        <pc:chgData name="იაშვილი რატი" userId="S::r.iashvili23@itstep.ge::638083d1-4ae4-40dd-93ae-63ada4327ecf" providerId="AD" clId="Web-{30D76024-326E-D3B6-1EBA-7391AD02025D}" dt="2024-11-09T13:33:49.740" v="6" actId="20577"/>
        <pc:sldMkLst>
          <pc:docMk/>
          <pc:sldMk cId="3038976794" sldId="265"/>
        </pc:sldMkLst>
        <pc:spChg chg="mod">
          <ac:chgData name="იაშვილი რატი" userId="S::r.iashvili23@itstep.ge::638083d1-4ae4-40dd-93ae-63ada4327ecf" providerId="AD" clId="Web-{30D76024-326E-D3B6-1EBA-7391AD02025D}" dt="2024-11-09T13:33:49.740" v="6" actId="20577"/>
          <ac:spMkLst>
            <pc:docMk/>
            <pc:sldMk cId="3038976794" sldId="265"/>
            <ac:spMk id="3" creationId="{19D31DE3-EC39-9922-B535-26A2CBD0B34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6C6128F8-70FF-CD68-EC5C-9E89FB02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>
            <a:extLst>
              <a:ext uri="{FF2B5EF4-FFF2-40B4-BE49-F238E27FC236}">
                <a16:creationId xmlns:a16="http://schemas.microsoft.com/office/drawing/2014/main" id="{0760AC3D-A39D-B2CD-6E33-7BCBC101F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>
            <a:extLst>
              <a:ext uri="{FF2B5EF4-FFF2-40B4-BE49-F238E27FC236}">
                <a16:creationId xmlns:a16="http://schemas.microsoft.com/office/drawing/2014/main" id="{D75B684C-B01E-6A58-30D5-38FD98260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3982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4805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6C8790B-342A-541D-8AAF-49D44DD7C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>
            <a:extLst>
              <a:ext uri="{FF2B5EF4-FFF2-40B4-BE49-F238E27FC236}">
                <a16:creationId xmlns:a16="http://schemas.microsoft.com/office/drawing/2014/main" id="{300681AF-0C32-101D-BA10-B32C7BF16C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>
            <a:extLst>
              <a:ext uri="{FF2B5EF4-FFF2-40B4-BE49-F238E27FC236}">
                <a16:creationId xmlns:a16="http://schemas.microsoft.com/office/drawing/2014/main" id="{AFCAE56A-71C2-88E7-89DD-32C8ECC839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>
            <a:extLst>
              <a:ext uri="{FF2B5EF4-FFF2-40B4-BE49-F238E27FC236}">
                <a16:creationId xmlns:a16="http://schemas.microsoft.com/office/drawing/2014/main" id="{517909E9-DE26-5FF7-3C8D-7E68937372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2919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793F5860-6048-58D5-12DE-EBCEF24C3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>
            <a:extLst>
              <a:ext uri="{FF2B5EF4-FFF2-40B4-BE49-F238E27FC236}">
                <a16:creationId xmlns:a16="http://schemas.microsoft.com/office/drawing/2014/main" id="{D4D69B58-9E97-DA32-FBDE-80157A7593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>
            <a:extLst>
              <a:ext uri="{FF2B5EF4-FFF2-40B4-BE49-F238E27FC236}">
                <a16:creationId xmlns:a16="http://schemas.microsoft.com/office/drawing/2014/main" id="{7C9B6CFC-3FB1-54DF-8765-51BE82E14A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>
            <a:extLst>
              <a:ext uri="{FF2B5EF4-FFF2-40B4-BE49-F238E27FC236}">
                <a16:creationId xmlns:a16="http://schemas.microsoft.com/office/drawing/2014/main" id="{0E2A01BE-FAA8-94C7-5363-3F82CA5E54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4232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85538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329FC3CF-9E14-D5B8-4904-47450A04F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>
            <a:extLst>
              <a:ext uri="{FF2B5EF4-FFF2-40B4-BE49-F238E27FC236}">
                <a16:creationId xmlns:a16="http://schemas.microsoft.com/office/drawing/2014/main" id="{776EE444-7551-B391-BEF1-E8ABCD1D23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>
            <a:extLst>
              <a:ext uri="{FF2B5EF4-FFF2-40B4-BE49-F238E27FC236}">
                <a16:creationId xmlns:a16="http://schemas.microsoft.com/office/drawing/2014/main" id="{37A0F946-4606-051F-631B-621FF6100A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>
            <a:extLst>
              <a:ext uri="{FF2B5EF4-FFF2-40B4-BE49-F238E27FC236}">
                <a16:creationId xmlns:a16="http://schemas.microsoft.com/office/drawing/2014/main" id="{FE89903E-0B16-009F-16D4-35CA99362E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6709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>
            <a:spLocks noGrp="1"/>
          </p:cNvSpPr>
          <p:nvPr>
            <p:ph type="pic" idx="2"/>
          </p:nvPr>
        </p:nvSpPr>
        <p:spPr>
          <a:xfrm>
            <a:off x="5532357" y="855662"/>
            <a:ext cx="5759450" cy="51466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6096000" y="720671"/>
            <a:ext cx="6172200" cy="487362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19"/>
          <p:cNvSpPr>
            <a:spLocks noGrp="1"/>
          </p:cNvSpPr>
          <p:nvPr>
            <p:ph type="pic" idx="3"/>
          </p:nvPr>
        </p:nvSpPr>
        <p:spPr>
          <a:xfrm>
            <a:off x="4038600" y="1936750"/>
            <a:ext cx="3533775" cy="339407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3" name="Google Shape;133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4" name="Google Shape;13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1" name="Google Shape;14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/>
        </p:nvSpPr>
        <p:spPr>
          <a:xfrm>
            <a:off x="507975" y="2311372"/>
            <a:ext cx="1172096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F51FF"/>
                </a:solidFill>
                <a:latin typeface="Arial"/>
                <a:ea typeface="Arial"/>
                <a:cs typeface="Arial"/>
                <a:sym typeface="Arial"/>
              </a:rPr>
              <a:t>FRONT-END W. ANGULAR</a:t>
            </a:r>
            <a:endParaRPr dirty="0"/>
          </a:p>
        </p:txBody>
      </p:sp>
      <p:sp>
        <p:nvSpPr>
          <p:cNvPr id="163" name="Google Shape;163;p1"/>
          <p:cNvSpPr txBox="1"/>
          <p:nvPr/>
        </p:nvSpPr>
        <p:spPr>
          <a:xfrm>
            <a:off x="546075" y="3327035"/>
            <a:ext cx="318656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err="1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ლექცია</a:t>
            </a:r>
            <a:r>
              <a:rPr lang="en-US" sz="280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lang="ka-GE" sz="2800" smtClean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6</a:t>
            </a:r>
            <a:endParaRPr sz="2800" dirty="0">
              <a:solidFill>
                <a:schemeClr val="lt1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5DA91E-2F44-CD9B-6153-9BE5ECDE3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13" y="5126030"/>
            <a:ext cx="887837" cy="10826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6362298" y="1617044"/>
            <a:ext cx="5245768" cy="4591251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idx="2"/>
          </p:nvPr>
        </p:nvPicPr>
        <p:blipFill rotWithShape="1">
          <a:blip r:embed="rId4"/>
          <a:srcRect r="22823"/>
          <a:stretch/>
        </p:blipFill>
        <p:spPr>
          <a:xfrm>
            <a:off x="6362294" y="1578741"/>
            <a:ext cx="5415548" cy="4740244"/>
          </a:xfrm>
          <a:prstGeom prst="roundRect">
            <a:avLst>
              <a:gd name="adj" fmla="val 4927"/>
            </a:avLst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9" name="Google Shape;169;p2"/>
          <p:cNvSpPr txBox="1"/>
          <p:nvPr/>
        </p:nvSpPr>
        <p:spPr>
          <a:xfrm>
            <a:off x="975436" y="443791"/>
            <a:ext cx="10841177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&lt;!</a:t>
            </a:r>
            <a:r>
              <a:rPr lang="ka-GE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--</a:t>
            </a:r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HTML</a:t>
            </a:r>
            <a:r>
              <a:rPr lang="ka-GE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ფორმები --&gt;</a:t>
            </a:r>
            <a:endParaRPr lang="ka-GE" b="1" cap="all" dirty="0">
              <a:solidFill>
                <a:srgbClr val="FFFF00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654517" y="1578742"/>
            <a:ext cx="5707779" cy="4740244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46748" y="2105561"/>
            <a:ext cx="506593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Html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from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ka-GE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- ელემენტი განსაზღვრავს ფორმას, ფირმა კი გამოიყენება შემდეგი დამუშავების მიზნით მომხმარებლის მიერ შეყვანილი ინფორმაციის შესაკრეფად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031817B-D816-065B-A496-D00343ABD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061" y="4102326"/>
            <a:ext cx="506593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a-GE" altLang="en-US" sz="2000" dirty="0">
                <a:solidFill>
                  <a:srgbClr val="FF00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&lt;</a:t>
            </a:r>
            <a:r>
              <a:rPr lang="en-US" altLang="en-US" sz="2000" dirty="0">
                <a:solidFill>
                  <a:srgbClr val="FF00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form&gt;</a:t>
            </a:r>
            <a:r>
              <a:rPr lang="ka-GE" altLang="en-US" sz="2000" dirty="0">
                <a:solidFill>
                  <a:srgbClr val="FF00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ka-GE" altLang="en-US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ფორმის მთავარი, მშობელი ელემენტი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AA1C56B9-8CDC-D13A-D566-89EA3409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69;p2"/>
          <p:cNvSpPr txBox="1"/>
          <p:nvPr/>
        </p:nvSpPr>
        <p:spPr>
          <a:xfrm>
            <a:off x="975436" y="196749"/>
            <a:ext cx="1172096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&lt;!</a:t>
            </a:r>
            <a:r>
              <a:rPr lang="ka-GE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--</a:t>
            </a:r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HTML</a:t>
            </a:r>
            <a:r>
              <a:rPr lang="ka-GE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ფორმების ელემენტები --&gt;</a:t>
            </a:r>
            <a:endParaRPr lang="ka-GE" sz="4400" b="1" cap="all" dirty="0">
              <a:solidFill>
                <a:srgbClr val="FFFF00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449581-47ED-EF72-BB76-4D463F48AD72}"/>
              </a:ext>
            </a:extLst>
          </p:cNvPr>
          <p:cNvSpPr/>
          <p:nvPr/>
        </p:nvSpPr>
        <p:spPr>
          <a:xfrm>
            <a:off x="6362298" y="1617044"/>
            <a:ext cx="5245768" cy="4591251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AC6C6B3-BE81-7C2F-3C5A-AA194BBAC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436" y="3807067"/>
            <a:ext cx="52115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Arial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5ED8D2E-D728-773D-4223-6615A02ED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14" y="2043697"/>
            <a:ext cx="4700781" cy="3737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a-GE" altLang="en-US" sz="2000" dirty="0">
                <a:solidFill>
                  <a:srgbClr val="D52A7B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ყველა </a:t>
            </a:r>
            <a:r>
              <a:rPr lang="en-US" altLang="en-US" sz="2000" dirty="0">
                <a:solidFill>
                  <a:srgbClr val="D52A7B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input </a:t>
            </a:r>
            <a:r>
              <a:rPr lang="ka-GE" altLang="en-US" sz="2000" dirty="0">
                <a:solidFill>
                  <a:srgbClr val="D52A7B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ელემენტს საჭიროა გავუწეროთ </a:t>
            </a:r>
            <a:r>
              <a:rPr lang="en-US" altLang="en-US" sz="2000" dirty="0">
                <a:solidFill>
                  <a:srgbClr val="D52A7B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label</a:t>
            </a:r>
            <a:r>
              <a:rPr lang="ka-GE" altLang="en-US" sz="2000" dirty="0">
                <a:solidFill>
                  <a:srgbClr val="D52A7B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-ი</a:t>
            </a:r>
            <a:endParaRPr lang="en-US" altLang="en-US" sz="2000" dirty="0">
              <a:solidFill>
                <a:srgbClr val="D52A7B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rgbClr val="00B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Select</a:t>
            </a:r>
            <a:r>
              <a:rPr lang="ka-GE" altLang="en-US" sz="2000" dirty="0">
                <a:solidFill>
                  <a:srgbClr val="00B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- არის ჩამოსაშლელი ველები რომელშიც გაწერილია ვარიანტები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rgbClr val="00B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Option </a:t>
            </a:r>
            <a:r>
              <a:rPr lang="ka-GE" altLang="en-US" sz="2000" dirty="0">
                <a:solidFill>
                  <a:srgbClr val="00B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საშუალებას გვაძლევს შემოვიტანოთ </a:t>
            </a:r>
            <a:r>
              <a:rPr lang="en-US" altLang="en-US" sz="2000" dirty="0">
                <a:solidFill>
                  <a:srgbClr val="00B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ka-GE" altLang="en-US" sz="2000" dirty="0">
                <a:solidFill>
                  <a:srgbClr val="00B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ვარიანტები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 err="1">
                <a:solidFill>
                  <a:srgbClr val="F4DA33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Textarea</a:t>
            </a:r>
            <a:r>
              <a:rPr lang="en-US" altLang="en-US" sz="2000" dirty="0">
                <a:solidFill>
                  <a:srgbClr val="F4DA33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ka-GE" altLang="en-US" sz="2000" dirty="0">
                <a:solidFill>
                  <a:srgbClr val="F4DA33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- მრავალ სტრიქონიანი ტექსტური ველი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816B73-602E-6693-1B1F-5EACB9109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347" y="1780674"/>
            <a:ext cx="478254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382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6362298" y="1617044"/>
            <a:ext cx="5245768" cy="4591251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501813" y="29590"/>
            <a:ext cx="1172096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&lt;!</a:t>
            </a:r>
            <a:r>
              <a:rPr lang="ka-GE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--</a:t>
            </a:r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input</a:t>
            </a:r>
            <a:r>
              <a:rPr lang="ka-GE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--&gt;</a:t>
            </a:r>
            <a:endParaRPr lang="ka-GE" sz="4400" b="1" cap="all" dirty="0">
              <a:solidFill>
                <a:srgbClr val="FFFF00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479197" y="1617044"/>
            <a:ext cx="5707779" cy="4591251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01813" y="1571061"/>
            <a:ext cx="5685163" cy="4544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200000"/>
              </a:lnSpc>
              <a:buClr>
                <a:schemeClr val="lt1"/>
              </a:buClr>
              <a:buSzPts val="1600"/>
            </a:pPr>
            <a:r>
              <a:rPr lang="en-US" sz="2800" dirty="0">
                <a:solidFill>
                  <a:srgbClr val="FF00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Input</a:t>
            </a:r>
            <a:r>
              <a:rPr lang="en-US" sz="24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 </a:t>
            </a:r>
            <a:r>
              <a:rPr lang="ka-GE" sz="24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sym typeface="Arial"/>
              </a:rPr>
              <a:t>ელემენტი - ინფუთ ელემენ</a:t>
            </a:r>
            <a:r>
              <a:rPr lang="ka-GE" sz="24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ტი არის ფორმის ყველაზე მნიშვნელოვანი ელემენტი ის შეიძლება რამდენიმენაირად გამოისახოს </a:t>
            </a:r>
            <a:r>
              <a:rPr lang="en-US" sz="2400" dirty="0">
                <a:solidFill>
                  <a:srgbClr val="FF00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type</a:t>
            </a:r>
            <a:r>
              <a:rPr lang="en-US" sz="24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ka-GE" sz="24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ატრიბუტის დახმარებით  მაგ: რასაც სურათზე ვხედავთ</a:t>
            </a:r>
            <a:endParaRPr lang="ka-GE" sz="2400" dirty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Arial"/>
            </a:endParaRPr>
          </a:p>
        </p:txBody>
      </p:sp>
      <p:pic>
        <p:nvPicPr>
          <p:cNvPr id="8" name="Picture Placeholder 3">
            <a:extLst>
              <a:ext uri="{FF2B5EF4-FFF2-40B4-BE49-F238E27FC236}">
                <a16:creationId xmlns:a16="http://schemas.microsoft.com/office/drawing/2014/main" id="{3FF09A05-56C2-B25B-E55B-5BF4157C1A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b="-3246"/>
          <a:stretch/>
        </p:blipFill>
        <p:spPr>
          <a:xfrm>
            <a:off x="6362297" y="1617044"/>
            <a:ext cx="5415548" cy="4740244"/>
          </a:xfrm>
          <a:prstGeom prst="roundRect">
            <a:avLst>
              <a:gd name="adj" fmla="val 4927"/>
            </a:avLst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70991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>
          <a:extLst>
            <a:ext uri="{FF2B5EF4-FFF2-40B4-BE49-F238E27FC236}">
              <a16:creationId xmlns:a16="http://schemas.microsoft.com/office/drawing/2014/main" id="{CF21472C-B5C6-5F64-75E9-92AE77AF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D73B9A3-DBB9-0613-2073-228329981DFC}"/>
              </a:ext>
            </a:extLst>
          </p:cNvPr>
          <p:cNvSpPr/>
          <p:nvPr/>
        </p:nvSpPr>
        <p:spPr>
          <a:xfrm>
            <a:off x="6362298" y="1617044"/>
            <a:ext cx="5245768" cy="4591251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9" name="Google Shape;169;p2">
            <a:extLst>
              <a:ext uri="{FF2B5EF4-FFF2-40B4-BE49-F238E27FC236}">
                <a16:creationId xmlns:a16="http://schemas.microsoft.com/office/drawing/2014/main" id="{357BB42C-1D40-3ECF-50B7-28AFCB185E70}"/>
              </a:ext>
            </a:extLst>
          </p:cNvPr>
          <p:cNvSpPr txBox="1"/>
          <p:nvPr/>
        </p:nvSpPr>
        <p:spPr>
          <a:xfrm>
            <a:off x="501813" y="29590"/>
            <a:ext cx="1172096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&lt;!</a:t>
            </a:r>
            <a:r>
              <a:rPr lang="ka-GE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--</a:t>
            </a:r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input</a:t>
            </a:r>
            <a:r>
              <a:rPr lang="ka-GE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-ის ყველა </a:t>
            </a:r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type</a:t>
            </a:r>
            <a:r>
              <a:rPr lang="ka-GE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--&gt;</a:t>
            </a:r>
            <a:endParaRPr lang="ka-GE" sz="4400" b="1" cap="all" dirty="0">
              <a:solidFill>
                <a:srgbClr val="FFFF00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71" name="Google Shape;171;p2">
            <a:extLst>
              <a:ext uri="{FF2B5EF4-FFF2-40B4-BE49-F238E27FC236}">
                <a16:creationId xmlns:a16="http://schemas.microsoft.com/office/drawing/2014/main" id="{F9E70AAB-E2DE-B56F-7235-C5D7CCD80A7B}"/>
              </a:ext>
            </a:extLst>
          </p:cNvPr>
          <p:cNvSpPr/>
          <p:nvPr/>
        </p:nvSpPr>
        <p:spPr>
          <a:xfrm>
            <a:off x="479197" y="1617044"/>
            <a:ext cx="5707779" cy="4591251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430756-A27C-3D0D-41F5-2992A192D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75" y="1155031"/>
            <a:ext cx="5883101" cy="52136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35D125-A3AF-0AD4-563D-0F6680C20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297" y="1155031"/>
            <a:ext cx="5421090" cy="521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469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>
          <a:extLst>
            <a:ext uri="{FF2B5EF4-FFF2-40B4-BE49-F238E27FC236}">
              <a16:creationId xmlns:a16="http://schemas.microsoft.com/office/drawing/2014/main" id="{BD0C4DC4-1E33-94C0-8C9A-75CC1A099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>
            <a:extLst>
              <a:ext uri="{FF2B5EF4-FFF2-40B4-BE49-F238E27FC236}">
                <a16:creationId xmlns:a16="http://schemas.microsoft.com/office/drawing/2014/main" id="{9B7613E4-5E17-9224-D58B-87893F2FBC4D}"/>
              </a:ext>
            </a:extLst>
          </p:cNvPr>
          <p:cNvSpPr txBox="1"/>
          <p:nvPr/>
        </p:nvSpPr>
        <p:spPr>
          <a:xfrm>
            <a:off x="975436" y="482934"/>
            <a:ext cx="69032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&lt;!</a:t>
            </a:r>
            <a:r>
              <a:rPr lang="ka-GE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-- შეჯამება--&gt;</a:t>
            </a:r>
            <a:endParaRPr lang="ka-GE" sz="4400" b="1" cap="all" dirty="0">
              <a:solidFill>
                <a:srgbClr val="FFFF00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71" name="Google Shape;171;p2">
            <a:extLst>
              <a:ext uri="{FF2B5EF4-FFF2-40B4-BE49-F238E27FC236}">
                <a16:creationId xmlns:a16="http://schemas.microsoft.com/office/drawing/2014/main" id="{ACC00184-43CF-28FE-4C0A-3CC63387E2C8}"/>
              </a:ext>
            </a:extLst>
          </p:cNvPr>
          <p:cNvSpPr/>
          <p:nvPr/>
        </p:nvSpPr>
        <p:spPr>
          <a:xfrm>
            <a:off x="324091" y="1617044"/>
            <a:ext cx="11720969" cy="4591251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E07A294-A6A8-DA78-870F-933F63121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436" y="3807067"/>
            <a:ext cx="52115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Arial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9D31DE3-EC39-9922-B535-26A2CBD0B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7" y="1336976"/>
            <a:ext cx="10782286" cy="5866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rgbClr val="92D050"/>
                </a:solidFill>
                <a:latin typeface="FiraGO"/>
                <a:ea typeface="FiraGO"/>
                <a:cs typeface="FiraGO"/>
              </a:rPr>
              <a:t>Html </a:t>
            </a:r>
            <a:r>
              <a:rPr lang="ka-GE" altLang="en-US" sz="1800" dirty="0">
                <a:solidFill>
                  <a:srgbClr val="92D050"/>
                </a:solidFill>
                <a:latin typeface="FiraGO"/>
                <a:ea typeface="FiraGO"/>
                <a:cs typeface="FiraGO"/>
              </a:rPr>
              <a:t>ფორმები არის მომხმარებლისა და ვებსაიტის ან აპლიკაციას შორის ურთიერთქმედების ერთ-ერთი მთავარი წერტილი იგი გამოიყენება მომხმარებლის მიერ შეყვანილი ინფორმაციის შესაგროვებლად. ხოლო ეს ინფორმაცია ხშირ შემთხვევაში იგზავნება სერვერზე დასამუშავებლად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ka-GE" altLang="en-US" sz="1800" dirty="0">
              <a:solidFill>
                <a:srgbClr val="92D050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a-GE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ვებ-ფორმის ელემენთი შედგება ერთი ან მეტი ელემენტისგან, </a:t>
            </a:r>
            <a:r>
              <a:rPr lang="en-US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form control</a:t>
            </a:r>
            <a:r>
              <a:rPr lang="ka-GE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-ისგან, ამას დამატებული ზოგიერთი დამატებითი ელემენტებისაგან,რომელიც დაეხმარება ფორმას სრულიად სტრუქტურირებაში.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ka-GE" altLang="en-US" sz="1800" dirty="0">
              <a:solidFill>
                <a:srgbClr val="92D050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a-GE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ფორმის კონტროლი შეიძლება იყოს ერთი ან მრავალსტრიქონიანი ტესქტური ველები (</a:t>
            </a:r>
            <a:r>
              <a:rPr lang="en-US" altLang="en-US" sz="1800" dirty="0" err="1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textarea</a:t>
            </a:r>
            <a:r>
              <a:rPr lang="ka-GE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)</a:t>
            </a:r>
            <a:r>
              <a:rPr lang="en-US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,</a:t>
            </a:r>
            <a:r>
              <a:rPr lang="ka-GE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ჩამოსაშლელი ველები </a:t>
            </a:r>
            <a:r>
              <a:rPr lang="en-US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(select),</a:t>
            </a:r>
            <a:r>
              <a:rPr lang="ka-GE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ღილაკები(</a:t>
            </a:r>
            <a:r>
              <a:rPr lang="en-US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button</a:t>
            </a:r>
            <a:r>
              <a:rPr lang="ka-GE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),ჩამრთველი ველები</a:t>
            </a:r>
            <a:r>
              <a:rPr lang="en-US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(checkbox)</a:t>
            </a:r>
            <a:r>
              <a:rPr lang="ka-GE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ან რადიო ღილაკები (</a:t>
            </a:r>
            <a:r>
              <a:rPr lang="en-US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radio button</a:t>
            </a:r>
            <a:r>
              <a:rPr lang="ka-GE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) და ძირითადად იქმნება </a:t>
            </a:r>
            <a:r>
              <a:rPr lang="en-US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input </a:t>
            </a:r>
            <a:r>
              <a:rPr lang="ka-GE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ელემენტის გამოყენებით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ka-GE" altLang="en-US" sz="1800" dirty="0">
              <a:solidFill>
                <a:srgbClr val="92D050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ka-GE" altLang="en-US" sz="1800" dirty="0">
              <a:solidFill>
                <a:srgbClr val="92D050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976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6362298" y="1617044"/>
            <a:ext cx="5245768" cy="4591251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501811" y="462573"/>
            <a:ext cx="1172096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kumimoji="0" lang="en-US" sz="4400" b="1" i="0" u="none" strike="noStrike" kern="0" cap="all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/</a:t>
            </a:r>
            <a:r>
              <a:rPr kumimoji="0" lang="ka-GE" sz="4400" b="1" i="0" u="none" strike="noStrike" kern="0" cap="all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*</a:t>
            </a:r>
            <a:r>
              <a:rPr kumimoji="0" lang="en-US" sz="4400" b="1" i="0" u="none" strike="noStrike" kern="0" cap="all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kumimoji="0" lang="ka-GE" sz="4400" b="1" i="0" u="none" strike="noStrike" kern="0" cap="all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დავალება </a:t>
            </a:r>
            <a:r>
              <a:rPr kumimoji="0" lang="ka-GE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cs typeface="Arial"/>
                <a:sym typeface="Arial"/>
              </a:rPr>
              <a:t>*/</a:t>
            </a:r>
            <a:endParaRPr kumimoji="0" lang="ka-GE" sz="1400" b="1" i="0" u="none" strike="noStrike" kern="0" cap="all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324091" y="1617044"/>
            <a:ext cx="5707779" cy="4591251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75436" y="3807067"/>
            <a:ext cx="52115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00114" y="2505360"/>
            <a:ext cx="4700781" cy="281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a-GE" altLang="en-US" sz="2000" b="0" i="0" u="none" strike="noStrike" cap="none" normalizeH="0" baseline="0" dirty="0">
                <a:ln>
                  <a:noFill/>
                </a:ln>
                <a:solidFill>
                  <a:srgbClr val="D52A7B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ეცადეთ ააწყოთ სურათზე ნაჩვენები  დავალება </a:t>
            </a:r>
            <a:r>
              <a:rPr lang="ka-GE" altLang="en-US" sz="2000" dirty="0">
                <a:solidFill>
                  <a:srgbClr val="D52A7B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რომელშიც უნდა გამოიყენოთ 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a-GE" altLang="en-US" sz="2000" dirty="0">
                <a:solidFill>
                  <a:srgbClr val="FF00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ფორმის ელემენტები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a-GE" altLang="en-US" sz="2000" dirty="0">
                <a:solidFill>
                  <a:srgbClr val="FFC0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ინფუთის ტიპები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a-GE" altLang="en-US" sz="20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ფორმის და ინფუთის სტილები </a:t>
            </a:r>
            <a:r>
              <a:rPr lang="en-US" altLang="en-US" sz="20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CSS</a:t>
            </a:r>
            <a:r>
              <a:rPr lang="ka-GE" altLang="en-US" sz="20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-ში</a:t>
            </a:r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2"/>
          </p:nvPr>
        </p:nvPicPr>
        <p:blipFill>
          <a:blip r:embed="rId4"/>
          <a:srcRect t="1406" b="1406"/>
          <a:stretch/>
        </p:blipFill>
        <p:spPr>
          <a:xfrm>
            <a:off x="6172823" y="1334778"/>
            <a:ext cx="6019177" cy="5406242"/>
          </a:xfrm>
        </p:spPr>
      </p:pic>
    </p:spTree>
    <p:extLst>
      <p:ext uri="{BB962C8B-B14F-4D97-AF65-F5344CB8AC3E}">
        <p14:creationId xmlns:p14="http://schemas.microsoft.com/office/powerpoint/2010/main" val="2352624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>
          <a:extLst>
            <a:ext uri="{FF2B5EF4-FFF2-40B4-BE49-F238E27FC236}">
              <a16:creationId xmlns:a16="http://schemas.microsoft.com/office/drawing/2014/main" id="{72A9B8D4-0732-BA01-69E3-D22950E91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">
            <a:extLst>
              <a:ext uri="{FF2B5EF4-FFF2-40B4-BE49-F238E27FC236}">
                <a16:creationId xmlns:a16="http://schemas.microsoft.com/office/drawing/2014/main" id="{14470C69-F216-1BAE-459A-86A97B884FC6}"/>
              </a:ext>
            </a:extLst>
          </p:cNvPr>
          <p:cNvSpPr/>
          <p:nvPr/>
        </p:nvSpPr>
        <p:spPr>
          <a:xfrm>
            <a:off x="235515" y="1624245"/>
            <a:ext cx="11720969" cy="4591251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6D3109E-A2C4-B69C-4F37-FF15FFFC5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436" y="3807067"/>
            <a:ext cx="52115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Arial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C8869E2-B2FA-F700-A93D-DDD0F52C0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3485" y="2629956"/>
            <a:ext cx="7126982" cy="2079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a-GE" altLang="en-US" sz="96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მადლობა</a:t>
            </a:r>
          </a:p>
        </p:txBody>
      </p:sp>
    </p:spTree>
    <p:extLst>
      <p:ext uri="{BB962C8B-B14F-4D97-AF65-F5344CB8AC3E}">
        <p14:creationId xmlns:p14="http://schemas.microsoft.com/office/powerpoint/2010/main" val="3825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D7AC2670F3EA419A4C8ED9E85832A6" ma:contentTypeVersion="12" ma:contentTypeDescription="Create a new document." ma:contentTypeScope="" ma:versionID="3d664fc42e50c7968de9b0f92673dc0c">
  <xsd:schema xmlns:xsd="http://www.w3.org/2001/XMLSchema" xmlns:xs="http://www.w3.org/2001/XMLSchema" xmlns:p="http://schemas.microsoft.com/office/2006/metadata/properties" xmlns:ns2="6641dcd3-7dc6-4696-bf59-c6211389010d" xmlns:ns3="61bf6615-2d26-442b-9d24-621696d9153b" targetNamespace="http://schemas.microsoft.com/office/2006/metadata/properties" ma:root="true" ma:fieldsID="865ce7a4538c4707173aaa984d7dbe48" ns2:_="" ns3:_="">
    <xsd:import namespace="6641dcd3-7dc6-4696-bf59-c6211389010d"/>
    <xsd:import namespace="61bf6615-2d26-442b-9d24-621696d915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41dcd3-7dc6-4696-bf59-c621138901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34b8e8dd-1825-4134-a8d0-63b7970bc4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bf6615-2d26-442b-9d24-621696d9153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81c3954-a2f3-4f37-897d-d66ac7e49cf3}" ma:internalName="TaxCatchAll" ma:showField="CatchAllData" ma:web="61bf6615-2d26-442b-9d24-621696d9153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641dcd3-7dc6-4696-bf59-c6211389010d">
      <Terms xmlns="http://schemas.microsoft.com/office/infopath/2007/PartnerControls"/>
    </lcf76f155ced4ddcb4097134ff3c332f>
    <TaxCatchAll xmlns="61bf6615-2d26-442b-9d24-621696d9153b" xsi:nil="true"/>
  </documentManagement>
</p:properties>
</file>

<file path=customXml/itemProps1.xml><?xml version="1.0" encoding="utf-8"?>
<ds:datastoreItem xmlns:ds="http://schemas.openxmlformats.org/officeDocument/2006/customXml" ds:itemID="{BAE8887C-1181-4408-93E7-585542DE34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94C9446-7575-4BA2-918C-9534BBA88B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41dcd3-7dc6-4696-bf59-c6211389010d"/>
    <ds:schemaRef ds:uri="61bf6615-2d26-442b-9d24-621696d915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9CC135-CD56-4F8B-921B-D95EF0B22F3D}">
  <ds:schemaRefs>
    <ds:schemaRef ds:uri="http://schemas.microsoft.com/office/2006/metadata/properties"/>
    <ds:schemaRef ds:uri="http://schemas.microsoft.com/office/infopath/2007/PartnerControls"/>
    <ds:schemaRef ds:uri="6641dcd3-7dc6-4696-bf59-c6211389010d"/>
    <ds:schemaRef ds:uri="61bf6615-2d26-442b-9d24-621696d9153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228</Words>
  <Application>Microsoft Office PowerPoint</Application>
  <PresentationFormat>Widescreen</PresentationFormat>
  <Paragraphs>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FiraGO</vt:lpstr>
      <vt:lpstr>Arial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ბაია გურაბანიძე</dc:creator>
  <cp:lastModifiedBy>Ani Beroshvili</cp:lastModifiedBy>
  <cp:revision>33</cp:revision>
  <dcterms:created xsi:type="dcterms:W3CDTF">2024-10-25T12:59:50Z</dcterms:created>
  <dcterms:modified xsi:type="dcterms:W3CDTF">2025-03-26T13:24:19Z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0x0101001FD7AC2670F3EA419A4C8ED9E85832A6</vt:lpwstr>
  </property>
  <property fmtid="{D5CDD505-2E9C-101B-9397-08002B2CF9AE}" pid="3" name="MediaServiceImageTags">
    <vt:lpwstr/>
  </property>
</Properties>
</file>