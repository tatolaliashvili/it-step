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60" r:id="rId5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2" r:id="rId11"/>
  </p:sldIdLst>
  <p:sldSz cx="12192000" cy="6858000"/>
  <p:notesSz cx="6858000" cy="9144000"/>
  <p:embeddedFontLst>
    <p:embeddedFont>
      <p:font typeface="FiraGO" panose="020B0604020202020204" charset="0"/>
      <p:regular r:id="rId13"/>
      <p:bold r:id="rId14"/>
      <p:italic r:id="rId15"/>
      <p:boldItalic r:id="rId16"/>
    </p:embeddedFont>
    <p:embeddedFont>
      <p:font typeface="FiraGO Light" panose="020B0604020202020204" charset="0"/>
      <p:regular r:id="rId17"/>
      <p: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iGSzJV6VoQ7okuGXFlJ4wzkIxV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2A7B"/>
    <a:srgbClr val="8F3FB3"/>
    <a:srgbClr val="6DC034"/>
    <a:srgbClr val="1F51FF"/>
    <a:srgbClr val="F4DA33"/>
    <a:srgbClr val="0C0C0C"/>
    <a:srgbClr val="662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FEE51C-0CFC-E4BB-CF04-E28EC2C0CA4B}" v="20" dt="2024-11-03T13:01:16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3.fntdata"/><Relationship Id="rId23" Type="http://customschemas.google.com/relationships/presentationmetadata" Target="metadata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ანი ბეროშვილი" userId="S::a.beroshvili@itstep.ge::f333310d-ff13-44fe-83b8-378f4836cdda" providerId="AD" clId="Web-{68FEE51C-0CFC-E4BB-CF04-E28EC2C0CA4B}"/>
    <pc:docChg chg="modSld">
      <pc:chgData name="ანი ბეროშვილი" userId="S::a.beroshvili@itstep.ge::f333310d-ff13-44fe-83b8-378f4836cdda" providerId="AD" clId="Web-{68FEE51C-0CFC-E4BB-CF04-E28EC2C0CA4B}" dt="2024-11-03T13:01:16.246" v="7" actId="20577"/>
      <pc:docMkLst>
        <pc:docMk/>
      </pc:docMkLst>
      <pc:sldChg chg="modSp">
        <pc:chgData name="ანი ბეროშვილი" userId="S::a.beroshvili@itstep.ge::f333310d-ff13-44fe-83b8-378f4836cdda" providerId="AD" clId="Web-{68FEE51C-0CFC-E4BB-CF04-E28EC2C0CA4B}" dt="2024-11-03T13:00:20.619" v="5" actId="20577"/>
        <pc:sldMkLst>
          <pc:docMk/>
          <pc:sldMk cId="0" sldId="257"/>
        </pc:sldMkLst>
        <pc:spChg chg="mod">
          <ac:chgData name="ანი ბეროშვილი" userId="S::a.beroshvili@itstep.ge::f333310d-ff13-44fe-83b8-378f4836cdda" providerId="AD" clId="Web-{68FEE51C-0CFC-E4BB-CF04-E28EC2C0CA4B}" dt="2024-11-03T12:59:46.399" v="1" actId="20577"/>
          <ac:spMkLst>
            <pc:docMk/>
            <pc:sldMk cId="0" sldId="257"/>
            <ac:spMk id="169" creationId="{00000000-0000-0000-0000-000000000000}"/>
          </ac:spMkLst>
        </pc:spChg>
        <pc:spChg chg="mod">
          <ac:chgData name="ანი ბეროშვილი" userId="S::a.beroshvili@itstep.ge::f333310d-ff13-44fe-83b8-378f4836cdda" providerId="AD" clId="Web-{68FEE51C-0CFC-E4BB-CF04-E28EC2C0CA4B}" dt="2024-11-03T13:00:00.384" v="2" actId="20577"/>
          <ac:spMkLst>
            <pc:docMk/>
            <pc:sldMk cId="0" sldId="257"/>
            <ac:spMk id="173" creationId="{00000000-0000-0000-0000-000000000000}"/>
          </ac:spMkLst>
        </pc:spChg>
        <pc:spChg chg="mod">
          <ac:chgData name="ანი ბეროშვილი" userId="S::a.beroshvili@itstep.ge::f333310d-ff13-44fe-83b8-378f4836cdda" providerId="AD" clId="Web-{68FEE51C-0CFC-E4BB-CF04-E28EC2C0CA4B}" dt="2024-11-03T13:00:20.619" v="5" actId="20577"/>
          <ac:spMkLst>
            <pc:docMk/>
            <pc:sldMk cId="0" sldId="257"/>
            <ac:spMk id="174" creationId="{00000000-0000-0000-0000-000000000000}"/>
          </ac:spMkLst>
        </pc:spChg>
      </pc:sldChg>
      <pc:sldChg chg="modSp">
        <pc:chgData name="ანი ბეროშვილი" userId="S::a.beroshvili@itstep.ge::f333310d-ff13-44fe-83b8-378f4836cdda" providerId="AD" clId="Web-{68FEE51C-0CFC-E4BB-CF04-E28EC2C0CA4B}" dt="2024-11-03T13:01:16.246" v="7" actId="20577"/>
        <pc:sldMkLst>
          <pc:docMk/>
          <pc:sldMk cId="0" sldId="260"/>
        </pc:sldMkLst>
        <pc:spChg chg="mod">
          <ac:chgData name="ანი ბეროშვილი" userId="S::a.beroshvili@itstep.ge::f333310d-ff13-44fe-83b8-378f4836cdda" providerId="AD" clId="Web-{68FEE51C-0CFC-E4BB-CF04-E28EC2C0CA4B}" dt="2024-11-03T13:01:16.246" v="7" actId="20577"/>
          <ac:spMkLst>
            <pc:docMk/>
            <pc:sldMk cId="0" sldId="260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6C6128F8-70FF-CD68-EC5C-9E89FB0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>
            <a:extLst>
              <a:ext uri="{FF2B5EF4-FFF2-40B4-BE49-F238E27FC236}">
                <a16:creationId xmlns:a16="http://schemas.microsoft.com/office/drawing/2014/main" id="{0760AC3D-A39D-B2CD-6E33-7BCBC101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>
            <a:extLst>
              <a:ext uri="{FF2B5EF4-FFF2-40B4-BE49-F238E27FC236}">
                <a16:creationId xmlns:a16="http://schemas.microsoft.com/office/drawing/2014/main" id="{D75B684C-B01E-6A58-30D5-38FD9826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982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>
            <a:spLocks noGrp="1"/>
          </p:cNvSpPr>
          <p:nvPr>
            <p:ph type="pic" idx="2"/>
          </p:nvPr>
        </p:nvSpPr>
        <p:spPr>
          <a:xfrm>
            <a:off x="5532357" y="855662"/>
            <a:ext cx="5759450" cy="51466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6096000" y="720671"/>
            <a:ext cx="6172200" cy="487362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9"/>
          <p:cNvSpPr>
            <a:spLocks noGrp="1"/>
          </p:cNvSpPr>
          <p:nvPr>
            <p:ph type="pic" idx="3"/>
          </p:nvPr>
        </p:nvSpPr>
        <p:spPr>
          <a:xfrm>
            <a:off x="4038600" y="1936750"/>
            <a:ext cx="3533775" cy="33940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f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flexboxfroggy.com/" TargetMode="Externa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507975" y="2311372"/>
            <a:ext cx="1172096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F51FF"/>
                </a:solidFill>
                <a:latin typeface="Arial"/>
                <a:ea typeface="Arial"/>
                <a:cs typeface="Arial"/>
                <a:sym typeface="Arial"/>
              </a:rPr>
              <a:t>FRONT-END W. ANGULAR</a:t>
            </a:r>
            <a:endParaRPr dirty="0"/>
          </a:p>
        </p:txBody>
      </p:sp>
      <p:sp>
        <p:nvSpPr>
          <p:cNvPr id="163" name="Google Shape;163;p1"/>
          <p:cNvSpPr txBox="1"/>
          <p:nvPr/>
        </p:nvSpPr>
        <p:spPr>
          <a:xfrm>
            <a:off x="546075" y="3327035"/>
            <a:ext cx="318656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ლექცია</a:t>
            </a:r>
            <a:r>
              <a:rPr lang="en-US" sz="2800" dirty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ka-GE" sz="2800" dirty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9</a:t>
            </a:r>
            <a:endParaRPr sz="2800" dirty="0">
              <a:solidFill>
                <a:schemeClr val="lt1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5DA91E-2F44-CD9B-6153-9BE5ECDE3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3" y="5126030"/>
            <a:ext cx="887837" cy="1082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9" r="9432"/>
          <a:stretch/>
        </p:blipFill>
        <p:spPr>
          <a:xfrm>
            <a:off x="6316828" y="1617663"/>
            <a:ext cx="5357936" cy="4590632"/>
          </a:xfrm>
          <a:prstGeom prst="roundRect">
            <a:avLst>
              <a:gd name="adj" fmla="val 4927"/>
            </a:avLst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2"/>
          <p:cNvSpPr txBox="1"/>
          <p:nvPr/>
        </p:nvSpPr>
        <p:spPr>
          <a:xfrm>
            <a:off x="501814" y="571442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cap="all" dirty="0">
                <a:solidFill>
                  <a:srgbClr val="D52A7B"/>
                </a:solidFill>
                <a:latin typeface="FiraGO"/>
                <a:ea typeface="FiraGO"/>
                <a:cs typeface="FiraGO"/>
              </a:rPr>
              <a:t>/*</a:t>
            </a:r>
            <a:r>
              <a:rPr lang="en-US" sz="4400" b="1" cap="all" dirty="0">
                <a:solidFill>
                  <a:srgbClr val="F4DA33"/>
                </a:solidFill>
                <a:latin typeface="FiraGO"/>
                <a:ea typeface="FiraGO"/>
                <a:cs typeface="FiraGO"/>
              </a:rPr>
              <a:t>   </a:t>
            </a:r>
            <a:r>
              <a:rPr lang="en-US" sz="4400" b="1" cap="all" dirty="0">
                <a:solidFill>
                  <a:srgbClr val="1F51FF"/>
                </a:solidFill>
                <a:latin typeface="FiraGO"/>
                <a:ea typeface="FiraGO"/>
                <a:cs typeface="FiraGO"/>
              </a:rPr>
              <a:t>Flexbox-</a:t>
            </a:r>
            <a:r>
              <a:rPr lang="ka-GE" sz="4400" b="1" cap="all" dirty="0">
                <a:solidFill>
                  <a:srgbClr val="1F51FF"/>
                </a:solidFill>
                <a:latin typeface="FiraGO"/>
                <a:ea typeface="FiraGO"/>
                <a:cs typeface="FiraGO"/>
              </a:rPr>
              <a:t>ის შესავალი</a:t>
            </a:r>
            <a:r>
              <a:rPr lang="en-US" sz="4400" b="1" cap="all" dirty="0">
                <a:solidFill>
                  <a:srgbClr val="1F51FF"/>
                </a:solidFill>
                <a:latin typeface="FiraGO"/>
                <a:ea typeface="FiraGO"/>
                <a:cs typeface="FiraGO"/>
              </a:rPr>
              <a:t>  </a:t>
            </a:r>
            <a:r>
              <a:rPr lang="ka-GE" sz="4400" b="1" cap="all" dirty="0">
                <a:solidFill>
                  <a:srgbClr val="1F51FF"/>
                </a:solidFill>
                <a:latin typeface="FiraGO"/>
                <a:ea typeface="FiraGO"/>
                <a:cs typeface="FiraGO"/>
              </a:rPr>
              <a:t> </a:t>
            </a:r>
            <a:r>
              <a:rPr lang="en-US" sz="4400" b="1" cap="all" dirty="0">
                <a:solidFill>
                  <a:srgbClr val="D52A7B"/>
                </a:solidFill>
                <a:latin typeface="FiraGO"/>
                <a:ea typeface="FiraGO"/>
                <a:cs typeface="FiraGO"/>
              </a:rPr>
              <a:t>*/</a:t>
            </a:r>
            <a:endParaRPr lang="ka-GE" b="1" cap="all" dirty="0">
              <a:solidFill>
                <a:srgbClr val="D52A7B"/>
              </a:solidFill>
              <a:latin typeface="FiraGO"/>
              <a:ea typeface="FiraGO"/>
              <a:cs typeface="FiraGO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654518" y="1617044"/>
            <a:ext cx="5441482" cy="224058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654518" y="4038600"/>
            <a:ext cx="5441482" cy="2169695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942975" y="2087177"/>
            <a:ext cx="4895725" cy="187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D52A7B"/>
                </a:solidFill>
                <a:latin typeface="FiraGO Light"/>
                <a:ea typeface="FiraGO Light"/>
                <a:cs typeface="FiraGO Light"/>
                <a:sym typeface="Arial"/>
              </a:rPr>
              <a:t>რ</a:t>
            </a:r>
            <a:r>
              <a:rPr lang="ka-GE" sz="1600" b="1" dirty="0">
                <a:solidFill>
                  <a:srgbClr val="D52A7B"/>
                </a:solidFill>
                <a:latin typeface="FiraGO Light"/>
                <a:ea typeface="FiraGO Light"/>
                <a:cs typeface="FiraGO Light"/>
                <a:sym typeface="Arial"/>
              </a:rPr>
              <a:t>ა არის </a:t>
            </a:r>
            <a:r>
              <a:rPr lang="en-US" sz="1600" b="1" dirty="0">
                <a:solidFill>
                  <a:srgbClr val="D52A7B"/>
                </a:solidFill>
                <a:latin typeface="FiraGO Light"/>
                <a:ea typeface="FiraGO Light"/>
                <a:cs typeface="FiraGO Light"/>
                <a:sym typeface="Arial"/>
              </a:rPr>
              <a:t>Flexbox 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Flexbox </a:t>
            </a:r>
            <a:r>
              <a:rPr lang="ka-GE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არის </a:t>
            </a:r>
            <a:r>
              <a:rPr lang="en-US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CSS </a:t>
            </a:r>
            <a:r>
              <a:rPr lang="ka-GE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ლეიაუტის მოდელი, რომელიც ელემენტების განლაგების საშუალებას მარტივად და მოქნილად გვაძლევს. ის განსაკუთრებით გამოსადეგია, როცა გვინდა, რომ გვერდის ელემენტები სწორად განლაგდნენ სხვადასხვა ზომის ეკრანებზე.</a:t>
            </a:r>
            <a:endParaRPr dirty="0">
              <a:solidFill>
                <a:schemeClr val="bg1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911817" y="4384783"/>
            <a:ext cx="4926883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D52A7B"/>
                </a:solidFill>
                <a:latin typeface="FiraGO Light"/>
                <a:ea typeface="FiraGO Light"/>
                <a:cs typeface="FiraGO Light"/>
                <a:sym typeface="Arial"/>
              </a:rPr>
              <a:t>Flexbox-</a:t>
            </a:r>
            <a:r>
              <a:rPr lang="ka-GE" sz="1600" b="1" dirty="0">
                <a:solidFill>
                  <a:srgbClr val="D52A7B"/>
                </a:solidFill>
                <a:latin typeface="FiraGO Light"/>
                <a:ea typeface="FiraGO Light"/>
                <a:cs typeface="FiraGO Light"/>
              </a:rPr>
              <a:t>ის ძირითადი მახასიათებლები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Flexbox </a:t>
            </a:r>
            <a:r>
              <a:rPr lang="ka-GE" sz="1600" dirty="0">
                <a:solidFill>
                  <a:schemeClr val="bg1"/>
                </a:solidFill>
              </a:rPr>
              <a:t>მოიცავს </a:t>
            </a:r>
            <a:r>
              <a:rPr lang="en-US" sz="1600" i="1" dirty="0">
                <a:solidFill>
                  <a:srgbClr val="FFFF00"/>
                </a:solidFill>
              </a:rPr>
              <a:t>container</a:t>
            </a:r>
            <a:r>
              <a:rPr lang="en-US" sz="1600" dirty="0">
                <a:solidFill>
                  <a:srgbClr val="FFFF00"/>
                </a:solidFill>
              </a:rPr>
              <a:t>-</a:t>
            </a:r>
            <a:r>
              <a:rPr lang="ka-GE" sz="1600" dirty="0">
                <a:solidFill>
                  <a:schemeClr val="bg1"/>
                </a:solidFill>
              </a:rPr>
              <a:t>ის (კონტეინერი) და </a:t>
            </a:r>
            <a:r>
              <a:rPr lang="en-US" sz="1600" i="1" dirty="0">
                <a:solidFill>
                  <a:srgbClr val="92D050"/>
                </a:solidFill>
              </a:rPr>
              <a:t>items</a:t>
            </a:r>
            <a:r>
              <a:rPr lang="en-US" sz="1600" dirty="0">
                <a:solidFill>
                  <a:srgbClr val="92D050"/>
                </a:solidFill>
              </a:rPr>
              <a:t>-</a:t>
            </a:r>
            <a:r>
              <a:rPr lang="ka-GE" sz="1600" dirty="0">
                <a:solidFill>
                  <a:schemeClr val="bg1"/>
                </a:solidFill>
              </a:rPr>
              <a:t>ის (ელემენტები) ცნებებს. კონტეინერს რომ მივანიჭოთ </a:t>
            </a:r>
            <a:r>
              <a:rPr lang="en-US" sz="1600" dirty="0">
                <a:solidFill>
                  <a:schemeClr val="bg1"/>
                </a:solidFill>
              </a:rPr>
              <a:t>Flexbox,</a:t>
            </a:r>
            <a:r>
              <a:rPr lang="ka-GE" sz="1600" dirty="0">
                <a:solidFill>
                  <a:schemeClr val="bg1"/>
                </a:solidFill>
              </a:rPr>
              <a:t> საკმარისია </a:t>
            </a:r>
            <a:r>
              <a:rPr lang="en-US" sz="1600" err="1">
                <a:solidFill>
                  <a:srgbClr val="FFC000"/>
                </a:solidFill>
              </a:rPr>
              <a:t>display:flex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  <a:r>
              <a:rPr lang="ka-GE" sz="1600" dirty="0">
                <a:solidFill>
                  <a:schemeClr val="bg1"/>
                </a:solidFill>
              </a:rPr>
              <a:t> ამის შემდეგ, კონტეინერში არსებული ელემენტები მიიღებენ ფლექსის მახასიათებლებს</a:t>
            </a:r>
            <a:endParaRPr sz="1600" dirty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FAD63D-8ABB-8EE6-A946-0B8BDB7F972E}"/>
              </a:ext>
            </a:extLst>
          </p:cNvPr>
          <p:cNvSpPr/>
          <p:nvPr/>
        </p:nvSpPr>
        <p:spPr>
          <a:xfrm>
            <a:off x="6200777" y="1617044"/>
            <a:ext cx="5336705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0" name="Google Shape;180;p3"/>
          <p:cNvSpPr txBox="1"/>
          <p:nvPr/>
        </p:nvSpPr>
        <p:spPr>
          <a:xfrm>
            <a:off x="128338" y="523945"/>
            <a:ext cx="1216943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/</a:t>
            </a:r>
            <a:r>
              <a:rPr lang="ka-GE" sz="4400" b="1" cap="all" dirty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*</a:t>
            </a:r>
            <a:r>
              <a:rPr lang="en-US" sz="4400" b="1" cap="all" dirty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</a:t>
            </a:r>
            <a:r>
              <a:rPr lang="en-US" sz="4400" b="1" dirty="0">
                <a:solidFill>
                  <a:srgbClr val="D52A7B"/>
                </a:solidFill>
              </a:rPr>
              <a:t>Flex Container-</a:t>
            </a:r>
            <a:r>
              <a:rPr lang="ka-GE" sz="4400" dirty="0">
                <a:solidFill>
                  <a:srgbClr val="1F51FF"/>
                </a:solidFill>
              </a:rPr>
              <a:t>ის ძირითადი თვისებები </a:t>
            </a:r>
            <a:r>
              <a:rPr lang="ka-GE" sz="4400" b="1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*/</a:t>
            </a:r>
            <a:endParaRPr lang="ka-GE" b="1" cap="all" dirty="0">
              <a:solidFill>
                <a:srgbClr val="92D050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Noto Sans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583079" y="1643614"/>
            <a:ext cx="5336707" cy="4564681"/>
          </a:xfrm>
          <a:prstGeom prst="roundRect">
            <a:avLst>
              <a:gd name="adj" fmla="val 3038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2" t="-699" r="1299" b="2455"/>
          <a:stretch/>
        </p:blipFill>
        <p:spPr>
          <a:xfrm>
            <a:off x="6200775" y="1617663"/>
            <a:ext cx="5911014" cy="4510421"/>
          </a:xfrm>
          <a:prstGeom prst="roundRect">
            <a:avLst>
              <a:gd name="adj" fmla="val 4927"/>
            </a:avLst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83" name="Google Shape;183;p3"/>
          <p:cNvSpPr txBox="1"/>
          <p:nvPr/>
        </p:nvSpPr>
        <p:spPr>
          <a:xfrm>
            <a:off x="973667" y="2108308"/>
            <a:ext cx="4665131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b="1" dirty="0">
                <a:solidFill>
                  <a:srgbClr val="F4DA33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justify-content</a:t>
            </a:r>
            <a:r>
              <a:rPr lang="en-US" sz="1600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– </a:t>
            </a:r>
            <a:r>
              <a:rPr lang="ka-GE" sz="1600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განსაზღვრავს, როგორ განაწილდეს ელემენტები ძირითადი ღერძის გასწვრივ (</a:t>
            </a:r>
            <a:r>
              <a:rPr lang="en-US" sz="1600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horizontal/</a:t>
            </a:r>
            <a:r>
              <a:rPr lang="ka-GE" sz="1600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ვერტიკალური).</a:t>
            </a:r>
            <a:endParaRPr lang="en-US" sz="1600" dirty="0">
              <a:solidFill>
                <a:schemeClr val="bg1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</a:endParaRPr>
          </a:p>
          <a:p>
            <a:pPr lvl="0">
              <a:buClr>
                <a:schemeClr val="lt1"/>
              </a:buClr>
              <a:buSzPts val="1600"/>
            </a:pPr>
            <a:endParaRPr lang="en-US" sz="1600" dirty="0">
              <a:solidFill>
                <a:schemeClr val="bg1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</a:endParaRPr>
          </a:p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endParaRPr dirty="0">
              <a:solidFill>
                <a:schemeClr val="bg1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</a:endParaRPr>
          </a:p>
        </p:txBody>
      </p:sp>
      <p:sp>
        <p:nvSpPr>
          <p:cNvPr id="2" name="Google Shape;183;p3">
            <a:extLst>
              <a:ext uri="{FF2B5EF4-FFF2-40B4-BE49-F238E27FC236}">
                <a16:creationId xmlns:a16="http://schemas.microsoft.com/office/drawing/2014/main" id="{B71A62C4-3780-5E10-D18A-6F7F2CEB3787}"/>
              </a:ext>
            </a:extLst>
          </p:cNvPr>
          <p:cNvSpPr txBox="1"/>
          <p:nvPr/>
        </p:nvSpPr>
        <p:spPr>
          <a:xfrm>
            <a:off x="973665" y="3389603"/>
            <a:ext cx="4665133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b="1" dirty="0">
                <a:solidFill>
                  <a:srgbClr val="6DC034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align-items</a:t>
            </a:r>
            <a:r>
              <a:rPr lang="en-US" sz="1600" b="1" dirty="0">
                <a:solidFill>
                  <a:srgbClr val="6DC034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– </a:t>
            </a:r>
            <a:r>
              <a:rPr lang="ka-GE" sz="1600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განსაზღვრავს, როგორ განლაგდეს ელემენტები გვერდითი ღერძის მიმართულებით.</a:t>
            </a:r>
            <a:endParaRPr dirty="0">
              <a:solidFill>
                <a:schemeClr val="bg1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</a:endParaRPr>
          </a:p>
        </p:txBody>
      </p:sp>
      <p:sp>
        <p:nvSpPr>
          <p:cNvPr id="3" name="Google Shape;183;p3">
            <a:extLst>
              <a:ext uri="{FF2B5EF4-FFF2-40B4-BE49-F238E27FC236}">
                <a16:creationId xmlns:a16="http://schemas.microsoft.com/office/drawing/2014/main" id="{8621B263-5466-BC1C-16FB-0D973DE301A1}"/>
              </a:ext>
            </a:extLst>
          </p:cNvPr>
          <p:cNvSpPr txBox="1"/>
          <p:nvPr/>
        </p:nvSpPr>
        <p:spPr>
          <a:xfrm>
            <a:off x="973665" y="4559946"/>
            <a:ext cx="4665133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b="1" dirty="0">
                <a:solidFill>
                  <a:srgbClr val="8F3FB3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flex-direction</a:t>
            </a:r>
            <a:r>
              <a:rPr lang="en-US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– 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განსაზღვრავს, როგორ განლაგდეს ელემენტები (რიგი ან სვეტი).</a:t>
            </a:r>
            <a:endParaRPr sz="16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/>
        </p:nvSpPr>
        <p:spPr>
          <a:xfrm>
            <a:off x="576800" y="316901"/>
            <a:ext cx="1172096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000" b="1" dirty="0">
                <a:solidFill>
                  <a:srgbClr val="6DC034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/*</a:t>
            </a:r>
            <a:r>
              <a:rPr lang="en-US" sz="4000" dirty="0">
                <a:solidFill>
                  <a:srgbClr val="00B0F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Flex Items-</a:t>
            </a:r>
            <a:r>
              <a:rPr lang="ka-GE" sz="4000" dirty="0">
                <a:solidFill>
                  <a:srgbClr val="00B0F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ის მახასიათებლები</a:t>
            </a:r>
            <a:r>
              <a:rPr lang="en-US" sz="4000" dirty="0">
                <a:solidFill>
                  <a:srgbClr val="00B0F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en-US" sz="4000" b="1" dirty="0">
                <a:solidFill>
                  <a:srgbClr val="6DC034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*/</a:t>
            </a:r>
            <a:endParaRPr sz="4000" b="1" cap="all" dirty="0">
              <a:solidFill>
                <a:srgbClr val="6DC034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9" r="13385" b="-16195"/>
          <a:stretch/>
        </p:blipFill>
        <p:spPr>
          <a:xfrm>
            <a:off x="6437284" y="1205464"/>
            <a:ext cx="5754716" cy="4984820"/>
          </a:xfrm>
          <a:prstGeom prst="roundRect">
            <a:avLst>
              <a:gd name="adj" fmla="val 5262"/>
            </a:avLst>
          </a:prstGeom>
          <a:noFill/>
          <a:ln>
            <a:noFill/>
          </a:ln>
        </p:spPr>
      </p:pic>
      <p:sp>
        <p:nvSpPr>
          <p:cNvPr id="190" name="Google Shape;190;p4"/>
          <p:cNvSpPr txBox="1"/>
          <p:nvPr/>
        </p:nvSpPr>
        <p:spPr>
          <a:xfrm>
            <a:off x="576800" y="2002988"/>
            <a:ext cx="5519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1" dirty="0">
                <a:solidFill>
                  <a:srgbClr val="D52A7B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flex-grow</a:t>
            </a:r>
            <a:r>
              <a:rPr lang="en-US" sz="2000" dirty="0">
                <a:solidFill>
                  <a:srgbClr val="00B0F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– </a:t>
            </a:r>
            <a:r>
              <a:rPr lang="ka-GE" sz="2000" dirty="0">
                <a:solidFill>
                  <a:srgbClr val="00B0F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განსაზღვრავს, თუ რამდენად გაიზარდოს ელემენტი თავისუფალ სივრცეში.</a:t>
            </a:r>
            <a:endParaRPr lang="en-US" sz="2000" dirty="0">
              <a:solidFill>
                <a:srgbClr val="00B0F0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</a:endParaRP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endParaRPr lang="en-US" sz="2000" dirty="0">
              <a:solidFill>
                <a:srgbClr val="00B0F0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  <a:sym typeface="Arial"/>
            </a:endParaRP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1" dirty="0">
                <a:solidFill>
                  <a:srgbClr val="6DC034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order</a:t>
            </a:r>
            <a:r>
              <a:rPr lang="en-US" sz="2000" dirty="0">
                <a:solidFill>
                  <a:srgbClr val="00B0F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– </a:t>
            </a:r>
            <a:r>
              <a:rPr lang="ka-GE" sz="2000" dirty="0">
                <a:solidFill>
                  <a:srgbClr val="00B0F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აძლევს ელემენტებს განლაგების მახასიათებელს, რომ დაალაგოს ისინი განსხვავებული თანმიმდევრობით.</a:t>
            </a:r>
            <a:endParaRPr sz="2000" dirty="0">
              <a:solidFill>
                <a:srgbClr val="00B0F0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716" y="5338807"/>
            <a:ext cx="5343525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234BCB-6E45-A17D-17ED-8D5456985B67}"/>
              </a:ext>
            </a:extLst>
          </p:cNvPr>
          <p:cNvSpPr/>
          <p:nvPr/>
        </p:nvSpPr>
        <p:spPr>
          <a:xfrm>
            <a:off x="0" y="61082"/>
            <a:ext cx="8220364" cy="4400550"/>
          </a:xfrm>
          <a:prstGeom prst="roundRect">
            <a:avLst>
              <a:gd name="adj" fmla="val 5767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95" name="Google Shape;195;p5"/>
          <p:cNvSpPr txBox="1"/>
          <p:nvPr/>
        </p:nvSpPr>
        <p:spPr>
          <a:xfrm>
            <a:off x="401052" y="4433923"/>
            <a:ext cx="11928801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&lt;</a:t>
            </a:r>
            <a:r>
              <a:rPr lang="en-US" sz="40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Flexboxfroggy.com</a:t>
            </a:r>
            <a:r>
              <a:rPr lang="en-US" sz="4000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en-US" sz="4000" dirty="0">
                <a:solidFill>
                  <a:srgbClr val="6DC034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– </a:t>
            </a:r>
            <a:r>
              <a:rPr lang="ka-GE" sz="4000" dirty="0">
                <a:solidFill>
                  <a:srgbClr val="6DC034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პრაქტიკული სავარჯიშო</a:t>
            </a:r>
            <a:r>
              <a:rPr lang="en-US" sz="4400" b="1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&gt;</a:t>
            </a:r>
            <a:endParaRPr sz="4400" b="1" dirty="0">
              <a:solidFill>
                <a:srgbClr val="F4DA33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0758" y="5108980"/>
            <a:ext cx="1063371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200000"/>
              </a:lnSpc>
              <a:buClr>
                <a:schemeClr val="lt1"/>
              </a:buClr>
              <a:buSzPts val="1600"/>
            </a:pPr>
            <a:r>
              <a:rPr lang="ka-GE" sz="1800" dirty="0">
                <a:solidFill>
                  <a:srgbClr val="FFFF0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ეტაპობრივად გავდივართ თამაშის დავალებებს და ვსწავლობთ, როგორ ვმართოთ ელემენტების განლაგება. მაგალითად:</a:t>
            </a:r>
          </a:p>
          <a:p>
            <a:pPr lvl="0">
              <a:lnSpc>
                <a:spcPct val="200000"/>
              </a:lnSpc>
              <a:buClr>
                <a:schemeClr val="lt1"/>
              </a:buClr>
              <a:buSzPts val="1600"/>
            </a:pPr>
            <a:r>
              <a:rPr lang="ka-GE" sz="1600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endParaRPr sz="1600" dirty="0">
              <a:solidFill>
                <a:schemeClr val="bg1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  <a:sym typeface="Arial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6" t="1" r="173" b="333"/>
          <a:stretch/>
        </p:blipFill>
        <p:spPr>
          <a:xfrm>
            <a:off x="72503" y="119123"/>
            <a:ext cx="8075359" cy="4314800"/>
          </a:xfrm>
        </p:spPr>
      </p:pic>
      <p:sp>
        <p:nvSpPr>
          <p:cNvPr id="6" name="Rectangle 5"/>
          <p:cNvSpPr/>
          <p:nvPr/>
        </p:nvSpPr>
        <p:spPr>
          <a:xfrm>
            <a:off x="8623535" y="781688"/>
            <a:ext cx="3375960" cy="261610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ka-GE" sz="2000" b="1" dirty="0">
                <a:solidFill>
                  <a:schemeClr val="bg1"/>
                </a:solidFill>
                <a:latin typeface="FiraGO Light"/>
                <a:ea typeface="FiraGO Light"/>
                <a:cs typeface="FiraGO Light"/>
              </a:rPr>
              <a:t>გადადით საიტზე </a:t>
            </a:r>
            <a:r>
              <a:rPr lang="en-US" sz="2000" b="1" dirty="0">
                <a:solidFill>
                  <a:schemeClr val="bg1"/>
                </a:solidFill>
                <a:latin typeface="FiraGO Light"/>
                <a:ea typeface="FiraGO Light"/>
                <a:cs typeface="FiraGO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Flexboxfroggy.com</a:t>
            </a:r>
            <a:r>
              <a:rPr lang="en-US" sz="2000" b="1" dirty="0">
                <a:solidFill>
                  <a:schemeClr val="bg1"/>
                </a:solidFill>
                <a:latin typeface="FiraGO Light"/>
                <a:ea typeface="FiraGO Light"/>
                <a:cs typeface="FiraGO Light"/>
              </a:rPr>
              <a:t> </a:t>
            </a:r>
          </a:p>
          <a:p>
            <a:r>
              <a:rPr lang="en-US" sz="2000" b="1" dirty="0">
                <a:solidFill>
                  <a:schemeClr val="bg1"/>
                </a:solidFill>
                <a:latin typeface="FiraGO Light"/>
                <a:ea typeface="FiraGO Light"/>
                <a:cs typeface="FiraGO Light"/>
              </a:rPr>
              <a:t>– </a:t>
            </a:r>
            <a:r>
              <a:rPr lang="ka-GE" sz="2000" b="1" dirty="0">
                <a:solidFill>
                  <a:schemeClr val="bg1"/>
                </a:solidFill>
                <a:latin typeface="FiraGO Light"/>
                <a:ea typeface="FiraGO Light"/>
                <a:cs typeface="FiraGO Light"/>
              </a:rPr>
              <a:t>ეს არის თამაში, სადაც </a:t>
            </a:r>
            <a:r>
              <a:rPr lang="en-US" sz="2400" b="1" dirty="0">
                <a:solidFill>
                  <a:srgbClr val="FF0000"/>
                </a:solidFill>
                <a:latin typeface="FiraGO Light"/>
                <a:ea typeface="FiraGO Light"/>
                <a:cs typeface="FiraGO Light"/>
              </a:rPr>
              <a:t>Flexbox</a:t>
            </a:r>
            <a:r>
              <a:rPr lang="en-US" sz="2000" b="1" dirty="0">
                <a:solidFill>
                  <a:schemeClr val="bg1"/>
                </a:solidFill>
                <a:latin typeface="FiraGO Light"/>
                <a:ea typeface="FiraGO Light"/>
                <a:cs typeface="FiraGO Light"/>
              </a:rPr>
              <a:t>-</a:t>
            </a:r>
            <a:r>
              <a:rPr lang="ka-GE" sz="2000" b="1" dirty="0">
                <a:solidFill>
                  <a:schemeClr val="bg1"/>
                </a:solidFill>
                <a:latin typeface="FiraGO Light"/>
                <a:ea typeface="FiraGO Light"/>
                <a:cs typeface="FiraGO Light"/>
              </a:rPr>
              <a:t>ის მახასიათებლების გამოყენებით ბაყაყები სასურველ ლოტუსებზე უნდა მივიყვანოთ.</a:t>
            </a:r>
            <a:endParaRPr lang="en-US" sz="2000" b="1" dirty="0">
              <a:solidFill>
                <a:schemeClr val="bg1"/>
              </a:solidFill>
              <a:latin typeface="FiraGO Light"/>
              <a:ea typeface="FiraGO Light"/>
              <a:cs typeface="FiraGO Ligh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7160" y="5657671"/>
            <a:ext cx="6854840" cy="1200329"/>
          </a:xfrm>
          <a:prstGeom prst="rect">
            <a:avLst/>
          </a:prstGeom>
          <a:solidFill>
            <a:srgbClr val="002060"/>
          </a:solidFill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8F3FB3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justify-content</a:t>
            </a:r>
            <a:r>
              <a:rPr lang="en-US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– </a:t>
            </a:r>
            <a:r>
              <a:rPr lang="ka-GE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ელემენტების ჰორიზონტალური ცენტრში განლაგება.</a:t>
            </a:r>
          </a:p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b="1" dirty="0">
                <a:solidFill>
                  <a:srgbClr val="FFC00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align-items </a:t>
            </a:r>
            <a:r>
              <a:rPr lang="ka-GE" sz="1800" b="1" dirty="0">
                <a:solidFill>
                  <a:srgbClr val="FFC00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 </a:t>
            </a:r>
            <a:r>
              <a:rPr lang="en-US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–</a:t>
            </a:r>
            <a:r>
              <a:rPr lang="ka-GE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   </a:t>
            </a:r>
            <a:r>
              <a:rPr lang="en-US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lang="ka-GE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ელემენტების ვერტიკალური განლაგება.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AA1C56B9-8CDC-D13A-D566-89EA3409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>
            <a:extLst>
              <a:ext uri="{FF2B5EF4-FFF2-40B4-BE49-F238E27FC236}">
                <a16:creationId xmlns:a16="http://schemas.microsoft.com/office/drawing/2014/main" id="{98E62D9D-4B85-5ED2-373B-8E0998C56A8F}"/>
              </a:ext>
            </a:extLst>
          </p:cNvPr>
          <p:cNvSpPr txBox="1"/>
          <p:nvPr/>
        </p:nvSpPr>
        <p:spPr>
          <a:xfrm>
            <a:off x="471031" y="-32887"/>
            <a:ext cx="1172096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a-GE" sz="4000" b="1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                       &lt;/დავალება&gt;</a:t>
            </a:r>
            <a:endParaRPr lang="ka-GE" sz="4000" b="1" dirty="0">
              <a:solidFill>
                <a:srgbClr val="1F51FF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3" name="Google Shape;203;p6">
            <a:extLst>
              <a:ext uri="{FF2B5EF4-FFF2-40B4-BE49-F238E27FC236}">
                <a16:creationId xmlns:a16="http://schemas.microsoft.com/office/drawing/2014/main" id="{05001C60-8E57-870C-5D26-A4FE666FCE1F}"/>
              </a:ext>
            </a:extLst>
          </p:cNvPr>
          <p:cNvSpPr txBox="1"/>
          <p:nvPr/>
        </p:nvSpPr>
        <p:spPr>
          <a:xfrm>
            <a:off x="6799488" y="1884410"/>
            <a:ext cx="5539724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lt1"/>
              </a:buClr>
              <a:buSzPts val="1600"/>
            </a:pPr>
            <a:r>
              <a:rPr lang="ka-GE" sz="3200" dirty="0">
                <a:solidFill>
                  <a:srgbClr val="00B05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ააწყეთ სურათზე ნაჩვენები ვებ-გვერდი </a:t>
            </a:r>
            <a:r>
              <a:rPr lang="en-US" sz="3200" b="1" dirty="0">
                <a:solidFill>
                  <a:srgbClr val="FFFF0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flex-box</a:t>
            </a:r>
            <a:r>
              <a:rPr lang="en-US" sz="3200" dirty="0">
                <a:solidFill>
                  <a:srgbClr val="00B05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-</a:t>
            </a:r>
            <a:r>
              <a:rPr lang="ka-GE" sz="3200" dirty="0">
                <a:solidFill>
                  <a:srgbClr val="00B05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ის გამოყენებით, </a:t>
            </a:r>
            <a:r>
              <a:rPr lang="en-US" sz="3200" dirty="0">
                <a:solidFill>
                  <a:srgbClr val="00B05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(</a:t>
            </a:r>
            <a:r>
              <a:rPr lang="ka-GE" sz="3200" i="1" dirty="0">
                <a:solidFill>
                  <a:srgbClr val="00B05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გამოიყენეთ ნებისმიერი თქვენთვის სასურველი ფოტოები</a:t>
            </a:r>
            <a:r>
              <a:rPr lang="en-US" sz="3200" dirty="0">
                <a:solidFill>
                  <a:srgbClr val="00B05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)</a:t>
            </a:r>
            <a:endParaRPr sz="2000" dirty="0">
              <a:solidFill>
                <a:srgbClr val="00B050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  <a:sym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4959"/>
            <a:ext cx="6319196" cy="618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82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6614108-75a9-4e66-8a32-9441b5203e5d">
      <Terms xmlns="http://schemas.microsoft.com/office/infopath/2007/PartnerControls"/>
    </lcf76f155ced4ddcb4097134ff3c332f>
    <TaxCatchAll xmlns="03d70116-57c7-4d11-b8b6-fca79f70cc4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30F4B5B4F1C4F898D01A5B6D6EAC6" ma:contentTypeVersion="11" ma:contentTypeDescription="Create a new document." ma:contentTypeScope="" ma:versionID="5799349a26875bb54342e6f15b0d7dd3">
  <xsd:schema xmlns:xsd="http://www.w3.org/2001/XMLSchema" xmlns:xs="http://www.w3.org/2001/XMLSchema" xmlns:p="http://schemas.microsoft.com/office/2006/metadata/properties" xmlns:ns2="c6614108-75a9-4e66-8a32-9441b5203e5d" xmlns:ns3="03d70116-57c7-4d11-b8b6-fca79f70cc49" targetNamespace="http://schemas.microsoft.com/office/2006/metadata/properties" ma:root="true" ma:fieldsID="39757c6bdb6c88709aaa91037d09d708" ns2:_="" ns3:_="">
    <xsd:import namespace="c6614108-75a9-4e66-8a32-9441b5203e5d"/>
    <xsd:import namespace="03d70116-57c7-4d11-b8b6-fca79f70cc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14108-75a9-4e66-8a32-9441b5203e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4b8e8dd-1825-4134-a8d0-63b7970bc4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d70116-57c7-4d11-b8b6-fca79f70cc4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c49b0b1-cf67-49ef-9804-19a02ea3f661}" ma:internalName="TaxCatchAll" ma:showField="CatchAllData" ma:web="03d70116-57c7-4d11-b8b6-fca79f70cc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9CC135-CD56-4F8B-921B-D95EF0B22F3D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dcmitype/"/>
    <ds:schemaRef ds:uri="6641dcd3-7dc6-4696-bf59-c6211389010d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70CACA4-0336-4B81-8809-72F430A6FA08}"/>
</file>

<file path=customXml/itemProps3.xml><?xml version="1.0" encoding="utf-8"?>
<ds:datastoreItem xmlns:ds="http://schemas.openxmlformats.org/officeDocument/2006/customXml" ds:itemID="{BAE8887C-1181-4408-93E7-585542DE347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233</Words>
  <Application>Microsoft Office PowerPoint</Application>
  <PresentationFormat>Widescreen</PresentationFormat>
  <Paragraphs>26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ბაია გურაბანიძე</dc:creator>
  <cp:lastModifiedBy>Ani Beroshvili</cp:lastModifiedBy>
  <cp:revision>28</cp:revision>
  <dcterms:created xsi:type="dcterms:W3CDTF">2024-10-25T12:59:50Z</dcterms:created>
  <dcterms:modified xsi:type="dcterms:W3CDTF">2024-11-03T13:01:20Z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0x010100C6B30F4B5B4F1C4F898D01A5B6D6EAC6</vt:lpwstr>
  </property>
  <property fmtid="{D5CDD505-2E9C-101B-9397-08002B2CF9AE}" pid="3" name="MediaServiceImageTags">
    <vt:lpwstr/>
  </property>
</Properties>
</file>