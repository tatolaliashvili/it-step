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3"/>
  </p:notesMasterIdLst>
  <p:sldIdLst>
    <p:sldId id="256" r:id="rId6"/>
    <p:sldId id="257" r:id="rId7"/>
    <p:sldId id="264" r:id="rId8"/>
    <p:sldId id="259" r:id="rId9"/>
    <p:sldId id="263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iraGO" panose="020B0503050000020004" pitchFamily="34" charset="0"/>
      <p:regular r:id="rId18"/>
      <p:bold r:id="rId19"/>
      <p:italic r:id="rId20"/>
      <p:boldItalic r:id="rId21"/>
    </p:embeddedFont>
    <p:embeddedFont>
      <p:font typeface="FiraGO Light" panose="020B0403050000020004" pitchFamily="34" charset="0"/>
      <p:regular r:id="rId22"/>
      <p:italic r:id="rId23"/>
    </p:embeddedFont>
    <p:embeddedFont>
      <p:font typeface="Sylfaen" panose="010A0502050306030303" pitchFamily="18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SzJV6VoQ7okuGXFlJ4wzkIxV5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am" initials="M" lastIdx="1" clrIdx="0">
    <p:extLst>
      <p:ext uri="{19B8F6BF-5375-455C-9EA6-DF929625EA0E}">
        <p15:presenceInfo xmlns:p15="http://schemas.microsoft.com/office/powerpoint/2012/main" userId="90021b05e28978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2A7B"/>
    <a:srgbClr val="6DC034"/>
    <a:srgbClr val="F4DA33"/>
    <a:srgbClr val="1F51FF"/>
    <a:srgbClr val="8F3FB3"/>
    <a:srgbClr val="0C0C0C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035" autoAdjust="0"/>
  </p:normalViewPr>
  <p:slideViewPr>
    <p:cSldViewPr snapToGrid="0">
      <p:cViewPr>
        <p:scale>
          <a:sx n="60" d="100"/>
          <a:sy n="60" d="100"/>
        </p:scale>
        <p:origin x="850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1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endParaRPr dirty="0"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1428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685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403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653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1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4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1" y="213130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>
                <a:solidFill>
                  <a:srgbClr val="D52A7B"/>
                </a:solidFill>
                <a:latin typeface="FiraGO"/>
                <a:ea typeface="FiraGO"/>
                <a:cs typeface="FiraGO"/>
              </a:rPr>
              <a:t>/*</a:t>
            </a:r>
            <a:r>
              <a:rPr lang="en-US" sz="4400" b="1" cap="all">
                <a:solidFill>
                  <a:srgbClr val="F4DA33"/>
                </a:solidFill>
                <a:latin typeface="FiraGO"/>
                <a:ea typeface="FiraGO"/>
                <a:cs typeface="FiraGO"/>
              </a:rPr>
              <a:t>   </a:t>
            </a:r>
            <a:r>
              <a:rPr lang="ka-GE" sz="4400" b="1" cap="all">
                <a:solidFill>
                  <a:srgbClr val="1F51FF"/>
                </a:solidFill>
                <a:latin typeface="FiraGO"/>
                <a:ea typeface="FiraGO"/>
                <a:cs typeface="FiraGO"/>
              </a:rPr>
              <a:t>რესპონსიული დიზაინი</a:t>
            </a:r>
            <a:r>
              <a:rPr lang="en-US" sz="4400" b="1" cap="all">
                <a:solidFill>
                  <a:srgbClr val="1F51FF"/>
                </a:solidFill>
                <a:latin typeface="FiraGO"/>
                <a:ea typeface="FiraGO"/>
                <a:cs typeface="FiraGO"/>
              </a:rPr>
              <a:t> </a:t>
            </a:r>
            <a:r>
              <a:rPr lang="en-US" sz="4400" b="1" cap="all">
                <a:solidFill>
                  <a:srgbClr val="D52A7B"/>
                </a:solidFill>
                <a:latin typeface="FiraGO"/>
                <a:ea typeface="FiraGO"/>
                <a:cs typeface="FiraGO"/>
              </a:rPr>
              <a:t>*/</a:t>
            </a:r>
            <a:endParaRPr lang="ka-GE" b="1" cap="all" dirty="0">
              <a:solidFill>
                <a:srgbClr val="D52A7B"/>
              </a:solidFill>
              <a:latin typeface="FiraGO"/>
              <a:ea typeface="FiraGO"/>
              <a:cs typeface="FiraG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436862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a-GE" sz="2200">
                <a:solidFill>
                  <a:srgbClr val="8F3FB3"/>
                </a:solidFill>
              </a:rPr>
              <a:t>რესპონსიული დიზაინი საშუალებას გვაძლევს, შევქმნათ საიტი, რომელიც მოერგება სხვადასხვა ეკრანის ზომებს, იქნება ეს მობილური, ტაბლეტი თუ დესკტოპი. რესპონსიული დიზაინის შექმნა ხდება რამდენიმე ძირითადი პრინციპის დაცვით.</a:t>
            </a:r>
            <a:endParaRPr lang="en-US" sz="2200" dirty="0">
              <a:solidFill>
                <a:srgbClr val="8F3FB3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03259F-79FD-430E-8C02-08F0F0C38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58"/>
                    </a14:imgEffect>
                    <a14:imgEffect>
                      <a14:saturation sat="400000"/>
                    </a14:imgEffect>
                    <a14:imgEffect>
                      <a14:brightnessContrast bright="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03493"/>
            <a:ext cx="12191999" cy="3467100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128131" y="251122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cap="all">
                <a:solidFill>
                  <a:srgbClr val="D52A7B"/>
                </a:solidFill>
                <a:latin typeface="FiraGO"/>
                <a:ea typeface="FiraGO"/>
                <a:cs typeface="FiraGO"/>
              </a:rPr>
              <a:t>/*</a:t>
            </a:r>
            <a:r>
              <a:rPr lang="en-US" sz="4400" b="1" cap="all">
                <a:solidFill>
                  <a:srgbClr val="F4DA33"/>
                </a:solidFill>
                <a:latin typeface="FiraGO"/>
                <a:ea typeface="FiraGO"/>
                <a:cs typeface="FiraGO"/>
              </a:rPr>
              <a:t>   </a:t>
            </a:r>
            <a:r>
              <a:rPr lang="en-US" sz="4400" b="1" cap="all">
                <a:solidFill>
                  <a:srgbClr val="1F51FF"/>
                </a:solidFill>
                <a:latin typeface="FiraGO"/>
                <a:ea typeface="FiraGO"/>
                <a:cs typeface="FiraGO"/>
              </a:rPr>
              <a:t>Viewport Meta Tag </a:t>
            </a:r>
            <a:r>
              <a:rPr lang="en-US" sz="4400" b="1" cap="all">
                <a:solidFill>
                  <a:srgbClr val="D52A7B"/>
                </a:solidFill>
                <a:latin typeface="FiraGO"/>
                <a:ea typeface="FiraGO"/>
                <a:cs typeface="FiraGO"/>
              </a:rPr>
              <a:t>*/</a:t>
            </a:r>
            <a:endParaRPr lang="ka-GE" b="1" cap="all" dirty="0">
              <a:solidFill>
                <a:srgbClr val="D52A7B"/>
              </a:solidFill>
              <a:latin typeface="FiraGO"/>
              <a:ea typeface="FiraGO"/>
              <a:cs typeface="FiraG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37320" y="5422764"/>
            <a:ext cx="2254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n-US" sz="18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326BF3-4DE7-4194-8BD0-434DF1D0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0101"/>
            <a:ext cx="10515600" cy="1993765"/>
          </a:xfrm>
        </p:spPr>
        <p:txBody>
          <a:bodyPr>
            <a:normAutofit/>
          </a:bodyPr>
          <a:lstStyle/>
          <a:p>
            <a:pPr algn="ctr"/>
            <a:r>
              <a:rPr lang="en-GB" sz="2400">
                <a:solidFill>
                  <a:srgbClr val="1F51FF"/>
                </a:solidFill>
                <a:latin typeface="+mj-lt"/>
              </a:rPr>
              <a:t>&lt;meta name="viewport" content="width=device-width, initial-scale=1.0"&gt;</a:t>
            </a:r>
            <a:endParaRPr lang="en-US" sz="2400">
              <a:solidFill>
                <a:srgbClr val="1F51FF"/>
              </a:solidFill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773EC-528F-464E-9919-98B75E7E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4741"/>
            <a:ext cx="10515600" cy="2747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ka-GE">
                <a:solidFill>
                  <a:srgbClr val="6DC034"/>
                </a:solidFill>
                <a:latin typeface="+mj-lt"/>
              </a:rPr>
              <a:t>პირველ რიგში, აუცილებელია გავწეროთ </a:t>
            </a:r>
            <a:r>
              <a:rPr lang="en-US">
                <a:solidFill>
                  <a:srgbClr val="6DC034"/>
                </a:solidFill>
                <a:latin typeface="+mj-lt"/>
              </a:rPr>
              <a:t> viewport meta tag</a:t>
            </a:r>
            <a:r>
              <a:rPr lang="ka-GE">
                <a:solidFill>
                  <a:srgbClr val="6DC034"/>
                </a:solidFill>
                <a:latin typeface="+mj-lt"/>
              </a:rPr>
              <a:t> </a:t>
            </a:r>
            <a:r>
              <a:rPr lang="en-US">
                <a:solidFill>
                  <a:srgbClr val="6DC034"/>
                </a:solidFill>
                <a:latin typeface="+mj-lt"/>
              </a:rPr>
              <a:t>html-</a:t>
            </a:r>
            <a:r>
              <a:rPr lang="ka-GE">
                <a:solidFill>
                  <a:srgbClr val="6DC034"/>
                </a:solidFill>
                <a:latin typeface="+mj-lt"/>
              </a:rPr>
              <a:t>ში, რათა მოწყობილობამ სწორად მიიღოს ზომები. ეს კოდი პასუხისმგებელია, რომ მოწყობილობის და საიტის ზომა  იყოს ერთმანეთის შესაბამისი.</a:t>
            </a:r>
            <a:endParaRPr lang="en-US">
              <a:solidFill>
                <a:srgbClr val="6DC03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65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576798" y="659801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4000" b="1" cap="all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მედია</a:t>
            </a:r>
            <a:r>
              <a:rPr lang="en-US" sz="4000" b="1" cap="all">
                <a:solidFill>
                  <a:srgbClr val="D52A7B"/>
                </a:solidFill>
                <a:latin typeface="Arial" panose="020B06040202020202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 query</a:t>
            </a:r>
            <a:r>
              <a:rPr lang="ka-GE" sz="32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r>
              <a:rPr lang="en-US" sz="32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lang="ka-GE" sz="4000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87359" y="1800601"/>
            <a:ext cx="577904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    </a:t>
            </a: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EC34F-6A19-4C3C-B67B-825C74F1F8FB}"/>
              </a:ext>
            </a:extLst>
          </p:cNvPr>
          <p:cNvSpPr txBox="1"/>
          <p:nvPr/>
        </p:nvSpPr>
        <p:spPr>
          <a:xfrm>
            <a:off x="1029465" y="2200670"/>
            <a:ext cx="108156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DC034"/>
                </a:solidFill>
              </a:rPr>
              <a:t>Media Query CSS-</a:t>
            </a:r>
            <a:r>
              <a:rPr lang="ka-GE" sz="2800">
                <a:solidFill>
                  <a:srgbClr val="6DC034"/>
                </a:solidFill>
              </a:rPr>
              <a:t>ში გამოიყენება იმისათვის, რომ გვერდი და მისი სტილები ავტომატურად მოერგოს სხვადასხვა მოწყობილობის ეკრანის ზომებს, რეზოლუციებს, ორიენტაციას, და ზოგად მახასიათებლებს. </a:t>
            </a:r>
          </a:p>
          <a:p>
            <a:endParaRPr lang="ka-GE" sz="2800">
              <a:solidFill>
                <a:srgbClr val="6DC034"/>
              </a:solidFill>
            </a:endParaRPr>
          </a:p>
          <a:p>
            <a:r>
              <a:rPr lang="en-US" sz="2800">
                <a:solidFill>
                  <a:srgbClr val="6DC034"/>
                </a:solidFill>
              </a:rPr>
              <a:t>Media Query </a:t>
            </a:r>
            <a:r>
              <a:rPr lang="ka-GE" sz="2800">
                <a:solidFill>
                  <a:srgbClr val="6DC034"/>
                </a:solidFill>
              </a:rPr>
              <a:t>საშუალებას გვაძლევს, სტილები კონკრეტულ მოწყობილობებზე დავაყენოთ და შევქმნათ რესპონსიული ვებ დიზაინი, რომელიც სხვადასხვა ტიპის ეკრანებზე (მობილური, ტაბლეტი, დესკტოპი) კარგად გამოიყურება.</a:t>
            </a:r>
            <a:endParaRPr lang="en-US" sz="2800">
              <a:solidFill>
                <a:srgbClr val="6DC03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128338" y="523945"/>
            <a:ext cx="1216943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44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44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5400" b="1" cap="all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მედია </a:t>
            </a:r>
            <a:r>
              <a:rPr lang="en-US" sz="5400" b="1" cap="all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query</a:t>
            </a:r>
            <a:r>
              <a:rPr lang="ka-GE" sz="44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r>
              <a:rPr lang="en-US" sz="44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lang="ka-GE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497907" y="1600111"/>
            <a:ext cx="10930048" cy="4733943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891231" y="1982149"/>
            <a:ext cx="10338744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200" b="1">
                <a:solidFill>
                  <a:srgbClr val="F4DA3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min-width:</a:t>
            </a:r>
            <a:r>
              <a:rPr lang="ka-GE" sz="2200" b="1">
                <a:solidFill>
                  <a:srgbClr val="F4DA3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როცა ეკრანის სიგანე კონკრეტულ მნიშვნელობაზე მეტია</a:t>
            </a:r>
            <a:r>
              <a:rPr lang="en-US" sz="2200" b="1">
                <a:solidFill>
                  <a:srgbClr val="F4DA3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endParaRPr sz="22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891229" y="2923259"/>
            <a:ext cx="1033874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200" b="1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max-width</a:t>
            </a:r>
            <a:r>
              <a:rPr lang="ka-GE" sz="2200" b="1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: როცა ეკრანის სიგანე კონკრეტულ მნიშვნელობაზე ნაკლებია</a:t>
            </a:r>
            <a:endParaRPr lang="ka-GE" sz="22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9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891229" y="4153448"/>
            <a:ext cx="1053672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200" b="1">
                <a:solidFill>
                  <a:srgbClr val="8F3FB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min-height: </a:t>
            </a:r>
            <a:r>
              <a:rPr lang="ka-GE" sz="2200" b="1">
                <a:solidFill>
                  <a:srgbClr val="8F3FB3"/>
                </a:solidFill>
                <a:latin typeface="FiraGO" panose="020B0604020202020204" charset="0"/>
                <a:ea typeface="FiraGO" panose="020B0604020202020204" charset="0"/>
                <a:cs typeface="Arial" panose="020B0604020202020204" pitchFamily="34" charset="0"/>
              </a:rPr>
              <a:t>როცა ეკრანის სიმაღლე კონკრეტულ მნიშვნელობაზე მეტია</a:t>
            </a:r>
            <a:endParaRPr lang="ka-GE" sz="2200" dirty="0">
              <a:solidFill>
                <a:srgbClr val="8F3FB3"/>
              </a:solidFill>
              <a:latin typeface="FiraGO Light" panose="020B0604020202020204" charset="0"/>
              <a:ea typeface="FiraGO Light" panose="020B0604020202020204" charset="0"/>
              <a:cs typeface="Arial" panose="020B0604020202020204" pitchFamily="34" charset="0"/>
            </a:endParaRPr>
          </a:p>
        </p:txBody>
      </p:sp>
      <p:sp>
        <p:nvSpPr>
          <p:cNvPr id="16" name="Google Shape;183;p3">
            <a:extLst>
              <a:ext uri="{FF2B5EF4-FFF2-40B4-BE49-F238E27FC236}">
                <a16:creationId xmlns:a16="http://schemas.microsoft.com/office/drawing/2014/main" id="{1C0B63DB-2867-478D-B748-C4E06CE440AB}"/>
              </a:ext>
            </a:extLst>
          </p:cNvPr>
          <p:cNvSpPr txBox="1"/>
          <p:nvPr/>
        </p:nvSpPr>
        <p:spPr>
          <a:xfrm>
            <a:off x="891229" y="5074474"/>
            <a:ext cx="1033874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200" b="1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max-height:</a:t>
            </a:r>
            <a:r>
              <a:rPr lang="ka-GE" sz="2200" b="1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როცა ეკრანის სიმაღლე კონკრეტულ მნიშვნელობაზე ნაკლებია</a:t>
            </a:r>
            <a:endParaRPr lang="ka-GE" sz="22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77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128338" y="523945"/>
            <a:ext cx="1216943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44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44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5400" b="1" cap="all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წერის სტრუქტურა</a:t>
            </a:r>
            <a:r>
              <a:rPr lang="ka-GE" sz="44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r>
              <a:rPr lang="en-US" sz="44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lang="ka-GE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30976" y="1488578"/>
            <a:ext cx="10930048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6680123" y="1798762"/>
            <a:ext cx="2152948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en-US" sz="220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lang="ka-GE" sz="2200"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040CF-A72E-451D-A3EE-BD6853891EE5}"/>
              </a:ext>
            </a:extLst>
          </p:cNvPr>
          <p:cNvSpPr txBox="1"/>
          <p:nvPr/>
        </p:nvSpPr>
        <p:spPr>
          <a:xfrm>
            <a:off x="1071563" y="2020402"/>
            <a:ext cx="411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FFFF00"/>
                </a:solidFill>
              </a:rPr>
              <a:t>@media (min-width: 1025px) {</a:t>
            </a:r>
            <a:r>
              <a:rPr lang="ka-GE" sz="2200">
                <a:solidFill>
                  <a:srgbClr val="FFFF00"/>
                </a:solidFill>
              </a:rPr>
              <a:t>}</a:t>
            </a:r>
            <a:endParaRPr lang="en-US" sz="220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2C77C-139F-49D2-B9BA-3E3D77FE1BB2}"/>
              </a:ext>
            </a:extLst>
          </p:cNvPr>
          <p:cNvSpPr txBox="1"/>
          <p:nvPr/>
        </p:nvSpPr>
        <p:spPr>
          <a:xfrm>
            <a:off x="1071562" y="3185567"/>
            <a:ext cx="4440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6DC034"/>
                </a:solidFill>
              </a:rPr>
              <a:t>@media (min-width: 1025px) {</a:t>
            </a:r>
            <a:r>
              <a:rPr lang="ka-GE" sz="2200">
                <a:solidFill>
                  <a:srgbClr val="6DC034"/>
                </a:solidFill>
              </a:rPr>
              <a:t>}</a:t>
            </a:r>
            <a:endParaRPr lang="en-US" sz="2200">
              <a:solidFill>
                <a:srgbClr val="6DC03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1ACEE-E8DF-41DF-A3E5-C08FE8BCC517}"/>
              </a:ext>
            </a:extLst>
          </p:cNvPr>
          <p:cNvSpPr txBox="1"/>
          <p:nvPr/>
        </p:nvSpPr>
        <p:spPr>
          <a:xfrm>
            <a:off x="1071562" y="4338854"/>
            <a:ext cx="4440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FFC000"/>
                </a:solidFill>
              </a:rPr>
              <a:t>@media (</a:t>
            </a:r>
            <a:r>
              <a:rPr lang="en-GB" sz="2200">
                <a:solidFill>
                  <a:srgbClr val="FFC000"/>
                </a:solidFill>
              </a:rPr>
              <a:t>min-width: 601px) and (max-width: 1024px)</a:t>
            </a:r>
            <a:r>
              <a:rPr lang="en-US" sz="2200">
                <a:solidFill>
                  <a:srgbClr val="FFC000"/>
                </a:solidFill>
              </a:rPr>
              <a:t>) {</a:t>
            </a:r>
            <a:r>
              <a:rPr lang="ka-GE" sz="2200">
                <a:solidFill>
                  <a:srgbClr val="FFC000"/>
                </a:solidFill>
              </a:rPr>
              <a:t>}</a:t>
            </a:r>
            <a:endParaRPr lang="en-US" sz="220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999E0-7404-4476-BA00-5EC5F3F491B7}"/>
              </a:ext>
            </a:extLst>
          </p:cNvPr>
          <p:cNvSpPr txBox="1"/>
          <p:nvPr/>
        </p:nvSpPr>
        <p:spPr>
          <a:xfrm>
            <a:off x="6599162" y="1990002"/>
            <a:ext cx="44403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8F3FB3"/>
                </a:solidFill>
              </a:rPr>
              <a:t>@media (min-height: 1025px) {</a:t>
            </a:r>
            <a:r>
              <a:rPr lang="ka-GE" sz="2200">
                <a:solidFill>
                  <a:srgbClr val="8F3FB3"/>
                </a:solidFill>
              </a:rPr>
              <a:t>}</a:t>
            </a:r>
            <a:endParaRPr lang="en-US" sz="2200">
              <a:solidFill>
                <a:srgbClr val="8F3FB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66177-B062-4BF3-861C-BB393B25370E}"/>
              </a:ext>
            </a:extLst>
          </p:cNvPr>
          <p:cNvSpPr txBox="1"/>
          <p:nvPr/>
        </p:nvSpPr>
        <p:spPr>
          <a:xfrm>
            <a:off x="6599161" y="3198872"/>
            <a:ext cx="4286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00B0F0"/>
                </a:solidFill>
              </a:rPr>
              <a:t>@media (min-height: 1025px) {</a:t>
            </a:r>
            <a:r>
              <a:rPr lang="ka-GE" sz="2200">
                <a:solidFill>
                  <a:srgbClr val="00B0F0"/>
                </a:solidFill>
              </a:rPr>
              <a:t>}</a:t>
            </a:r>
            <a:endParaRPr lang="en-US" sz="220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318FC-6B36-4A65-9E57-DFB0EB9B74FE}"/>
              </a:ext>
            </a:extLst>
          </p:cNvPr>
          <p:cNvSpPr txBox="1"/>
          <p:nvPr/>
        </p:nvSpPr>
        <p:spPr>
          <a:xfrm>
            <a:off x="6599161" y="4360879"/>
            <a:ext cx="4286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FFC000"/>
                </a:solidFill>
              </a:rPr>
              <a:t>@media </a:t>
            </a:r>
            <a:r>
              <a:rPr lang="en-GB" sz="2200">
                <a:solidFill>
                  <a:srgbClr val="FFC000"/>
                </a:solidFill>
              </a:rPr>
              <a:t>(min-height: 600px) and (max-height: 900px) </a:t>
            </a:r>
            <a:r>
              <a:rPr lang="en-US" sz="2200">
                <a:solidFill>
                  <a:srgbClr val="FFC000"/>
                </a:solidFill>
              </a:rPr>
              <a:t>{</a:t>
            </a:r>
            <a:r>
              <a:rPr lang="ka-GE" sz="2200">
                <a:solidFill>
                  <a:srgbClr val="FFC000"/>
                </a:solidFill>
              </a:rPr>
              <a:t>}</a:t>
            </a:r>
            <a:endParaRPr lang="en-US" sz="2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44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576798" y="659801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3200" b="1" cap="all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en-US" sz="4000" b="1" cap="all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Arial" panose="020B0604020202020204" pitchFamily="34" charset="0"/>
                <a:sym typeface="Noto Sans"/>
              </a:rPr>
              <a:t>overflow</a:t>
            </a:r>
            <a:r>
              <a:rPr lang="ka-GE" sz="32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r>
              <a:rPr lang="en-US" sz="3200" b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lang="ka-GE" sz="4000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87359" y="1800601"/>
            <a:ext cx="577904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    </a:t>
            </a: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sp>
        <p:nvSpPr>
          <p:cNvPr id="5" name="Google Shape;181;p3">
            <a:extLst>
              <a:ext uri="{FF2B5EF4-FFF2-40B4-BE49-F238E27FC236}">
                <a16:creationId xmlns:a16="http://schemas.microsoft.com/office/drawing/2014/main" id="{C3368D38-B9AD-4756-AE5D-2D67B7EC4A0E}"/>
              </a:ext>
            </a:extLst>
          </p:cNvPr>
          <p:cNvSpPr/>
          <p:nvPr/>
        </p:nvSpPr>
        <p:spPr>
          <a:xfrm>
            <a:off x="497906" y="1445613"/>
            <a:ext cx="11117295" cy="488844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3419E-1525-4DA2-B0D6-903B955D4305}"/>
              </a:ext>
            </a:extLst>
          </p:cNvPr>
          <p:cNvSpPr txBox="1"/>
          <p:nvPr/>
        </p:nvSpPr>
        <p:spPr>
          <a:xfrm>
            <a:off x="576798" y="2981892"/>
            <a:ext cx="1096496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8F3FB3"/>
                </a:solidFill>
              </a:rPr>
              <a:t>visible: </a:t>
            </a:r>
            <a:r>
              <a:rPr lang="ka-GE" sz="2200">
                <a:solidFill>
                  <a:srgbClr val="8F3FB3"/>
                </a:solidFill>
              </a:rPr>
              <a:t>კონტენტი ელემენტის ფარგლებს გარეთ მაინც გამოჩნდება, თუკი ის მას აჭარბებს.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1F51FF"/>
                </a:solidFill>
              </a:rPr>
              <a:t>hidden</a:t>
            </a:r>
            <a:r>
              <a:rPr lang="ka-GE" sz="2200">
                <a:solidFill>
                  <a:srgbClr val="1F51FF"/>
                </a:solidFill>
              </a:rPr>
              <a:t>: შინაარსი ელემენტის ფარგლებს გარეთ დაიმალება, თუკი ის მას აჭარბებს.</a:t>
            </a:r>
            <a:endParaRPr lang="en-US" sz="2200">
              <a:solidFill>
                <a:srgbClr val="1F51FF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F4DA33"/>
                </a:solidFill>
              </a:rPr>
              <a:t>scroll</a:t>
            </a:r>
            <a:r>
              <a:rPr lang="ka-GE" sz="2200">
                <a:solidFill>
                  <a:srgbClr val="F4DA33"/>
                </a:solidFill>
              </a:rPr>
              <a:t>: აჩენს ვერტიკალურ და ჰორიზონტალურ სქროლს.</a:t>
            </a:r>
            <a:endParaRPr lang="en-US" sz="2200">
              <a:solidFill>
                <a:srgbClr val="F4DA33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200"/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6DC034"/>
                </a:solidFill>
              </a:rPr>
              <a:t>auto</a:t>
            </a:r>
            <a:r>
              <a:rPr lang="ka-GE" sz="2200">
                <a:solidFill>
                  <a:srgbClr val="6DC034"/>
                </a:solidFill>
              </a:rPr>
              <a:t>: თუ საჭიროა მარტო მაშინ აჩენს სქორლს.</a:t>
            </a:r>
            <a:endParaRPr lang="en-US" sz="2200">
              <a:solidFill>
                <a:srgbClr val="6DC03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D46F6-72CC-4460-B95A-B203141C8A07}"/>
              </a:ext>
            </a:extLst>
          </p:cNvPr>
          <p:cNvSpPr txBox="1"/>
          <p:nvPr/>
        </p:nvSpPr>
        <p:spPr>
          <a:xfrm>
            <a:off x="688183" y="1799470"/>
            <a:ext cx="1055643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2200">
                <a:solidFill>
                  <a:srgbClr val="6DC034"/>
                </a:solidFill>
              </a:rPr>
              <a:t>განსაზღვრავს, თუ რა უნდა მოხდეს, როდესაც კონტენტი ელემენტის მოცემულ ზომას აჭარბებს. </a:t>
            </a:r>
            <a:endParaRPr lang="en-US" sz="2200">
              <a:solidFill>
                <a:srgbClr val="6DC034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C135-CD56-4F8B-921B-D95EF0B22F3D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6641dcd3-7dc6-4696-bf59-c6211389010d"/>
    <ds:schemaRef ds:uri="http://schemas.microsoft.com/office/infopath/2007/PartnerControls"/>
    <ds:schemaRef ds:uri="http://www.w3.org/XML/1998/namespace"/>
    <ds:schemaRef ds:uri="61bf6615-2d26-442b-9d24-621696d9153b"/>
  </ds:schemaRefs>
</ds:datastoreItem>
</file>

<file path=customXml/itemProps2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4185A2-F4E4-42B5-BC2D-28E324383AA1}"/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339</Words>
  <Application>Microsoft Office PowerPoint</Application>
  <PresentationFormat>Widescreen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Sylfaen</vt:lpstr>
      <vt:lpstr>FiraGO</vt:lpstr>
      <vt:lpstr>FiraGO Light</vt:lpstr>
      <vt:lpstr>Arial</vt:lpstr>
      <vt:lpstr>Office Theme</vt:lpstr>
      <vt:lpstr>Custom Design</vt:lpstr>
      <vt:lpstr>PowerPoint Presentation</vt:lpstr>
      <vt:lpstr>PowerPoint Presentation</vt:lpstr>
      <vt:lpstr>&lt;meta name="viewport" content="width=device-width, initial-scale=1.0"&gt;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Mariam</cp:lastModifiedBy>
  <cp:revision>55</cp:revision>
  <dcterms:created xsi:type="dcterms:W3CDTF">2024-10-25T12:59:50Z</dcterms:created>
  <dcterms:modified xsi:type="dcterms:W3CDTF">2024-11-09T20:21:24Z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</Properties>
</file>