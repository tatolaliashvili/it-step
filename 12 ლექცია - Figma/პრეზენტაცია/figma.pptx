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3" r:id="rId12"/>
    <p:sldId id="262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FiraGO" panose="020B0604020202020204" charset="0"/>
      <p:regular r:id="rId19"/>
      <p:bold r:id="rId20"/>
      <p:italic r:id="rId21"/>
      <p:boldItalic r:id="rId22"/>
    </p:embeddedFont>
    <p:embeddedFont>
      <p:font typeface="FiraGO Light" panose="020B060402020202020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1FF"/>
    <a:srgbClr val="6DC034"/>
    <a:srgbClr val="0C0C0C"/>
    <a:srgbClr val="F4DA33"/>
    <a:srgbClr val="D52A7B"/>
    <a:srgbClr val="8F3FB3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2" autoAdjust="0"/>
  </p:normalViewPr>
  <p:slideViewPr>
    <p:cSldViewPr snapToGrid="0">
      <p:cViewPr varScale="1">
        <p:scale>
          <a:sx n="48" d="100"/>
          <a:sy n="48" d="100"/>
        </p:scale>
        <p:origin x="67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0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0777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odecamp.org/news/figma-tutorial/" TargetMode="External"/><Relationship Id="rId5" Type="http://schemas.openxmlformats.org/officeDocument/2006/relationships/hyperlink" Target="https://help.figma.com/hc/en-us/categories/360001002013" TargetMode="External"/><Relationship Id="rId4" Type="http://schemas.openxmlformats.org/officeDocument/2006/relationships/hyperlink" Target="https://www.figma.com/community/tag/web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dirty="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23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8" r="21438"/>
          <a:stretch>
            <a:fillRect/>
          </a:stretch>
        </p:blipFill>
        <p:spPr>
          <a:xfrm>
            <a:off x="6362700" y="1617663"/>
            <a:ext cx="5245100" cy="4591050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"/>
          <p:cNvSpPr txBox="1"/>
          <p:nvPr/>
        </p:nvSpPr>
        <p:spPr>
          <a:xfrm>
            <a:off x="501814" y="571442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all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4400" b="1" cap="all" dirty="0" smtClean="0">
                <a:solidFill>
                  <a:srgbClr val="FFFF00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ფიგმას</a:t>
            </a:r>
            <a:r>
              <a:rPr lang="ka-GE" sz="4400" b="1" cap="all" dirty="0" smtClean="0">
                <a:solidFill>
                  <a:srgbClr val="1F51FF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ზოგადი მიმოხილვა</a:t>
            </a: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8" y="1617044"/>
            <a:ext cx="5441482" cy="224058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654518" y="4038600"/>
            <a:ext cx="5441482" cy="2169695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942975" y="1826340"/>
            <a:ext cx="4895725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b="1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არის ვებდიზაინის პოპულარული ინსტრუმენტი, რომელიც დიზაინერებსა და დეველოპერებს საშუალებას აძლევს შექმნან და გააზიარონ ციფრული პროდუქტის დიზაინი ონლაინ, გუნდურად. მისი მთავარი უპირატესობები არის:</a:t>
            </a:r>
            <a:endParaRPr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911817" y="4384783"/>
            <a:ext cx="492688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მარტივი ინტერფეისი და გამოსაყენებელი </a:t>
            </a:r>
            <a:r>
              <a:rPr lang="ka-GE" sz="18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ინსტრუმენტები</a:t>
            </a:r>
            <a:endParaRPr lang="en-US" sz="18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შესაძლებლობა, რეალურ დროში იმუშაო </a:t>
            </a:r>
            <a:r>
              <a:rPr lang="ka-GE" sz="18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გუნდთან ერთად</a:t>
            </a:r>
            <a:endParaRPr lang="en-US" sz="18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a-GE" sz="18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ვებდიზაინისა 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 პროტოტიპების სწრაფი შექმნა.</a:t>
            </a:r>
            <a:endParaRPr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00777" y="1617044"/>
            <a:ext cx="5336705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465222" y="523945"/>
            <a:ext cx="11832548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6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// </a:t>
            </a:r>
            <a:r>
              <a:rPr lang="ka-GE" sz="36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დიზაინის ელემენტების განსაზღვრა </a:t>
            </a:r>
            <a:r>
              <a:rPr lang="en-US" sz="3600" dirty="0" err="1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3600" dirty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lang="ka-GE" sz="36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ში</a:t>
            </a:r>
            <a:endParaRPr lang="ka-GE" sz="3600" b="1" cap="all" dirty="0">
              <a:solidFill>
                <a:srgbClr val="1F51FF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54518" y="1617044"/>
            <a:ext cx="5336707" cy="456468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" t="51955" r="839" b="2324"/>
          <a:stretch/>
        </p:blipFill>
        <p:spPr>
          <a:xfrm>
            <a:off x="6200777" y="1597266"/>
            <a:ext cx="5213181" cy="4604236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83" name="Google Shape;183;p3"/>
          <p:cNvSpPr txBox="1"/>
          <p:nvPr/>
        </p:nvSpPr>
        <p:spPr>
          <a:xfrm>
            <a:off x="973667" y="2108308"/>
            <a:ext cx="466513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ფერის და ფონის განსაზღვრა: ფერების არჩევა და მათი კოდების აღება (მაგ., </a:t>
            </a:r>
            <a:r>
              <a:rPr lang="en-US" sz="1800" dirty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HEX, RGB</a:t>
            </a:r>
            <a:r>
              <a:rPr lang="en-US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).</a:t>
            </a:r>
            <a:endParaRPr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sp>
        <p:nvSpPr>
          <p:cNvPr id="2" name="Google Shape;183;p3">
            <a:extLst>
              <a:ext uri="{FF2B5EF4-FFF2-40B4-BE49-F238E27FC236}">
                <a16:creationId xmlns:a16="http://schemas.microsoft.com/office/drawing/2014/main" id="{B71A62C4-3780-5E10-D18A-6F7F2CEB3787}"/>
              </a:ext>
            </a:extLst>
          </p:cNvPr>
          <p:cNvSpPr txBox="1"/>
          <p:nvPr/>
        </p:nvSpPr>
        <p:spPr>
          <a:xfrm>
            <a:off x="973666" y="2965335"/>
            <a:ext cx="466513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ტექსტის სტილის დადგენა: ფონტის ზომები, ტიპი (</a:t>
            </a:r>
            <a:r>
              <a:rPr lang="en-US" sz="1800" dirty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font-family</a:t>
            </a:r>
            <a:r>
              <a:rPr lang="en-US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), 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ფერები და ხაზის სიმაღლე.</a:t>
            </a:r>
            <a:r>
              <a:rPr lang="en-US" sz="18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.</a:t>
            </a:r>
            <a:endParaRPr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sp>
        <p:nvSpPr>
          <p:cNvPr id="3" name="Google Shape;183;p3">
            <a:extLst>
              <a:ext uri="{FF2B5EF4-FFF2-40B4-BE49-F238E27FC236}">
                <a16:creationId xmlns:a16="http://schemas.microsoft.com/office/drawing/2014/main" id="{8621B263-5466-BC1C-16FB-0D973DE301A1}"/>
              </a:ext>
            </a:extLst>
          </p:cNvPr>
          <p:cNvSpPr txBox="1"/>
          <p:nvPr/>
        </p:nvSpPr>
        <p:spPr>
          <a:xfrm>
            <a:off x="973665" y="3822362"/>
            <a:ext cx="466513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სხვა ვიზუალური დეტალები: შეხამებული სტილები, რომელიც განსაზღვრავს მთლიან დიზაინს.</a:t>
            </a:r>
            <a:endParaRPr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6309718" y="1572126"/>
            <a:ext cx="5882281" cy="5285874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8" name="Google Shape;188;p4"/>
          <p:cNvSpPr txBox="1"/>
          <p:nvPr/>
        </p:nvSpPr>
        <p:spPr>
          <a:xfrm>
            <a:off x="471031" y="268775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cap="all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// </a:t>
            </a:r>
            <a:r>
              <a:rPr lang="ka-GE" sz="40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დაშორებები და </a:t>
            </a:r>
            <a:r>
              <a:rPr lang="en-US" sz="40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Layout-</a:t>
            </a:r>
            <a:r>
              <a:rPr lang="ka-GE" sz="40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 განსაზღვრა</a:t>
            </a:r>
            <a:endParaRPr sz="4000" cap="all" dirty="0">
              <a:solidFill>
                <a:srgbClr val="1F51FF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9" b="9499"/>
          <a:stretch>
            <a:fillRect/>
          </a:stretch>
        </p:blipFill>
        <p:spPr>
          <a:xfrm>
            <a:off x="6310313" y="1571625"/>
            <a:ext cx="5881687" cy="5286375"/>
          </a:xfrm>
          <a:prstGeom prst="roundRect">
            <a:avLst>
              <a:gd name="adj" fmla="val 5262"/>
            </a:avLst>
          </a:prstGeom>
          <a:noFill/>
          <a:ln>
            <a:noFill/>
          </a:ln>
        </p:spPr>
      </p:pic>
      <p:sp>
        <p:nvSpPr>
          <p:cNvPr id="190" name="Google Shape;190;p4"/>
          <p:cNvSpPr txBox="1"/>
          <p:nvPr/>
        </p:nvSpPr>
        <p:spPr>
          <a:xfrm>
            <a:off x="576800" y="2002988"/>
            <a:ext cx="5519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1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Margin </a:t>
            </a:r>
            <a:r>
              <a:rPr lang="ka-GE" sz="2000" b="1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 </a:t>
            </a:r>
            <a:r>
              <a:rPr lang="en-US" sz="2000" b="1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Padding </a:t>
            </a:r>
            <a:r>
              <a:rPr lang="ka-GE" sz="20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განსაზღვრავს ელემენტების გარე და შიდა დაშორებებს</a:t>
            </a:r>
            <a:r>
              <a:rPr lang="ka-GE" sz="20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Layout-</a:t>
            </a:r>
            <a:r>
              <a:rPr lang="ka-GE" sz="20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 პრინციპები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გამოიყენება საერთო სტრუქტურის განსასაზღვრად, რათა თითოეული ელემენტი იყოს სიგანის, სიმაღლის და დაშორების სწორ განლაგებაში.</a:t>
            </a:r>
            <a:endParaRPr lang="ka-GE" sz="20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234BCB-6E45-A17D-17ED-8D5456985B67}"/>
              </a:ext>
            </a:extLst>
          </p:cNvPr>
          <p:cNvSpPr/>
          <p:nvPr/>
        </p:nvSpPr>
        <p:spPr>
          <a:xfrm>
            <a:off x="1" y="-190498"/>
            <a:ext cx="12192000" cy="3591424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471031" y="3499366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</a:t>
            </a:r>
            <a:r>
              <a:rPr lang="en-US" sz="4400" b="1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Box Shadow </a:t>
            </a:r>
            <a:r>
              <a:rPr lang="ka-GE" sz="4400" b="1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 </a:t>
            </a:r>
            <a:r>
              <a:rPr lang="en-US" sz="4400" b="1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Opacity-</a:t>
            </a:r>
            <a:r>
              <a:rPr lang="ka-GE" sz="4400" b="1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 თვისებები</a:t>
            </a:r>
            <a:r>
              <a:rPr lang="en-US" sz="44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&gt;</a:t>
            </a:r>
            <a:endParaRPr sz="4400" b="1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471031" y="4367247"/>
            <a:ext cx="10892294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Box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shadow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 </a:t>
            </a: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opacity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არის </a:t>
            </a: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CSS-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 მახასიათებლები, </a:t>
            </a:r>
            <a:r>
              <a:rPr lang="ka-GE" sz="16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რომლებიც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დიზაინის ვიზუალურ ეფექტებს </a:t>
            </a:r>
            <a:r>
              <a:rPr lang="ka-GE" sz="16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აძლიერებენ</a:t>
            </a:r>
            <a:endParaRPr lang="en-US" sz="16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Box shadow: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ელემენტებს შემატებს სიღრმის </a:t>
            </a:r>
            <a:r>
              <a:rPr lang="ka-GE" sz="16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ეფექტს</a:t>
            </a:r>
            <a:endParaRPr lang="en-US" sz="16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Opacity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განსაზღვრავს ელემენტის გამჭვირვალობის ხარისხს, რათა ფონზე სხვა ელემენტებიც გამოჩნდეს.</a:t>
            </a:r>
            <a:endParaRPr sz="16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" t="-1309" r="-410" b="-608"/>
          <a:stretch/>
        </p:blipFill>
        <p:spPr>
          <a:xfrm>
            <a:off x="64168" y="-190500"/>
            <a:ext cx="12129532" cy="3591426"/>
          </a:xfrm>
          <a:prstGeom prst="roundRect">
            <a:avLst>
              <a:gd name="adj" fmla="val 4928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/>
        </p:nvSpPr>
        <p:spPr>
          <a:xfrm>
            <a:off x="471031" y="305794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SVG </a:t>
            </a:r>
            <a:r>
              <a:rPr lang="ka-GE" sz="4400" b="1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 </a:t>
            </a:r>
            <a:r>
              <a:rPr lang="en-US" sz="4400" b="1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PNG </a:t>
            </a:r>
            <a:r>
              <a:rPr lang="ka-GE" sz="4400" b="1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ფაილების ჩამოტვირთვა</a:t>
            </a:r>
            <a:endParaRPr sz="4400" b="1" dirty="0">
              <a:solidFill>
                <a:srgbClr val="1F51FF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76800" y="1171074"/>
            <a:ext cx="1079705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SVG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გამოიყენება მაღალი ხარისხის გამოსახულებების (როგორიცაა ლოგოები) შექმნისთვის, რომელიც მასშტაბირებადია</a:t>
            </a:r>
            <a:r>
              <a:rPr lang="ka-GE" sz="16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.</a:t>
            </a:r>
            <a:endParaRPr lang="en-US" sz="16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PNG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იდეალურია რთული ფერის გამოსახულებების (მაგ., ფოტოსურათები) შესაქმნელად.</a:t>
            </a:r>
            <a:b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</a:br>
            <a:r>
              <a:rPr lang="en-US" sz="1600" b="1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ში მათი ჩამოტვირთვა მარტივია: აირჩიეთ ელემენტი &gt; </a:t>
            </a: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Export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&gt; </a:t>
            </a:r>
            <a:r>
              <a:rPr lang="en-US" sz="16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SVG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ან </a:t>
            </a:r>
            <a:r>
              <a:rPr lang="en-US" sz="1600" b="1" dirty="0" smtClean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PNG</a:t>
            </a:r>
            <a:endParaRPr sz="1600" b="1" dirty="0">
              <a:solidFill>
                <a:srgbClr val="FFFF0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2416E8-0EC6-6174-FEE2-0D4CD7EF6A12}"/>
              </a:ext>
            </a:extLst>
          </p:cNvPr>
          <p:cNvSpPr/>
          <p:nvPr/>
        </p:nvSpPr>
        <p:spPr>
          <a:xfrm>
            <a:off x="702737" y="2836573"/>
            <a:ext cx="10786526" cy="3497481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755" r="-121" b="-367"/>
          <a:stretch/>
        </p:blipFill>
        <p:spPr>
          <a:xfrm>
            <a:off x="703263" y="2836863"/>
            <a:ext cx="10785475" cy="3497262"/>
          </a:xfrm>
          <a:prstGeom prst="roundRect">
            <a:avLst>
              <a:gd name="adj" fmla="val 5918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/>
        </p:nvSpPr>
        <p:spPr>
          <a:xfrm>
            <a:off x="465222" y="523945"/>
            <a:ext cx="11832548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3600" b="1" i="0" u="none" strike="noStrike" kern="0" cap="all" spc="0" normalizeH="0" baseline="0" noProof="0" dirty="0">
                <a:ln>
                  <a:noFill/>
                </a:ln>
                <a:solidFill>
                  <a:srgbClr val="6DC034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// </a:t>
            </a:r>
            <a:r>
              <a:rPr lang="en-US" sz="4400" b="1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44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lang="ka-GE" sz="44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 რესურსები</a:t>
            </a:r>
            <a:endParaRPr kumimoji="0" lang="ka-GE" sz="4400" b="1" i="0" u="none" strike="noStrike" kern="0" cap="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54518" y="1617044"/>
            <a:ext cx="11168514" cy="4751672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973667" y="2108308"/>
            <a:ext cx="10368101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2000" b="1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Community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უამრავი შაბლონი და პროექტი დიზაინის დასახმარებლად. 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hlinkClick r:id="rId4"/>
              </a:rPr>
              <a:t>https://</a:t>
            </a:r>
            <a:r>
              <a:rPr lang="en-US" sz="20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hlinkClick r:id="rId4"/>
              </a:rPr>
              <a:t>www.figma.com/community/tag/web</a:t>
            </a:r>
            <a:endParaRPr lang="ka-GE" sz="20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Tutorials</a:t>
            </a:r>
            <a:r>
              <a:rPr lang="en-US" sz="20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</a:t>
            </a:r>
            <a:r>
              <a:rPr lang="ka-GE" sz="20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Articles</a:t>
            </a:r>
            <a:r>
              <a:rPr lang="en-US" sz="2000" dirty="0" smtClean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</a:t>
            </a:r>
            <a:r>
              <a:rPr lang="ka-GE" sz="2000" dirty="0" smtClean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</a:t>
            </a:r>
          </a:p>
          <a:p>
            <a:pPr marL="285750" lvl="0" indent="-285750"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2000" b="1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lang="ka-GE" sz="20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 ოფიციალური სახელმძღვანელო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</a:t>
            </a:r>
            <a:r>
              <a:rPr lang="en-US" sz="2000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2000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 ძირითადი ფუნქციები და ინსტრუმენტები (გაიარეთ </a:t>
            </a:r>
            <a:r>
              <a:rPr lang="en-US" sz="2000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2000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 შესახებ კურსი).</a:t>
            </a:r>
            <a:b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</a:b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hlinkClick r:id="rId5"/>
              </a:rPr>
              <a:t>https://</a:t>
            </a:r>
            <a:r>
              <a:rPr lang="en-US" sz="20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hlinkClick r:id="rId5"/>
              </a:rPr>
              <a:t>help.figma.com/hc/en-us/categories/360001002013</a:t>
            </a:r>
            <a:endParaRPr lang="ka-GE" sz="20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Designing in</a:t>
            </a:r>
            <a:r>
              <a:rPr lang="en-US" sz="20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–</a:t>
            </a:r>
            <a:r>
              <a:rPr lang="en-US" sz="20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FreeCodeCamp</a:t>
            </a:r>
            <a:r>
              <a:rPr lang="en-US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Tutorial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 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პრაქტიკული სახელმძღვანელო დიზაინის ძირითადი პროცესების შესასწავლად.</a:t>
            </a:r>
            <a:b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</a:b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hlinkClick r:id="rId6"/>
              </a:rPr>
              <a:t>https://</a:t>
            </a:r>
            <a:r>
              <a:rPr lang="en-US" sz="20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hlinkClick r:id="rId6"/>
              </a:rPr>
              <a:t>www.freecodecamp.org/news/figma-tutorial/</a:t>
            </a:r>
            <a:endParaRPr lang="ka-GE" sz="2000" dirty="0" smtClean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2000" b="1" dirty="0" smtClean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Complete</a:t>
            </a:r>
            <a:r>
              <a:rPr lang="en-US" sz="2000" b="1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Guide to</a:t>
            </a:r>
            <a:r>
              <a:rPr lang="en-US" sz="2000" b="1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– UX Design Institute: 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ინტენსიური სტატია </a:t>
            </a:r>
            <a:r>
              <a:rPr lang="en-US" sz="2000" dirty="0" err="1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Figma</a:t>
            </a:r>
            <a:r>
              <a:rPr lang="en-US" sz="2000" dirty="0">
                <a:solidFill>
                  <a:srgbClr val="FFFF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სთვის </a:t>
            </a:r>
            <a:r>
              <a:rPr lang="ka-GE" sz="20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დამწყებთათვის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/>
            </a:r>
            <a:b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</a:br>
            <a:r>
              <a:rPr lang="ka-GE" sz="20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https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://www.uxdesigninstitute.com/blog/a-complete-guide-to-figma/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7667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288042" y="138935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4400" b="1" i="0" dirty="0" smtClean="0">
                <a:solidFill>
                  <a:srgbClr val="F4DA33"/>
                </a:solidFill>
                <a:effectLst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//</a:t>
            </a:r>
            <a:r>
              <a:rPr lang="ka-GE" sz="4400" b="1" i="0" dirty="0" smtClean="0">
                <a:solidFill>
                  <a:srgbClr val="1F51FF"/>
                </a:solidFill>
                <a:effectLst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დავალება</a:t>
            </a:r>
            <a:endParaRPr lang="ka-GE" sz="2800" b="1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203" name="Google Shape;203;p6">
            <a:extLst>
              <a:ext uri="{FF2B5EF4-FFF2-40B4-BE49-F238E27FC236}">
                <a16:creationId xmlns:a16="http://schemas.microsoft.com/office/drawing/2014/main" id="{890DAA0B-21D8-5350-B3E4-01F3510DC42E}"/>
              </a:ext>
            </a:extLst>
          </p:cNvPr>
          <p:cNvSpPr txBox="1"/>
          <p:nvPr/>
        </p:nvSpPr>
        <p:spPr>
          <a:xfrm>
            <a:off x="624926" y="1084308"/>
            <a:ext cx="10786525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1600"/>
            </a:pPr>
            <a:r>
              <a:rPr lang="ka-GE" sz="2800" b="1" dirty="0" smtClean="0">
                <a:solidFill>
                  <a:srgbClr val="FFFF0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აირჩიეთ დიზაინი და შექმენით საიტი </a:t>
            </a:r>
            <a:r>
              <a:rPr lang="en-US" sz="2800" b="1" dirty="0" smtClean="0">
                <a:solidFill>
                  <a:srgbClr val="FFFF00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 </a:t>
            </a:r>
            <a:endParaRPr lang="ka-GE" sz="2800" b="1" dirty="0" smtClean="0">
              <a:solidFill>
                <a:srgbClr val="FFFF00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ka-GE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1.) 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https</a:t>
            </a: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://www.figma.com/file/QfagKTuh0fxOnobAFiYIbf/Bachira-Online-Shop-(Community)?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node-id=169-452&amp;t=MrQANENmBLfbbyZu-0</a:t>
            </a:r>
            <a:endParaRPr lang="en-US"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2) https://www.figma.com/file/lYpu7kcPSHR3CVjpJrSo0s/Website-Event-Ticketing-(Community)?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node-id=0-1&amp;t=MrQANENmBLfbbyZu-0</a:t>
            </a:r>
            <a:endParaRPr lang="en-US"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3) https://www.figma.com/file/lW0gHEBYv2EAWmZuBK1jJu/Free-Travel-Design-Template-(Community)?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node-id=0-1&amp;t=MrQANENmBLfbbyZu-0</a:t>
            </a:r>
            <a:endParaRPr lang="en-US"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4) https://www.figma.com/file/pHsb1fRdCbx67Qbm1pAEbq/Slab-Shop---E-Commerce-(Community)?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node-id=0-1&amp;t=MrQANENmBLfbbyZu-0</a:t>
            </a:r>
            <a:endParaRPr lang="en-US"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5) https://www.figma.com/file/mNCseShKqjWL1IcnFzKwlR/Website-Template-%7C-Skydrone-(Community)?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node-id=304-14049&amp;t=MrQANENmBLfbbyZu-0</a:t>
            </a:r>
            <a:endParaRPr lang="en-US"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6) https://www.figma.com/file/3ghP8rfj2zrfiuN2GlgVE0/2023-Audi-RS-e-tron%C2%AE-GT-Landing-Page-(Community)?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node-id=0-1&amp;t=MrQANENmBLfbbyZu-0</a:t>
            </a:r>
            <a:endParaRPr lang="en-US"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7) https://www.figma.com/file/u7aYStsbMSMOewChzbWkyh/FoodWagon-Food-Delivery-Landing-Template-by-ThemeWagon-(Community)?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node-id=342-144&amp;t=MrQANENmBLfbbyZu-0</a:t>
            </a:r>
            <a:endParaRPr lang="en-US"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8) https://www.figma.com/file/YY7ThTh5kyrtfg9Qh0kEts/DeliCook-%7C-Recipe-and-Delivery-Website-(Community)?</a:t>
            </a:r>
            <a:r>
              <a:rPr lang="en-US" sz="1800" dirty="0" smtClean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node-id=0-1&amp;t=MrQANENmBLfbbyZu-0</a:t>
            </a:r>
            <a:endParaRPr lang="en-US"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  <a:p>
            <a:pPr lvl="0">
              <a:buClr>
                <a:schemeClr val="lt1"/>
              </a:buClr>
              <a:buSzPts val="1600"/>
            </a:pPr>
            <a:r>
              <a:rPr lang="en-US" sz="1800" dirty="0">
                <a:solidFill>
                  <a:srgbClr val="1F51FF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</a:rPr>
              <a:t>9) https://www.figma.com/file/65J3wD94odm2fUo8PzWO7g/Landing-Page-(Community)?node-id=101-11&amp;t=MrQANENmBLfbbyZu-0</a:t>
            </a:r>
            <a:endParaRPr sz="1800" dirty="0">
              <a:solidFill>
                <a:srgbClr val="1F51FF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Props1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6617D9-B4D1-48F6-A4B5-8949764985E8}"/>
</file>

<file path=customXml/itemProps3.xml><?xml version="1.0" encoding="utf-8"?>
<ds:datastoreItem xmlns:ds="http://schemas.openxmlformats.org/officeDocument/2006/customXml" ds:itemID="{CA9CC135-CD56-4F8B-921B-D95EF0B22F3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360</Words>
  <Application>Microsoft Office PowerPoint</Application>
  <PresentationFormat>Widescreen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FiraGO</vt:lpstr>
      <vt:lpstr>FiraGO Light</vt:lpstr>
      <vt:lpstr>Arial</vt:lpstr>
      <vt:lpstr>Noto Sans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21</cp:revision>
  <dcterms:created xsi:type="dcterms:W3CDTF">2024-10-25T12:59:50Z</dcterms:created>
  <dcterms:modified xsi:type="dcterms:W3CDTF">2024-11-11T12:16:49Z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</Properties>
</file>