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embeddedFontLst>
    <p:embeddedFont>
      <p:font typeface="FiraGO" panose="020B0803050000020004" pitchFamily="34" charset="0"/>
      <p:regular r:id="rId14"/>
      <p:bold r:id="rId15"/>
      <p:italic r:id="rId16"/>
      <p:boldItalic r:id="rId17"/>
    </p:embeddedFont>
    <p:embeddedFont>
      <p:font typeface="FiraGO Light" panose="020B0403050000020004" pitchFamily="34" charset="0"/>
      <p:regular r:id="rId18"/>
      <p: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034"/>
    <a:srgbClr val="D52A7B"/>
    <a:srgbClr val="8F3FB3"/>
    <a:srgbClr val="1F51FF"/>
    <a:srgbClr val="0C0C0C"/>
    <a:srgbClr val="F4DA33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FEEA3-6067-A249-E189-D816E1DBB0A0}" v="1" dt="2024-12-05T12:49:58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ანი  ჯიჯიაშვილი" userId="S::a.jijiashvili@itstep.ge::8b685a8b-8ec2-4763-abbc-8585d32c0857" providerId="AD" clId="Web-{B7372253-0801-5685-D5D0-11A92FB75483}"/>
    <pc:docChg chg="modSld">
      <pc:chgData name="ანი  ჯიჯიაშვილი" userId="S::a.jijiashvili@itstep.ge::8b685a8b-8ec2-4763-abbc-8585d32c0857" providerId="AD" clId="Web-{B7372253-0801-5685-D5D0-11A92FB75483}" dt="2024-11-11T07:27:38.037" v="0" actId="1076"/>
      <pc:docMkLst>
        <pc:docMk/>
      </pc:docMkLst>
      <pc:sldChg chg="modSp">
        <pc:chgData name="ანი  ჯიჯიაშვილი" userId="S::a.jijiashvili@itstep.ge::8b685a8b-8ec2-4763-abbc-8585d32c0857" providerId="AD" clId="Web-{B7372253-0801-5685-D5D0-11A92FB75483}" dt="2024-11-11T07:27:38.037" v="0" actId="1076"/>
        <pc:sldMkLst>
          <pc:docMk/>
          <pc:sldMk cId="0" sldId="261"/>
        </pc:sldMkLst>
        <pc:picChg chg="mod">
          <ac:chgData name="ანი  ჯიჯიაშვილი" userId="S::a.jijiashvili@itstep.ge::8b685a8b-8ec2-4763-abbc-8585d32c0857" providerId="AD" clId="Web-{B7372253-0801-5685-D5D0-11A92FB75483}" dt="2024-11-11T07:27:38.037" v="0" actId="1076"/>
          <ac:picMkLst>
            <pc:docMk/>
            <pc:sldMk cId="0" sldId="261"/>
            <ac:picMk id="5" creationId="{00000000-0000-0000-0000-000000000000}"/>
          </ac:picMkLst>
        </pc:picChg>
      </pc:sldChg>
    </pc:docChg>
  </pc:docChgLst>
  <pc:docChgLst>
    <pc:chgData name="ანი  ჯიჯიაშვილი" userId="S::a.jijiashvili@itstep.ge::8b685a8b-8ec2-4763-abbc-8585d32c0857" providerId="AD" clId="Web-{13AFEEA3-6067-A249-E189-D816E1DBB0A0}"/>
    <pc:docChg chg="addSld">
      <pc:chgData name="ანი  ჯიჯიაშვილი" userId="S::a.jijiashvili@itstep.ge::8b685a8b-8ec2-4763-abbc-8585d32c0857" providerId="AD" clId="Web-{13AFEEA3-6067-A249-E189-D816E1DBB0A0}" dt="2024-12-05T12:49:58.911" v="0"/>
      <pc:docMkLst>
        <pc:docMk/>
      </pc:docMkLst>
      <pc:sldChg chg="new">
        <pc:chgData name="ანი  ჯიჯიაშვილი" userId="S::a.jijiashvili@itstep.ge::8b685a8b-8ec2-4763-abbc-8585d32c0857" providerId="AD" clId="Web-{13AFEEA3-6067-A249-E189-D816E1DBB0A0}" dt="2024-12-05T12:49:58.911" v="0"/>
        <pc:sldMkLst>
          <pc:docMk/>
          <pc:sldMk cId="66569994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hyperlink" Target="https://code.visualstudio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1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5" b="6235"/>
          <a:stretch>
            <a:fillRect/>
          </a:stretch>
        </p:blipFill>
        <p:spPr>
          <a:xfrm>
            <a:off x="6362700" y="1617663"/>
            <a:ext cx="5245100" cy="4591050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501814" y="571442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 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შესავალი და კურსის მიზანი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en-US" sz="4400" b="1" cap="all" dirty="0">
                <a:solidFill>
                  <a:srgbClr val="FFFF00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/&gt;</a:t>
            </a:r>
            <a:endParaRPr lang="ka-GE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8" y="1617044"/>
            <a:ext cx="5441482" cy="224058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654518" y="4038600"/>
            <a:ext cx="5441482" cy="2169695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942975" y="2087177"/>
            <a:ext cx="48957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კურსი მიზნად ისახავს 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HTML, CSS </a:t>
            </a:r>
            <a:r>
              <a:rPr lang="ka-GE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JavaScript-</a:t>
            </a:r>
            <a:r>
              <a:rPr lang="ka-GE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საფუძვლების შესწავლას, რის შემდეგაც შეძლებთ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ვებგვერდის ძირითადი სტრუქტურის, ვიზუალური სტილის და ინტერაქტიულობის შექმნას.</a:t>
            </a:r>
            <a:endParaRPr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911817" y="4384783"/>
            <a:ext cx="4926883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კურსის ბოლოს თქვენ შეძლებთ </a:t>
            </a:r>
            <a:r>
              <a:rPr lang="ka-GE" sz="18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მარტივი და პროფესიონალური ვებგვერდის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შექმნას და პირველი ნაბიჯების გადადგმას ფრონტ-ენდ დეველოპმენტის სფეროში</a:t>
            </a: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1617044"/>
            <a:ext cx="5336705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576800" y="480402"/>
            <a:ext cx="1172096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&lt;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HTML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,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400" b="1" cap="all" dirty="0" err="1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css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, 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400" b="1" cap="all" dirty="0" err="1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js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ka-GE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 ზოგადი მიმოხილვა</a:t>
            </a:r>
            <a:r>
              <a:rPr lang="en-US" sz="44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/&gt;</a:t>
            </a:r>
            <a:endParaRPr lang="ka-GE" sz="4400" b="1" cap="all" dirty="0">
              <a:solidFill>
                <a:srgbClr val="6DC034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cap="all" dirty="0"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,</a:t>
            </a: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54518" y="1617044"/>
            <a:ext cx="5336707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" r="6075"/>
          <a:stretch>
            <a:fillRect/>
          </a:stretch>
        </p:blipFill>
        <p:spPr>
          <a:xfrm>
            <a:off x="6200775" y="1617663"/>
            <a:ext cx="5337175" cy="4591050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83" name="Google Shape;183;p3"/>
          <p:cNvSpPr txBox="1"/>
          <p:nvPr/>
        </p:nvSpPr>
        <p:spPr>
          <a:xfrm>
            <a:off x="973667" y="2108308"/>
            <a:ext cx="466513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FFC000"/>
                </a:solidFill>
              </a:rPr>
              <a:t>HTML</a:t>
            </a:r>
            <a:r>
              <a:rPr lang="en-US" sz="1800" dirty="0">
                <a:solidFill>
                  <a:schemeClr val="bg1"/>
                </a:solidFill>
              </a:rPr>
              <a:t>:  </a:t>
            </a:r>
            <a:r>
              <a:rPr lang="en-US" sz="1800" dirty="0" err="1">
                <a:solidFill>
                  <a:srgbClr val="1F51FF"/>
                </a:solidFill>
              </a:rPr>
              <a:t>HyperText</a:t>
            </a:r>
            <a:r>
              <a:rPr lang="en-US" sz="1800" dirty="0">
                <a:solidFill>
                  <a:srgbClr val="1F51FF"/>
                </a:solidFill>
              </a:rPr>
              <a:t> Markup Language </a:t>
            </a:r>
            <a:r>
              <a:rPr lang="en-US" sz="1800" dirty="0">
                <a:solidFill>
                  <a:schemeClr val="bg1"/>
                </a:solidFill>
              </a:rPr>
              <a:t>- </a:t>
            </a:r>
            <a:r>
              <a:rPr lang="ka-GE" sz="1800" dirty="0">
                <a:solidFill>
                  <a:schemeClr val="bg1"/>
                </a:solidFill>
              </a:rPr>
              <a:t>გამოიყენება ვებგვერდის სტრუქტურის შესაქმნელად.</a:t>
            </a:r>
            <a:endParaRPr sz="18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2" name="Google Shape;183;p3">
            <a:extLst>
              <a:ext uri="{FF2B5EF4-FFF2-40B4-BE49-F238E27FC236}">
                <a16:creationId xmlns:a16="http://schemas.microsoft.com/office/drawing/2014/main" id="{B71A62C4-3780-5E10-D18A-6F7F2CEB3787}"/>
              </a:ext>
            </a:extLst>
          </p:cNvPr>
          <p:cNvSpPr txBox="1"/>
          <p:nvPr/>
        </p:nvSpPr>
        <p:spPr>
          <a:xfrm>
            <a:off x="990303" y="3152477"/>
            <a:ext cx="466513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D52A7B"/>
                </a:solidFill>
              </a:rPr>
              <a:t>CSS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dirty="0">
                <a:solidFill>
                  <a:srgbClr val="00B050"/>
                </a:solidFill>
              </a:rPr>
              <a:t>Cascading Style Sheets </a:t>
            </a:r>
            <a:r>
              <a:rPr lang="en-US" sz="1800" dirty="0">
                <a:solidFill>
                  <a:schemeClr val="bg1"/>
                </a:solidFill>
              </a:rPr>
              <a:t>- </a:t>
            </a:r>
            <a:r>
              <a:rPr lang="ka-GE" sz="1800" dirty="0">
                <a:solidFill>
                  <a:schemeClr val="bg1"/>
                </a:solidFill>
              </a:rPr>
              <a:t>განსაზღვრავს ვებგვერდის ვიზუალურ სტილს და განლაგებას.</a:t>
            </a:r>
            <a:endParaRPr sz="18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sp>
        <p:nvSpPr>
          <p:cNvPr id="3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990304" y="4284006"/>
            <a:ext cx="466513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FFFF00"/>
                </a:solidFill>
              </a:rPr>
              <a:t>JavaScript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ka-GE" sz="1800" dirty="0">
                <a:solidFill>
                  <a:schemeClr val="bg1"/>
                </a:solidFill>
              </a:rPr>
              <a:t>დამატებითი ინტერაქტიულობისა და ფუნქციონალობის უზრუნველსაყოფად.</a:t>
            </a:r>
            <a:endParaRPr sz="18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5936343" y="1291771"/>
            <a:ext cx="6144277" cy="5566229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460686" y="395584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</a:t>
            </a:r>
            <a:r>
              <a:rPr lang="ka-GE" sz="40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გარემოს მომზადება </a:t>
            </a:r>
            <a:r>
              <a:rPr lang="en-US" sz="4000" b="1" cap="all" dirty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VS </a:t>
            </a:r>
            <a:r>
              <a:rPr lang="en-US" sz="4000" b="1" cap="all" dirty="0" err="1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Code+extensions</a:t>
            </a:r>
            <a:endParaRPr sz="4000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76800" y="2002988"/>
            <a:ext cx="5519200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dirty="0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VS code</a:t>
            </a:r>
            <a:r>
              <a:rPr lang="ka-GE" sz="1800" dirty="0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გადმოვწეროთ ოფიციალური საიტიდან: </a:t>
            </a:r>
            <a:r>
              <a:rPr lang="it-IT" dirty="0">
                <a:latin typeface="FiraGO" panose="020B0604020202020204" charset="0"/>
                <a:ea typeface="FiraGO" panose="020B0604020202020204" charset="0"/>
                <a:cs typeface="FiraGO" panose="020B0604020202020204" charset="0"/>
                <a:hlinkClick r:id="rId4"/>
              </a:rPr>
              <a:t>Visual Studio Code - Code Editing. Redefined</a:t>
            </a:r>
            <a:r>
              <a:rPr lang="ka-GE" dirty="0"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დავაინსტალიროთ</a:t>
            </a:r>
            <a:endParaRPr lang="en-US"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dirty="0">
                <a:solidFill>
                  <a:srgbClr val="7030A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Extensions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 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სასარგებლო გაფართოებები: </a:t>
            </a:r>
            <a:r>
              <a:rPr lang="en-US" sz="20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Emmet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lang="en-US" sz="2000" dirty="0">
                <a:solidFill>
                  <a:srgbClr val="FFC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Live Server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Prettier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(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კოდის ავტომატური ფორმატირებისათვის).“</a:t>
            </a:r>
            <a:endParaRPr lang="en-US" sz="20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pic>
        <p:nvPicPr>
          <p:cNvPr id="13" name="Picture Placeholder 12"/>
          <p:cNvPicPr>
            <a:picLocks noGrp="1" noChangeAspect="1"/>
          </p:cNvPicPr>
          <p:nvPr>
            <p:ph type="pic" idx="2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" t="-519" r="6648" b="-410"/>
          <a:stretch/>
        </p:blipFill>
        <p:spPr>
          <a:xfrm>
            <a:off x="6029976" y="1413277"/>
            <a:ext cx="5957010" cy="532321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234BCB-6E45-A17D-17ED-8D5456985B67}"/>
              </a:ext>
            </a:extLst>
          </p:cNvPr>
          <p:cNvSpPr/>
          <p:nvPr/>
        </p:nvSpPr>
        <p:spPr>
          <a:xfrm>
            <a:off x="1" y="-190498"/>
            <a:ext cx="12192000" cy="3654134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471031" y="3519433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 </a:t>
            </a:r>
            <a:r>
              <a:rPr lang="en-US" sz="44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Emmet </a:t>
            </a:r>
            <a:r>
              <a:rPr lang="ka-GE" sz="44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ჩაშენებული </a:t>
            </a:r>
            <a:r>
              <a:rPr lang="en-US" sz="44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Snippets </a:t>
            </a:r>
            <a:r>
              <a:rPr lang="en-US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sz="4400" b="1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71031" y="4344382"/>
            <a:ext cx="10991296" cy="4508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Emmet-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გამოყენება, რომელიც აჩქარებს კოდირებას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ძირითადი </a:t>
            </a:r>
            <a:r>
              <a:rPr lang="en-US" sz="18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Emmet shortcuts:</a:t>
            </a:r>
            <a:r>
              <a:rPr lang="ka-GE" sz="18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​</a:t>
            </a:r>
            <a:r>
              <a:rPr lang="ka-GE" dirty="0">
                <a:solidFill>
                  <a:schemeClr val="bg1"/>
                </a:solidFill>
              </a:rPr>
              <a:t> </a:t>
            </a:r>
            <a:r>
              <a:rPr lang="en-US" sz="1600" i="1" dirty="0">
                <a:solidFill>
                  <a:srgbClr val="6DC034"/>
                </a:solidFill>
              </a:rPr>
              <a:t>Ctrl + F </a:t>
            </a:r>
            <a:r>
              <a:rPr lang="en-US" sz="1600" i="1" dirty="0">
                <a:solidFill>
                  <a:schemeClr val="bg1"/>
                </a:solidFill>
              </a:rPr>
              <a:t>→ </a:t>
            </a:r>
            <a:r>
              <a:rPr lang="ka-GE" sz="1600" i="1" dirty="0">
                <a:solidFill>
                  <a:schemeClr val="bg1"/>
                </a:solidFill>
              </a:rPr>
              <a:t>ძებნა აქტიურ ფაილში,</a:t>
            </a:r>
            <a:r>
              <a:rPr lang="en-US" sz="1600" i="1" dirty="0">
                <a:solidFill>
                  <a:schemeClr val="bg1"/>
                </a:solidFill>
              </a:rPr>
              <a:t> </a:t>
            </a:r>
            <a:r>
              <a:rPr lang="en-US" sz="1600" i="1" dirty="0" err="1">
                <a:solidFill>
                  <a:srgbClr val="6DC034"/>
                </a:solidFill>
              </a:rPr>
              <a:t>Cntr</a:t>
            </a:r>
            <a:r>
              <a:rPr lang="ka-GE" sz="1600" i="1" dirty="0">
                <a:solidFill>
                  <a:srgbClr val="6DC034"/>
                </a:solidFill>
              </a:rPr>
              <a:t> </a:t>
            </a:r>
            <a:r>
              <a:rPr lang="en-US" sz="1600" i="1" dirty="0">
                <a:solidFill>
                  <a:srgbClr val="6DC034"/>
                </a:solidFill>
              </a:rPr>
              <a:t>+</a:t>
            </a:r>
            <a:r>
              <a:rPr lang="ka-GE" sz="1600" i="1" dirty="0">
                <a:solidFill>
                  <a:srgbClr val="6DC034"/>
                </a:solidFill>
              </a:rPr>
              <a:t> </a:t>
            </a:r>
            <a:r>
              <a:rPr lang="en-US" sz="1600" i="1" dirty="0">
                <a:solidFill>
                  <a:srgbClr val="6DC034"/>
                </a:solidFill>
              </a:rPr>
              <a:t>Z </a:t>
            </a:r>
            <a:r>
              <a:rPr lang="en-US" sz="1600" i="1" dirty="0">
                <a:solidFill>
                  <a:schemeClr val="bg1"/>
                </a:solidFill>
              </a:rPr>
              <a:t>→ </a:t>
            </a:r>
            <a:r>
              <a:rPr lang="ka-GE" sz="1600" i="1" dirty="0">
                <a:solidFill>
                  <a:schemeClr val="bg1"/>
                </a:solidFill>
              </a:rPr>
              <a:t>უკან დაბრუნება, </a:t>
            </a:r>
          </a:p>
          <a:p>
            <a:pPr lvl="0">
              <a:lnSpc>
                <a:spcPct val="150000"/>
              </a:lnSpc>
              <a:buClr>
                <a:schemeClr val="lt1"/>
              </a:buClr>
              <a:buSzPts val="1600"/>
            </a:pPr>
            <a:r>
              <a:rPr lang="en-US" sz="1600" i="1" dirty="0" err="1">
                <a:solidFill>
                  <a:srgbClr val="6DC034"/>
                </a:solidFill>
              </a:rPr>
              <a:t>Cntr</a:t>
            </a:r>
            <a:r>
              <a:rPr lang="en-US" sz="1600" i="1" dirty="0">
                <a:solidFill>
                  <a:srgbClr val="6DC034"/>
                </a:solidFill>
              </a:rPr>
              <a:t> + N</a:t>
            </a:r>
            <a:r>
              <a:rPr lang="ka-GE" sz="1600" i="1" dirty="0">
                <a:solidFill>
                  <a:srgbClr val="6DC034"/>
                </a:solidFill>
              </a:rPr>
              <a:t> </a:t>
            </a:r>
            <a:r>
              <a:rPr lang="en-US" sz="1600" i="1" dirty="0">
                <a:solidFill>
                  <a:schemeClr val="bg1"/>
                </a:solidFill>
              </a:rPr>
              <a:t>→ </a:t>
            </a:r>
            <a:r>
              <a:rPr lang="ka-GE" sz="1600" i="1" dirty="0">
                <a:solidFill>
                  <a:schemeClr val="bg1"/>
                </a:solidFill>
              </a:rPr>
              <a:t>ახალი ფაილის შექმნა, </a:t>
            </a:r>
            <a:r>
              <a:rPr lang="en-US" sz="1600" i="1" dirty="0">
                <a:solidFill>
                  <a:schemeClr val="bg1"/>
                </a:solidFill>
              </a:rPr>
              <a:t>​</a:t>
            </a:r>
            <a:r>
              <a:rPr lang="ka-GE" sz="1600" i="1" dirty="0">
                <a:solidFill>
                  <a:schemeClr val="bg1"/>
                </a:solidFill>
              </a:rPr>
              <a:t> 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 err="1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div#container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Wingdings" panose="05000000000000000000" pitchFamily="2" charset="2"/>
              </a:rPr>
              <a:t>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&lt;div id="container"&gt;&lt;/div&gt; </a:t>
            </a:r>
            <a:r>
              <a:rPr lang="ka-GE" sz="16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(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ქმნის დივს  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id-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ით</a:t>
            </a:r>
            <a:r>
              <a:rPr lang="ka-GE" sz="16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</a:t>
            </a:r>
            <a:endParaRPr lang="en-US" sz="1800" dirty="0">
              <a:solidFill>
                <a:srgbClr val="FF000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! –</a:t>
            </a:r>
            <a:r>
              <a:rPr lang="en-US" sz="1800" b="1" dirty="0">
                <a:solidFill>
                  <a:srgbClr val="FFC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HTML</a:t>
            </a:r>
            <a:r>
              <a:rPr lang="en-US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ჩონჩხის სწრაფი შევსება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 err="1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ul</a:t>
            </a:r>
            <a:r>
              <a:rPr lang="en-US" sz="1800" b="1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&gt; li * 5 </a:t>
            </a:r>
            <a:r>
              <a:rPr lang="en-US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 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ავტომატურად ქმნის სიას 5 ელემენტით</a:t>
            </a: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/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ka-GE" sz="1600" dirty="0"/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en-US" sz="1600" dirty="0"/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endParaRPr lang="en-US" sz="1600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96" b="15596"/>
          <a:stretch>
            <a:fillRect/>
          </a:stretch>
        </p:blipFill>
        <p:spPr>
          <a:xfrm>
            <a:off x="-1588" y="-190500"/>
            <a:ext cx="12193588" cy="3654425"/>
          </a:xfrm>
          <a:prstGeom prst="roundRect">
            <a:avLst>
              <a:gd name="adj" fmla="val 4928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/>
        </p:nvSpPr>
        <p:spPr>
          <a:xfrm>
            <a:off x="188686" y="523945"/>
            <a:ext cx="1210908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&lt; ! -- HTML</a:t>
            </a:r>
            <a:r>
              <a:rPr lang="en-US" sz="4000" dirty="0">
                <a:solidFill>
                  <a:srgbClr val="1F51FF"/>
                </a:solidFill>
              </a:rPr>
              <a:t> </a:t>
            </a:r>
            <a:r>
              <a:rPr lang="ka-GE" sz="4000" dirty="0">
                <a:solidFill>
                  <a:srgbClr val="1F51FF"/>
                </a:solidFill>
              </a:rPr>
              <a:t>ჩონჩხი და ძირითადი ელემენტები</a:t>
            </a:r>
            <a:r>
              <a:rPr lang="en-US" sz="4000" dirty="0">
                <a:solidFill>
                  <a:srgbClr val="1F51FF"/>
                </a:solidFill>
              </a:rPr>
              <a:t> </a:t>
            </a:r>
            <a:r>
              <a:rPr lang="en-US" sz="4000" dirty="0">
                <a:solidFill>
                  <a:srgbClr val="FFC000"/>
                </a:solidFill>
              </a:rPr>
              <a:t>-- &gt;</a:t>
            </a:r>
          </a:p>
        </p:txBody>
      </p:sp>
      <p:sp>
        <p:nvSpPr>
          <p:cNvPr id="203" name="Google Shape;203;p6"/>
          <p:cNvSpPr txBox="1"/>
          <p:nvPr/>
        </p:nvSpPr>
        <p:spPr>
          <a:xfrm>
            <a:off x="576800" y="1551921"/>
            <a:ext cx="10786525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dirty="0">
                <a:solidFill>
                  <a:srgbClr val="FFC00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HTML</a:t>
            </a:r>
            <a:r>
              <a:rPr lang="en-US" sz="18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 </a:t>
            </a:r>
            <a:r>
              <a:rPr lang="ka-GE" sz="18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დოკუმენტის სტრუქტურა და ძირითადი ელემენტები: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800" b="1" dirty="0">
                <a:solidFill>
                  <a:srgbClr val="00B05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&lt;</a:t>
            </a:r>
            <a:r>
              <a:rPr lang="en-US" sz="1800" b="1" dirty="0">
                <a:solidFill>
                  <a:srgbClr val="00B05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DOCTYPE html&gt;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>
                <a:solidFill>
                  <a:srgbClr val="FFC00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&lt;html&gt;, </a:t>
            </a:r>
            <a:r>
              <a:rPr lang="en-US" sz="18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</a:t>
            </a:r>
            <a:r>
              <a:rPr lang="en-US" sz="1800" b="1" dirty="0">
                <a:solidFill>
                  <a:srgbClr val="D52A7B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head&gt;, </a:t>
            </a:r>
            <a:r>
              <a:rPr lang="en-US" sz="1800" b="1" dirty="0">
                <a:solidFill>
                  <a:srgbClr val="92D05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&lt;meta&gt;, </a:t>
            </a:r>
            <a:r>
              <a:rPr lang="en-US" sz="1800" b="1" dirty="0">
                <a:solidFill>
                  <a:srgbClr val="8F3FB3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&lt;title&gt;, </a:t>
            </a:r>
            <a:r>
              <a:rPr lang="en-US" sz="1800" b="1" dirty="0">
                <a:solidFill>
                  <a:srgbClr val="00B0F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&lt;body&gt;</a:t>
            </a:r>
            <a:endParaRPr sz="1800" b="1" dirty="0">
              <a:solidFill>
                <a:srgbClr val="00B0F0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2416E8-0EC6-6174-FEE2-0D4CD7EF6A12}"/>
              </a:ext>
            </a:extLst>
          </p:cNvPr>
          <p:cNvSpPr/>
          <p:nvPr/>
        </p:nvSpPr>
        <p:spPr>
          <a:xfrm>
            <a:off x="702737" y="2836573"/>
            <a:ext cx="10786526" cy="3497481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6" b="5706"/>
          <a:stretch>
            <a:fillRect/>
          </a:stretch>
        </p:blipFill>
        <p:spPr>
          <a:xfrm>
            <a:off x="640819" y="2836573"/>
            <a:ext cx="10785475" cy="3497262"/>
          </a:xfrm>
          <a:prstGeom prst="roundRect">
            <a:avLst>
              <a:gd name="adj" fmla="val 5918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3595771" y="2778423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   </a:t>
            </a:r>
            <a:r>
              <a:rPr lang="ka-GE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მადლობა &lt;3</a:t>
            </a:r>
            <a:endParaRPr lang="ka-GE" sz="28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3" name="Google Shape;203;p6">
            <a:extLst>
              <a:ext uri="{FF2B5EF4-FFF2-40B4-BE49-F238E27FC236}">
                <a16:creationId xmlns:a16="http://schemas.microsoft.com/office/drawing/2014/main" id="{05001C60-8E57-870C-5D26-A4FE666FCE1F}"/>
              </a:ext>
            </a:extLst>
          </p:cNvPr>
          <p:cNvSpPr txBox="1"/>
          <p:nvPr/>
        </p:nvSpPr>
        <p:spPr>
          <a:xfrm>
            <a:off x="576799" y="4481086"/>
            <a:ext cx="107865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bg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.</a:t>
            </a:r>
            <a:endParaRPr sz="1200" dirty="0">
              <a:solidFill>
                <a:schemeClr val="bg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D7AC2670F3EA419A4C8ED9E85832A6" ma:contentTypeVersion="12" ma:contentTypeDescription="Create a new document." ma:contentTypeScope="" ma:versionID="3d664fc42e50c7968de9b0f92673dc0c">
  <xsd:schema xmlns:xsd="http://www.w3.org/2001/XMLSchema" xmlns:xs="http://www.w3.org/2001/XMLSchema" xmlns:p="http://schemas.microsoft.com/office/2006/metadata/properties" xmlns:ns2="6641dcd3-7dc6-4696-bf59-c6211389010d" xmlns:ns3="61bf6615-2d26-442b-9d24-621696d9153b" targetNamespace="http://schemas.microsoft.com/office/2006/metadata/properties" ma:root="true" ma:fieldsID="865ce7a4538c4707173aaa984d7dbe48" ns2:_="" ns3:_="">
    <xsd:import namespace="6641dcd3-7dc6-4696-bf59-c6211389010d"/>
    <xsd:import namespace="61bf6615-2d26-442b-9d24-621696d915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41dcd3-7dc6-4696-bf59-c62113890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f6615-2d26-442b-9d24-621696d9153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81c3954-a2f3-4f37-897d-d66ac7e49cf3}" ma:internalName="TaxCatchAll" ma:showField="CatchAllData" ma:web="61bf6615-2d26-442b-9d24-621696d915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41dcd3-7dc6-4696-bf59-c6211389010d">
      <Terms xmlns="http://schemas.microsoft.com/office/infopath/2007/PartnerControls"/>
    </lcf76f155ced4ddcb4097134ff3c332f>
    <TaxCatchAll xmlns="61bf6615-2d26-442b-9d24-621696d9153b" xsi:nil="true"/>
  </documentManagement>
</p:properties>
</file>

<file path=customXml/itemProps1.xml><?xml version="1.0" encoding="utf-8"?>
<ds:datastoreItem xmlns:ds="http://schemas.openxmlformats.org/officeDocument/2006/customXml" ds:itemID="{08A8A573-E2C5-46B9-B45C-7DA0679D75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41dcd3-7dc6-4696-bf59-c6211389010d"/>
    <ds:schemaRef ds:uri="61bf6615-2d26-442b-9d24-621696d915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  <ds:schemaRef ds:uri="6641dcd3-7dc6-4696-bf59-c6211389010d"/>
    <ds:schemaRef ds:uri="61bf6615-2d26-442b-9d24-621696d915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251</Words>
  <Application>Microsoft Office PowerPoint</Application>
  <PresentationFormat>Widescreen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Noto Sans</vt:lpstr>
      <vt:lpstr>FiraGO</vt:lpstr>
      <vt:lpstr>Wingdings</vt:lpstr>
      <vt:lpstr>FiraGO Light</vt:lpstr>
      <vt:lpstr>Calibri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29</cp:revision>
  <dcterms:created xsi:type="dcterms:W3CDTF">2024-10-25T12:59:50Z</dcterms:created>
  <dcterms:modified xsi:type="dcterms:W3CDTF">2025-03-05T17:16:07Z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0x0101001FD7AC2670F3EA419A4C8ED9E85832A6</vt:lpwstr>
  </property>
  <property fmtid="{D5CDD505-2E9C-101B-9397-08002B2CF9AE}" pid="3" name="MediaServiceImageTags">
    <vt:lpwstr/>
  </property>
</Properties>
</file>