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60" r:id="rId5"/>
  </p:sldMasterIdLst>
  <p:notesMasterIdLst>
    <p:notesMasterId r:id="rId22"/>
  </p:notesMasterIdLst>
  <p:sldIdLst>
    <p:sldId id="256" r:id="rId6"/>
    <p:sldId id="262" r:id="rId7"/>
    <p:sldId id="263" r:id="rId8"/>
    <p:sldId id="260" r:id="rId9"/>
    <p:sldId id="257" r:id="rId10"/>
    <p:sldId id="258" r:id="rId11"/>
    <p:sldId id="259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64" r:id="rId20"/>
    <p:sldId id="272" r:id="rId21"/>
  </p:sldIdLst>
  <p:sldSz cx="12192000" cy="6858000"/>
  <p:notesSz cx="6858000" cy="9144000"/>
  <p:embeddedFontLst>
    <p:embeddedFont>
      <p:font typeface="FiraGO Light" panose="020B0403050000020004" pitchFamily="34" charset="0"/>
      <p:regular r:id="rId23"/>
      <p:italic r:id="rId24"/>
    </p:embeddedFont>
    <p:embeddedFont>
      <p:font typeface="FiraGO" panose="020B0803050000020004" pitchFamily="34" charset="0"/>
      <p:regular r:id="rId25"/>
      <p:bold r:id="rId26"/>
      <p:italic r:id="rId27"/>
      <p:boldItalic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GSzJV6VoQ7okuGXFlJ4wzkIxV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1F1F1F"/>
    <a:srgbClr val="051310"/>
    <a:srgbClr val="0C0C0C"/>
    <a:srgbClr val="F4DA33"/>
    <a:srgbClr val="1F51FF"/>
    <a:srgbClr val="D52A7B"/>
    <a:srgbClr val="6DC034"/>
    <a:srgbClr val="8F3FB3"/>
    <a:srgbClr val="662D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58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4.fntdata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3.fntdata"/><Relationship Id="rId33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6C6128F8-70FF-CD68-EC5C-9E89FB02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>
            <a:extLst>
              <a:ext uri="{FF2B5EF4-FFF2-40B4-BE49-F238E27FC236}">
                <a16:creationId xmlns:a16="http://schemas.microsoft.com/office/drawing/2014/main" id="{0760AC3D-A39D-B2CD-6E33-7BCBC101F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>
            <a:extLst>
              <a:ext uri="{FF2B5EF4-FFF2-40B4-BE49-F238E27FC236}">
                <a16:creationId xmlns:a16="http://schemas.microsoft.com/office/drawing/2014/main" id="{D75B684C-B01E-6A58-30D5-38FD98260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3982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6C6128F8-70FF-CD68-EC5C-9E89FB02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>
            <a:extLst>
              <a:ext uri="{FF2B5EF4-FFF2-40B4-BE49-F238E27FC236}">
                <a16:creationId xmlns:a16="http://schemas.microsoft.com/office/drawing/2014/main" id="{0760AC3D-A39D-B2CD-6E33-7BCBC101F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>
            <a:extLst>
              <a:ext uri="{FF2B5EF4-FFF2-40B4-BE49-F238E27FC236}">
                <a16:creationId xmlns:a16="http://schemas.microsoft.com/office/drawing/2014/main" id="{D75B684C-B01E-6A58-30D5-38FD98260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5390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6872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04327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8" name="Google Shape;17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19979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50344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68306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60645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32061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97030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1666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>
            <a:spLocks noGrp="1"/>
          </p:cNvSpPr>
          <p:nvPr>
            <p:ph type="pic" idx="2"/>
          </p:nvPr>
        </p:nvSpPr>
        <p:spPr>
          <a:xfrm>
            <a:off x="5532357" y="855662"/>
            <a:ext cx="5759450" cy="51466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6096000" y="720671"/>
            <a:ext cx="6172200" cy="487362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9"/>
          <p:cNvSpPr>
            <a:spLocks noGrp="1"/>
          </p:cNvSpPr>
          <p:nvPr>
            <p:ph type="pic" idx="3"/>
          </p:nvPr>
        </p:nvSpPr>
        <p:spPr>
          <a:xfrm>
            <a:off x="4038600" y="1936750"/>
            <a:ext cx="3533775" cy="339407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3" name="Google Shape;133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4" name="Google Shape;13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/>
        </p:nvSpPr>
        <p:spPr>
          <a:xfrm>
            <a:off x="286033" y="1165633"/>
            <a:ext cx="1172096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F51FF"/>
                </a:solidFill>
                <a:latin typeface="Arial"/>
                <a:ea typeface="Arial"/>
                <a:cs typeface="Arial"/>
                <a:sym typeface="Arial"/>
              </a:rPr>
              <a:t>FRONT-END W. ANGULAR</a:t>
            </a:r>
            <a:endParaRPr dirty="0"/>
          </a:p>
        </p:txBody>
      </p:sp>
      <p:sp>
        <p:nvSpPr>
          <p:cNvPr id="163" name="Google Shape;163;p1"/>
          <p:cNvSpPr txBox="1"/>
          <p:nvPr/>
        </p:nvSpPr>
        <p:spPr>
          <a:xfrm>
            <a:off x="286033" y="2282006"/>
            <a:ext cx="318656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ლექცია</a:t>
            </a:r>
            <a:r>
              <a:rPr lang="en-US" sz="2800" dirty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lang="ka-GE" sz="2800" dirty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2</a:t>
            </a:r>
            <a:endParaRPr sz="2800" dirty="0">
              <a:solidFill>
                <a:schemeClr val="lt1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5DA91E-2F44-CD9B-6153-9BE5ECDE3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13" y="5126030"/>
            <a:ext cx="887837" cy="1082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AA1C56B9-8CDC-D13A-D566-89EA3409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>
            <a:extLst>
              <a:ext uri="{FF2B5EF4-FFF2-40B4-BE49-F238E27FC236}">
                <a16:creationId xmlns:a16="http://schemas.microsoft.com/office/drawing/2014/main" id="{98E62D9D-4B85-5ED2-373B-8E0998C56A8F}"/>
              </a:ext>
            </a:extLst>
          </p:cNvPr>
          <p:cNvSpPr txBox="1"/>
          <p:nvPr/>
        </p:nvSpPr>
        <p:spPr>
          <a:xfrm>
            <a:off x="495740" y="393873"/>
            <a:ext cx="1172096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a-GE" sz="4400" b="1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&lt;!--</a:t>
            </a:r>
            <a:r>
              <a:rPr lang="en-US" sz="4400" b="1" cap="all" dirty="0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HTML–</a:t>
            </a:r>
            <a:r>
              <a:rPr lang="ka-GE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ის ძირითადი </a:t>
            </a:r>
            <a:r>
              <a:rPr lang="ka-GE" sz="4400" b="1" cap="all" dirty="0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თეგები</a:t>
            </a:r>
            <a:r>
              <a:rPr lang="ka-GE" sz="4400" b="1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-</a:t>
            </a:r>
            <a:r>
              <a:rPr lang="ka-GE" sz="4400" b="1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-&gt;</a:t>
            </a:r>
            <a:r>
              <a:rPr lang="en-US" sz="4400" b="1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	</a:t>
            </a:r>
            <a:endParaRPr lang="ka-GE" sz="4400" b="1" dirty="0">
              <a:solidFill>
                <a:srgbClr val="F4DA33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6" name="Google Shape;183;p3"/>
          <p:cNvSpPr txBox="1"/>
          <p:nvPr/>
        </p:nvSpPr>
        <p:spPr>
          <a:xfrm>
            <a:off x="469120" y="1957010"/>
            <a:ext cx="466513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600" dirty="0" smtClean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პარაგრაფი </a:t>
            </a:r>
            <a:r>
              <a:rPr lang="ka-GE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( &lt;</a:t>
            </a: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p&gt; )</a:t>
            </a:r>
            <a:endParaRPr sz="1600" dirty="0">
              <a:solidFill>
                <a:srgbClr val="F4DA33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sp>
        <p:nvSpPr>
          <p:cNvPr id="7" name="Google Shape;183;p3"/>
          <p:cNvSpPr txBox="1"/>
          <p:nvPr/>
        </p:nvSpPr>
        <p:spPr>
          <a:xfrm>
            <a:off x="433595" y="2640532"/>
            <a:ext cx="307307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600" dirty="0">
                <a:solidFill>
                  <a:srgbClr val="6DC034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სათაურები ( &lt;</a:t>
            </a:r>
            <a:r>
              <a:rPr lang="en-US" sz="1600" dirty="0">
                <a:solidFill>
                  <a:srgbClr val="6DC034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h1&gt; - &lt;h6&gt; )</a:t>
            </a:r>
          </a:p>
        </p:txBody>
      </p:sp>
      <p:sp>
        <p:nvSpPr>
          <p:cNvPr id="8" name="Google Shape;183;p3"/>
          <p:cNvSpPr txBox="1"/>
          <p:nvPr/>
        </p:nvSpPr>
        <p:spPr>
          <a:xfrm>
            <a:off x="433595" y="3430691"/>
            <a:ext cx="293103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600" dirty="0">
                <a:solidFill>
                  <a:srgbClr val="D52A7B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ინლაინ ტექსტი ( &lt;</a:t>
            </a:r>
            <a:r>
              <a:rPr lang="en-US" sz="1600" dirty="0">
                <a:solidFill>
                  <a:srgbClr val="D52A7B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span</a:t>
            </a:r>
            <a:r>
              <a:rPr lang="en-US" sz="1600" dirty="0" smtClean="0">
                <a:solidFill>
                  <a:srgbClr val="D52A7B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&gt;)</a:t>
            </a:r>
            <a:endParaRPr lang="en-US" sz="1600" dirty="0">
              <a:solidFill>
                <a:srgbClr val="D52A7B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sp>
        <p:nvSpPr>
          <p:cNvPr id="9" name="Google Shape;183;p3"/>
          <p:cNvSpPr txBox="1"/>
          <p:nvPr/>
        </p:nvSpPr>
        <p:spPr>
          <a:xfrm>
            <a:off x="495740" y="4283470"/>
            <a:ext cx="286889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600" dirty="0">
                <a:solidFill>
                  <a:srgbClr val="8F3FB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დახრილი ტექსტი ( &lt;</a:t>
            </a:r>
            <a:r>
              <a:rPr lang="en-US" sz="1600" dirty="0" err="1" smtClean="0">
                <a:solidFill>
                  <a:srgbClr val="8F3FB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i</a:t>
            </a:r>
            <a:r>
              <a:rPr lang="en-US" sz="1600" dirty="0" smtClean="0">
                <a:solidFill>
                  <a:srgbClr val="8F3FB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&gt; </a:t>
            </a:r>
            <a:r>
              <a:rPr lang="en-US" sz="1600" dirty="0">
                <a:solidFill>
                  <a:srgbClr val="8F3FB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)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4400" y="1375643"/>
            <a:ext cx="7925906" cy="209579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4400" y="3471435"/>
            <a:ext cx="7925906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382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AA1C56B9-8CDC-D13A-D566-89EA3409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>
            <a:extLst>
              <a:ext uri="{FF2B5EF4-FFF2-40B4-BE49-F238E27FC236}">
                <a16:creationId xmlns:a16="http://schemas.microsoft.com/office/drawing/2014/main" id="{98E62D9D-4B85-5ED2-373B-8E0998C56A8F}"/>
              </a:ext>
            </a:extLst>
          </p:cNvPr>
          <p:cNvSpPr txBox="1"/>
          <p:nvPr/>
        </p:nvSpPr>
        <p:spPr>
          <a:xfrm>
            <a:off x="495740" y="393873"/>
            <a:ext cx="1172096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a-GE" sz="4400" b="1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&lt;!--</a:t>
            </a:r>
            <a:r>
              <a:rPr lang="en-US" sz="4400" b="1" cap="all" dirty="0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HTML–</a:t>
            </a:r>
            <a:r>
              <a:rPr lang="ka-GE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ის ძირითადი </a:t>
            </a:r>
            <a:r>
              <a:rPr lang="ka-GE" sz="4400" b="1" cap="all" dirty="0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თეგები</a:t>
            </a:r>
            <a:r>
              <a:rPr lang="ka-GE" sz="4400" b="1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--&gt;</a:t>
            </a:r>
          </a:p>
        </p:txBody>
      </p:sp>
      <p:sp>
        <p:nvSpPr>
          <p:cNvPr id="10" name="Google Shape;183;p3"/>
          <p:cNvSpPr txBox="1"/>
          <p:nvPr/>
        </p:nvSpPr>
        <p:spPr>
          <a:xfrm>
            <a:off x="442479" y="1883653"/>
            <a:ext cx="275348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600" dirty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მსხვილი ტექსტი ( &lt;</a:t>
            </a:r>
            <a:r>
              <a:rPr lang="en-US" sz="1600" dirty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b</a:t>
            </a:r>
            <a:r>
              <a:rPr lang="en-US" sz="1600" dirty="0" smtClean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&gt;)</a:t>
            </a:r>
            <a:endParaRPr lang="en-US" sz="1600" dirty="0">
              <a:solidFill>
                <a:srgbClr val="1F51FF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sp>
        <p:nvSpPr>
          <p:cNvPr id="11" name="Google Shape;183;p3"/>
          <p:cNvSpPr txBox="1"/>
          <p:nvPr/>
        </p:nvSpPr>
        <p:spPr>
          <a:xfrm>
            <a:off x="495740" y="2923743"/>
            <a:ext cx="275348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600" dirty="0" smtClean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ხაზის </a:t>
            </a:r>
            <a:r>
              <a:rPr lang="ka-GE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გადატანა ( &lt;</a:t>
            </a:r>
            <a:r>
              <a:rPr lang="en-US" sz="1600" dirty="0" err="1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br</a:t>
            </a:r>
            <a:r>
              <a:rPr lang="en-US" sz="1600" dirty="0" smtClean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&gt;)</a:t>
            </a:r>
            <a:endParaRPr lang="en-US" sz="1600" dirty="0">
              <a:solidFill>
                <a:srgbClr val="F4DA33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sp>
        <p:nvSpPr>
          <p:cNvPr id="12" name="Google Shape;183;p3"/>
          <p:cNvSpPr txBox="1"/>
          <p:nvPr/>
        </p:nvSpPr>
        <p:spPr>
          <a:xfrm>
            <a:off x="495740" y="3696749"/>
            <a:ext cx="275348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600" dirty="0">
                <a:solidFill>
                  <a:srgbClr val="6DC034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სურათი ( &lt;</a:t>
            </a:r>
            <a:r>
              <a:rPr lang="en-US" sz="1600" dirty="0" err="1">
                <a:solidFill>
                  <a:srgbClr val="6DC034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img</a:t>
            </a:r>
            <a:r>
              <a:rPr lang="en-US" sz="1600" dirty="0">
                <a:solidFill>
                  <a:srgbClr val="6DC034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&gt; )</a:t>
            </a:r>
          </a:p>
        </p:txBody>
      </p:sp>
      <p:sp>
        <p:nvSpPr>
          <p:cNvPr id="13" name="Google Shape;183;p3"/>
          <p:cNvSpPr txBox="1"/>
          <p:nvPr/>
        </p:nvSpPr>
        <p:spPr>
          <a:xfrm>
            <a:off x="495740" y="4347545"/>
            <a:ext cx="239837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600" dirty="0" smtClean="0">
                <a:solidFill>
                  <a:srgbClr val="8F3FB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ბმული </a:t>
            </a:r>
            <a:r>
              <a:rPr lang="ka-GE" sz="1600" dirty="0">
                <a:solidFill>
                  <a:srgbClr val="8F3FB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( &lt;</a:t>
            </a:r>
            <a:r>
              <a:rPr lang="en-US" sz="1600" dirty="0">
                <a:solidFill>
                  <a:srgbClr val="8F3FB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a&gt; )</a:t>
            </a:r>
          </a:p>
        </p:txBody>
      </p:sp>
      <p:sp>
        <p:nvSpPr>
          <p:cNvPr id="14" name="Google Shape;183;p3"/>
          <p:cNvSpPr txBox="1"/>
          <p:nvPr/>
        </p:nvSpPr>
        <p:spPr>
          <a:xfrm>
            <a:off x="495740" y="4991949"/>
            <a:ext cx="264695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600" dirty="0" smtClean="0">
                <a:solidFill>
                  <a:srgbClr val="C00000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ღილაკი </a:t>
            </a:r>
            <a:r>
              <a:rPr lang="ka-GE" sz="1600" dirty="0">
                <a:solidFill>
                  <a:srgbClr val="C00000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( &lt;</a:t>
            </a:r>
            <a:r>
              <a:rPr lang="en-US" sz="1600" dirty="0">
                <a:solidFill>
                  <a:srgbClr val="C00000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button&gt; 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r="44641"/>
          <a:stretch/>
        </p:blipFill>
        <p:spPr>
          <a:xfrm>
            <a:off x="4574209" y="1578522"/>
            <a:ext cx="4084599" cy="209579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/>
          <a:srcRect b="19153"/>
          <a:stretch/>
        </p:blipFill>
        <p:spPr>
          <a:xfrm>
            <a:off x="4574209" y="3360730"/>
            <a:ext cx="4084599" cy="263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87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B234BCB-6E45-A17D-17ED-8D5456985B67}"/>
              </a:ext>
            </a:extLst>
          </p:cNvPr>
          <p:cNvSpPr/>
          <p:nvPr/>
        </p:nvSpPr>
        <p:spPr>
          <a:xfrm>
            <a:off x="0" y="-190498"/>
            <a:ext cx="12192001" cy="3368704"/>
          </a:xfrm>
          <a:prstGeom prst="roundRect">
            <a:avLst>
              <a:gd name="adj" fmla="val 5767"/>
            </a:avLst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95" name="Google Shape;195;p5"/>
          <p:cNvSpPr txBox="1"/>
          <p:nvPr/>
        </p:nvSpPr>
        <p:spPr>
          <a:xfrm>
            <a:off x="604792" y="3277742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&lt;</a:t>
            </a:r>
            <a:r>
              <a:rPr lang="ka-GE" sz="4400" b="1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!--</a:t>
            </a:r>
            <a:r>
              <a:rPr lang="ka-GE" sz="4400" b="1" dirty="0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ერთმანეთში ჩაშენებული თეგები</a:t>
            </a:r>
            <a:r>
              <a:rPr lang="ka-GE" sz="4400" b="1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--</a:t>
            </a:r>
            <a:r>
              <a:rPr lang="en-US" sz="4400" b="1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&gt;</a:t>
            </a:r>
            <a:endParaRPr sz="4400" b="1" dirty="0">
              <a:solidFill>
                <a:srgbClr val="F4DA33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292668" y="4186778"/>
            <a:ext cx="10786525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20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HTML-</a:t>
            </a:r>
            <a:r>
              <a:rPr lang="ka-GE" sz="1600" dirty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ის ერთ-ერთი მძლავრი თვისებაა ელემენტების ერთმანეთში ჩადგმის შესაძლებლობა. ეს </a:t>
            </a:r>
            <a:r>
              <a:rPr lang="ka-GE" sz="1600" dirty="0" smtClean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საშუალებას</a:t>
            </a:r>
            <a:r>
              <a:rPr lang="en-US" sz="1600" dirty="0" smtClean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lang="ka-GE" sz="1600" dirty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გვაძლევს შევქმნათ </a:t>
            </a:r>
            <a:r>
              <a:rPr lang="ka-GE" sz="1600" dirty="0">
                <a:solidFill>
                  <a:srgbClr val="D52A7B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კომპლექსური სტრუქტურები და იერარქიები.</a:t>
            </a:r>
          </a:p>
          <a:p>
            <a:pPr marL="285750" lvl="0" indent="-285750">
              <a:lnSpc>
                <a:spcPct val="20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600" dirty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ჩაშენებული სტრუქტურის შექმნისას, </a:t>
            </a:r>
            <a:r>
              <a:rPr lang="ka-GE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შიდა ელემენტი მთლიანად უნდა მოთავსდეს გარე ელემენტის შიგნით.</a:t>
            </a: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2"/>
          </p:nvPr>
        </p:nvPicPr>
        <p:blipFill rotWithShape="1">
          <a:blip r:embed="rId4"/>
          <a:srcRect l="1034" t="-2295" r="11046" b="-30842"/>
          <a:stretch/>
        </p:blipFill>
        <p:spPr>
          <a:xfrm>
            <a:off x="292668" y="172879"/>
            <a:ext cx="9366237" cy="33900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5411531" y="1341153"/>
            <a:ext cx="5245768" cy="2421556"/>
          </a:xfrm>
          <a:prstGeom prst="roundRect">
            <a:avLst>
              <a:gd name="adj" fmla="val 4634"/>
            </a:avLst>
          </a:prstGeom>
          <a:solidFill>
            <a:srgbClr val="0513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69" name="Google Shape;169;p2"/>
          <p:cNvSpPr txBox="1"/>
          <p:nvPr/>
        </p:nvSpPr>
        <p:spPr>
          <a:xfrm>
            <a:off x="3579338" y="254737"/>
            <a:ext cx="350286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a-GE" sz="4400" b="1" cap="all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&lt;!--</a:t>
            </a:r>
            <a:r>
              <a:rPr lang="ka-GE" sz="4400" b="1" cap="all" dirty="0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სიები</a:t>
            </a:r>
            <a:r>
              <a:rPr lang="ka-GE" sz="4400" b="1" cap="all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--&gt;</a:t>
            </a:r>
            <a:endParaRPr lang="ka-GE" sz="4400" b="1" cap="all" dirty="0">
              <a:solidFill>
                <a:srgbClr val="1F51FF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569509" y="2006598"/>
            <a:ext cx="3457323" cy="791590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5496392" y="4071060"/>
            <a:ext cx="5245768" cy="2421556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5" name="Google Shape;183;p3"/>
          <p:cNvSpPr txBox="1"/>
          <p:nvPr/>
        </p:nvSpPr>
        <p:spPr>
          <a:xfrm>
            <a:off x="8692908" y="1936458"/>
            <a:ext cx="220934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600" dirty="0" smtClean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ვაშლი</a:t>
            </a:r>
          </a:p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600" dirty="0" smtClean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ბანანი</a:t>
            </a:r>
          </a:p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600" dirty="0" smtClean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ფორთოხალი</a:t>
            </a:r>
            <a:endParaRPr sz="1600" dirty="0">
              <a:solidFill>
                <a:schemeClr val="bg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sp>
        <p:nvSpPr>
          <p:cNvPr id="16" name="Google Shape;183;p3"/>
          <p:cNvSpPr txBox="1"/>
          <p:nvPr/>
        </p:nvSpPr>
        <p:spPr>
          <a:xfrm>
            <a:off x="5537010" y="1740693"/>
            <a:ext cx="2688161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lt1"/>
              </a:buClr>
              <a:buSzPts val="1600"/>
            </a:pPr>
            <a:r>
              <a:rPr lang="it-IT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&lt;ul&gt;</a:t>
            </a:r>
          </a:p>
          <a:p>
            <a:pPr lvl="0">
              <a:buClr>
                <a:schemeClr val="lt1"/>
              </a:buClr>
              <a:buSzPts val="1600"/>
            </a:pPr>
            <a:r>
              <a:rPr lang="ka-GE" sz="1600" dirty="0" smtClean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   </a:t>
            </a:r>
            <a:r>
              <a:rPr lang="it-IT" sz="1600" dirty="0" smtClean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</a:t>
            </a:r>
            <a:r>
              <a:rPr lang="it-IT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li&gt;ვაშლი&lt;/li</a:t>
            </a:r>
            <a:r>
              <a:rPr lang="it-IT" sz="1600" dirty="0" smtClean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&gt;</a:t>
            </a:r>
            <a:endParaRPr lang="ka-GE" sz="1600" dirty="0" smtClean="0">
              <a:solidFill>
                <a:schemeClr val="bg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>
              <a:buClr>
                <a:schemeClr val="lt1"/>
              </a:buClr>
              <a:buSzPts val="1600"/>
            </a:pPr>
            <a:r>
              <a:rPr lang="ka-GE" sz="1600" dirty="0" smtClean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   </a:t>
            </a:r>
            <a:r>
              <a:rPr lang="it-IT" sz="1600" dirty="0" smtClean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</a:t>
            </a:r>
            <a:r>
              <a:rPr lang="it-IT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li&gt;ბანანი&lt;/li&gt;</a:t>
            </a:r>
          </a:p>
          <a:p>
            <a:pPr lvl="0">
              <a:buClr>
                <a:schemeClr val="lt1"/>
              </a:buClr>
              <a:buSzPts val="1600"/>
            </a:pPr>
            <a:r>
              <a:rPr lang="ka-GE" sz="1600" dirty="0" smtClean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   </a:t>
            </a:r>
            <a:r>
              <a:rPr lang="it-IT" sz="1600" dirty="0" smtClean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</a:t>
            </a:r>
            <a:r>
              <a:rPr lang="it-IT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li&gt;ფორთოხალი&lt;/li&gt;</a:t>
            </a:r>
          </a:p>
          <a:p>
            <a:pPr lvl="0">
              <a:buClr>
                <a:schemeClr val="lt1"/>
              </a:buClr>
              <a:buSzPts val="1600"/>
            </a:pPr>
            <a:r>
              <a:rPr lang="it-IT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&lt;/ul&gt;</a:t>
            </a:r>
            <a:endParaRPr sz="1600" dirty="0">
              <a:solidFill>
                <a:schemeClr val="bg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sp>
        <p:nvSpPr>
          <p:cNvPr id="17" name="Google Shape;183;p3"/>
          <p:cNvSpPr txBox="1"/>
          <p:nvPr/>
        </p:nvSpPr>
        <p:spPr>
          <a:xfrm>
            <a:off x="5631584" y="4579025"/>
            <a:ext cx="2901228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lt1"/>
              </a:buClr>
              <a:buSzPts val="1600"/>
            </a:pPr>
            <a:r>
              <a:rPr lang="it-IT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&lt;ol&gt;</a:t>
            </a:r>
          </a:p>
          <a:p>
            <a:pPr lvl="0">
              <a:buClr>
                <a:schemeClr val="lt1"/>
              </a:buClr>
              <a:buSzPts val="1600"/>
            </a:pPr>
            <a:r>
              <a:rPr lang="ka-GE" sz="1600" dirty="0" smtClean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    </a:t>
            </a:r>
            <a:r>
              <a:rPr lang="it-IT" sz="1600" dirty="0" smtClean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</a:t>
            </a:r>
            <a:r>
              <a:rPr lang="it-IT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li&gt;</a:t>
            </a:r>
            <a:r>
              <a:rPr lang="ka-GE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პირველი ნაბიჯი&lt;/</a:t>
            </a:r>
            <a:r>
              <a:rPr lang="it-IT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li&gt;</a:t>
            </a:r>
          </a:p>
          <a:p>
            <a:pPr lvl="0">
              <a:buClr>
                <a:schemeClr val="lt1"/>
              </a:buClr>
              <a:buSzPts val="1600"/>
            </a:pPr>
            <a:r>
              <a:rPr lang="ka-GE" sz="1600" dirty="0" smtClean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    </a:t>
            </a:r>
            <a:r>
              <a:rPr lang="it-IT" sz="1600" dirty="0" smtClean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</a:t>
            </a:r>
            <a:r>
              <a:rPr lang="it-IT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li&gt;</a:t>
            </a:r>
            <a:r>
              <a:rPr lang="ka-GE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მეორე ნაბიჯი&lt;/</a:t>
            </a:r>
            <a:r>
              <a:rPr lang="it-IT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li&gt;</a:t>
            </a:r>
          </a:p>
          <a:p>
            <a:pPr lvl="0">
              <a:buClr>
                <a:schemeClr val="lt1"/>
              </a:buClr>
              <a:buSzPts val="1600"/>
            </a:pPr>
            <a:r>
              <a:rPr lang="ka-GE" sz="1600" dirty="0" smtClean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    </a:t>
            </a:r>
            <a:r>
              <a:rPr lang="it-IT" sz="1600" dirty="0" smtClean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</a:t>
            </a:r>
            <a:r>
              <a:rPr lang="it-IT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li&gt;</a:t>
            </a:r>
            <a:r>
              <a:rPr lang="ka-GE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მესამე ნაბიჯი&lt;/</a:t>
            </a:r>
            <a:r>
              <a:rPr lang="it-IT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li&gt;</a:t>
            </a:r>
          </a:p>
          <a:p>
            <a:pPr lvl="0">
              <a:buClr>
                <a:schemeClr val="lt1"/>
              </a:buClr>
              <a:buSzPts val="1600"/>
            </a:pPr>
            <a:r>
              <a:rPr lang="it-IT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&lt;/ol&gt;</a:t>
            </a:r>
          </a:p>
        </p:txBody>
      </p:sp>
      <p:sp>
        <p:nvSpPr>
          <p:cNvPr id="18" name="Google Shape;183;p3"/>
          <p:cNvSpPr txBox="1"/>
          <p:nvPr/>
        </p:nvSpPr>
        <p:spPr>
          <a:xfrm>
            <a:off x="8833282" y="4825246"/>
            <a:ext cx="220934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lt1"/>
              </a:buClr>
              <a:buSzPts val="1600"/>
            </a:pPr>
            <a:r>
              <a:rPr lang="ka-GE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1. პირველი ნაბიჯი</a:t>
            </a:r>
          </a:p>
          <a:p>
            <a:pPr lvl="0">
              <a:buClr>
                <a:schemeClr val="lt1"/>
              </a:buClr>
              <a:buSzPts val="1600"/>
            </a:pPr>
            <a:r>
              <a:rPr lang="ka-GE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2. მეორე ნაბიჯი</a:t>
            </a:r>
          </a:p>
          <a:p>
            <a:pPr lvl="0">
              <a:buClr>
                <a:schemeClr val="lt1"/>
              </a:buClr>
              <a:buSzPts val="1600"/>
            </a:pPr>
            <a:r>
              <a:rPr lang="ka-GE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3. მესამე ნაბიჯი</a:t>
            </a:r>
            <a:endParaRPr lang="ka-GE" sz="1600" dirty="0" smtClean="0">
              <a:solidFill>
                <a:schemeClr val="bg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sp>
        <p:nvSpPr>
          <p:cNvPr id="19" name="Google Shape;174;p2"/>
          <p:cNvSpPr txBox="1"/>
          <p:nvPr/>
        </p:nvSpPr>
        <p:spPr>
          <a:xfrm>
            <a:off x="569509" y="2090346"/>
            <a:ext cx="492688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a-GE" sz="28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დაუნომრავი სია</a:t>
            </a:r>
            <a:endParaRPr sz="28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sp>
        <p:nvSpPr>
          <p:cNvPr id="21" name="Google Shape;171;p2"/>
          <p:cNvSpPr/>
          <p:nvPr/>
        </p:nvSpPr>
        <p:spPr>
          <a:xfrm>
            <a:off x="569509" y="4449135"/>
            <a:ext cx="3457323" cy="791590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74;p2"/>
          <p:cNvSpPr txBox="1"/>
          <p:nvPr/>
        </p:nvSpPr>
        <p:spPr>
          <a:xfrm>
            <a:off x="590032" y="4563690"/>
            <a:ext cx="492688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a-GE" sz="28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დანომრილი სია</a:t>
            </a:r>
            <a:endParaRPr sz="28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FAD63D-8ABB-8EE6-A946-0B8BDB7F972E}"/>
              </a:ext>
            </a:extLst>
          </p:cNvPr>
          <p:cNvSpPr/>
          <p:nvPr/>
        </p:nvSpPr>
        <p:spPr>
          <a:xfrm>
            <a:off x="6932140" y="1434652"/>
            <a:ext cx="4591165" cy="3945589"/>
          </a:xfrm>
          <a:prstGeom prst="roundRect">
            <a:avLst>
              <a:gd name="adj" fmla="val 4634"/>
            </a:avLst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0" name="Google Shape;180;p3"/>
          <p:cNvSpPr txBox="1"/>
          <p:nvPr/>
        </p:nvSpPr>
        <p:spPr>
          <a:xfrm>
            <a:off x="2033009" y="449807"/>
            <a:ext cx="11720969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a-GE" sz="4400" b="1" cap="all" dirty="0" smtClean="0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&lt;!--</a:t>
            </a:r>
            <a:r>
              <a:rPr lang="en-US" sz="4400" b="1" cap="all" dirty="0" smtClean="0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 </a:t>
            </a:r>
            <a:r>
              <a:rPr lang="en-US" sz="4400" b="1" cap="all" dirty="0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ჩ</a:t>
            </a:r>
            <a:r>
              <a:rPr lang="ka-GE" sz="4400" b="1" cap="all" dirty="0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ადგმული სიები</a:t>
            </a:r>
            <a:r>
              <a:rPr lang="ka-GE" sz="4400" b="1" cap="all" dirty="0" smtClean="0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--&gt;</a:t>
            </a:r>
            <a:endParaRPr lang="ka-GE" sz="4400" b="1" cap="all" dirty="0" smtClean="0">
              <a:solidFill>
                <a:srgbClr val="1F51FF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a-GE" b="1" cap="all" dirty="0"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Noto Sans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534710" y="2596212"/>
            <a:ext cx="5336707" cy="1171853"/>
          </a:xfrm>
          <a:prstGeom prst="roundRect">
            <a:avLst>
              <a:gd name="adj" fmla="val 3038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600025" y="2879096"/>
            <a:ext cx="466513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lt1"/>
              </a:buClr>
              <a:buSzPts val="1600"/>
            </a:pP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შესაძლებელია სიების ერთმანეთში ჩადგმა კომპლექსური სტრუქტურების შესაქმნელად.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960" y="2026323"/>
            <a:ext cx="2381582" cy="26102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6595E6D-2DCD-D5BE-5ECA-C418628EC889}"/>
              </a:ext>
            </a:extLst>
          </p:cNvPr>
          <p:cNvSpPr/>
          <p:nvPr/>
        </p:nvSpPr>
        <p:spPr>
          <a:xfrm>
            <a:off x="6280867" y="2002988"/>
            <a:ext cx="3981719" cy="2574524"/>
          </a:xfrm>
          <a:prstGeom prst="roundRect">
            <a:avLst>
              <a:gd name="adj" fmla="val 5767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8" name="Google Shape;188;p4"/>
          <p:cNvSpPr txBox="1"/>
          <p:nvPr/>
        </p:nvSpPr>
        <p:spPr>
          <a:xfrm>
            <a:off x="2032375" y="715726"/>
            <a:ext cx="717693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a-GE" sz="4000" b="1" cap="all" dirty="0" smtClean="0">
                <a:solidFill>
                  <a:srgbClr val="D52A7B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&lt;!--</a:t>
            </a:r>
            <a:r>
              <a:rPr lang="ka-GE" sz="4000" b="1" cap="all" dirty="0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სიების ატრიბუტები</a:t>
            </a:r>
            <a:r>
              <a:rPr lang="ka-GE" sz="4000" b="1" cap="all" dirty="0" smtClean="0">
                <a:solidFill>
                  <a:srgbClr val="D52A7B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--&gt;</a:t>
            </a:r>
            <a:endParaRPr sz="4000" cap="all" dirty="0"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576800" y="2002988"/>
            <a:ext cx="55192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</a:t>
            </a:r>
            <a:r>
              <a:rPr lang="en-US" sz="1600" dirty="0" err="1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ol</a:t>
            </a: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type="A"&gt; :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ანიჭებს სიას ლათინური ასოებით დანომვრას (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A, B, C...)</a:t>
            </a:r>
          </a:p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dirty="0">
                <a:solidFill>
                  <a:srgbClr val="6DC034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</a:t>
            </a:r>
            <a:r>
              <a:rPr lang="en-US" sz="1600" dirty="0" err="1">
                <a:solidFill>
                  <a:srgbClr val="6DC034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ol</a:t>
            </a:r>
            <a:r>
              <a:rPr lang="en-US" sz="1600" dirty="0">
                <a:solidFill>
                  <a:srgbClr val="6DC034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start="5"&gt;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: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იწყებს დანომვრას მითითებული რიცხვიდან</a:t>
            </a:r>
          </a:p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dirty="0" smtClean="0">
                <a:solidFill>
                  <a:srgbClr val="D52A7B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</a:t>
            </a:r>
            <a:r>
              <a:rPr lang="en-US" sz="1600" dirty="0" err="1" smtClean="0">
                <a:solidFill>
                  <a:srgbClr val="D52A7B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ul</a:t>
            </a:r>
            <a:r>
              <a:rPr lang="en-US" sz="1600" dirty="0" smtClean="0">
                <a:solidFill>
                  <a:srgbClr val="D52A7B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style="list-style-type: square"&gt; 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: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ცვლის დაუნომრავი სიის მარკერების 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სტილს</a:t>
            </a:r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241" y="2223301"/>
            <a:ext cx="2800741" cy="1066949"/>
          </a:xfrm>
          <a:prstGeom prst="rect">
            <a:avLst/>
          </a:prstGeom>
        </p:spPr>
      </p:pic>
      <p:sp>
        <p:nvSpPr>
          <p:cNvPr id="9" name="Google Shape;183;p3"/>
          <p:cNvSpPr txBox="1"/>
          <p:nvPr/>
        </p:nvSpPr>
        <p:spPr>
          <a:xfrm>
            <a:off x="6348507" y="3510563"/>
            <a:ext cx="251881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C. </a:t>
            </a:r>
            <a:r>
              <a:rPr lang="ka-GE" sz="1600" dirty="0" smtClean="0">
                <a:solidFill>
                  <a:schemeClr val="tx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მესამე პუნქტი</a:t>
            </a:r>
          </a:p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D. </a:t>
            </a:r>
            <a:r>
              <a:rPr lang="ka-GE" sz="1600" dirty="0" smtClean="0">
                <a:solidFill>
                  <a:schemeClr val="tx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მეოთხე პუნქტი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6362298" y="1617044"/>
            <a:ext cx="5245768" cy="4591251"/>
          </a:xfrm>
          <a:prstGeom prst="roundRect">
            <a:avLst>
              <a:gd name="adj" fmla="val 463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" t="10075" r="36702" b="-686"/>
          <a:stretch/>
        </p:blipFill>
        <p:spPr>
          <a:xfrm>
            <a:off x="6384457" y="1982993"/>
            <a:ext cx="5223609" cy="4293520"/>
          </a:xfrm>
          <a:prstGeom prst="roundRect">
            <a:avLst>
              <a:gd name="adj" fmla="val 4927"/>
            </a:avLst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9" name="Google Shape;169;p2"/>
          <p:cNvSpPr txBox="1"/>
          <p:nvPr/>
        </p:nvSpPr>
        <p:spPr>
          <a:xfrm>
            <a:off x="2984861" y="453833"/>
            <a:ext cx="537536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a-GE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&lt;!--</a:t>
            </a:r>
            <a:r>
              <a:rPr kumimoji="0" lang="en-US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kumimoji="0" lang="ka-GE" sz="4400" b="1" i="0" u="none" strike="noStrike" kern="0" cap="all" spc="0" normalizeH="0" baseline="0" noProof="0" dirty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ცხრილები </a:t>
            </a:r>
            <a:r>
              <a:rPr kumimoji="0" lang="ka-GE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--&gt;</a:t>
            </a:r>
          </a:p>
        </p:txBody>
      </p:sp>
      <p:sp>
        <p:nvSpPr>
          <p:cNvPr id="171" name="Google Shape;171;p2"/>
          <p:cNvSpPr/>
          <p:nvPr/>
        </p:nvSpPr>
        <p:spPr>
          <a:xfrm>
            <a:off x="654518" y="1617044"/>
            <a:ext cx="5441482" cy="4591251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3;p3"/>
          <p:cNvSpPr txBox="1"/>
          <p:nvPr/>
        </p:nvSpPr>
        <p:spPr>
          <a:xfrm>
            <a:off x="742847" y="2404584"/>
            <a:ext cx="5353153" cy="276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&lt;Table&gt;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გამოიყენება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HTML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ცხრილის განსაზღვრისთვის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6DC034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&lt;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6DC034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tr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6DC034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&gt;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განსაზღვრავს ცხრილის სტრიქონს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&lt;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th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&gt;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განსაზღვრავს ცხრილის სათაურს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8F3FB3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&lt;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8F3FB3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td&gt;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განსაზღვრავს ცხრილის ინფორმაციას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&lt;caption&gt;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აღნიშნავს სათაურს ან ცხრილის აღწერას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&lt;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thead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&gt;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header-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ის კონტენტი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6DC034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&lt;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6DC034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tbody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6DC034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&gt;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tbody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-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ის კონტენტი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&lt;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tfoot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&gt;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foot-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ის კონტენტი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8585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B234BCB-6E45-A17D-17ED-8D5456985B67}"/>
              </a:ext>
            </a:extLst>
          </p:cNvPr>
          <p:cNvSpPr/>
          <p:nvPr/>
        </p:nvSpPr>
        <p:spPr>
          <a:xfrm>
            <a:off x="0" y="-190498"/>
            <a:ext cx="12192001" cy="4400550"/>
          </a:xfrm>
          <a:prstGeom prst="roundRect">
            <a:avLst>
              <a:gd name="adj" fmla="val 57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2565398" y="4709130"/>
            <a:ext cx="909546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a-GE" sz="4400" b="1" i="0" u="none" strike="noStrike" kern="0" cap="none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/*</a:t>
            </a:r>
            <a:r>
              <a:rPr kumimoji="0" lang="ka-GE" sz="4400" b="1" i="0" u="none" strike="noStrike" kern="0" cap="none" spc="0" normalizeH="0" baseline="0" noProof="0" dirty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ჩარჩოების განხილვა</a:t>
            </a:r>
            <a:r>
              <a:rPr kumimoji="0" lang="ka-GE" sz="4400" b="1" i="0" u="none" strike="noStrike" kern="0" cap="none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*/</a:t>
            </a:r>
            <a:endParaRPr kumimoji="0" sz="4400" b="1" i="0" u="none" strike="noStrike" kern="0" cap="none" spc="0" normalizeH="0" baseline="0" noProof="0" dirty="0">
              <a:ln>
                <a:noFill/>
              </a:ln>
              <a:solidFill>
                <a:srgbClr val="F4DA33"/>
              </a:solidFill>
              <a:effectLst/>
              <a:uLnTx/>
              <a:uFillTx/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2"/>
          </p:nvPr>
        </p:nvPicPr>
        <p:blipFill rotWithShape="1">
          <a:blip r:embed="rId4"/>
          <a:srcRect l="-4063" t="-9089" r="-352162" b="-2881"/>
          <a:stretch/>
        </p:blipFill>
        <p:spPr>
          <a:xfrm>
            <a:off x="457690" y="-124397"/>
            <a:ext cx="11949594" cy="34949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3306" y="146710"/>
            <a:ext cx="2428784" cy="37232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1860" y="0"/>
            <a:ext cx="2776124" cy="373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31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FAD63D-8ABB-8EE6-A946-0B8BDB7F972E}"/>
              </a:ext>
            </a:extLst>
          </p:cNvPr>
          <p:cNvSpPr/>
          <p:nvPr/>
        </p:nvSpPr>
        <p:spPr>
          <a:xfrm>
            <a:off x="6200777" y="1617044"/>
            <a:ext cx="5336705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576800" y="523945"/>
            <a:ext cx="11720969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all" spc="0" normalizeH="0" baseline="0" noProof="0" dirty="0">
                <a:ln>
                  <a:noFill/>
                </a:ln>
                <a:solidFill>
                  <a:srgbClr val="6DC034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/* </a:t>
            </a:r>
            <a:r>
              <a:rPr kumimoji="0" lang="en-US" sz="4400" b="1" i="0" u="none" strike="noStrike" kern="0" cap="all" spc="0" normalizeH="0" baseline="0" noProof="0" dirty="0" err="1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css</a:t>
            </a:r>
            <a:r>
              <a:rPr kumimoji="0" lang="en-US" sz="4400" b="1" i="0" u="none" strike="noStrike" kern="0" cap="all" spc="0" normalizeH="0" baseline="0" noProof="0" dirty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-</a:t>
            </a:r>
            <a:r>
              <a:rPr kumimoji="0" lang="ka-GE" sz="4400" b="1" i="0" u="none" strike="noStrike" kern="0" cap="all" spc="0" normalizeH="0" baseline="0" noProof="0" dirty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ის </a:t>
            </a:r>
            <a:r>
              <a:rPr kumimoji="0" lang="en-US" sz="4400" b="1" i="0" u="none" strike="noStrike" kern="0" cap="all" spc="0" normalizeH="0" baseline="0" noProof="0" dirty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html</a:t>
            </a:r>
            <a:r>
              <a:rPr kumimoji="0" lang="ka-GE" sz="4400" b="1" i="0" u="none" strike="noStrike" kern="0" cap="all" spc="0" normalizeH="0" baseline="0" noProof="0" dirty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-ში შემოტანის 3 გზა</a:t>
            </a:r>
            <a:r>
              <a:rPr kumimoji="0" lang="en-US" sz="4400" b="1" i="0" u="none" strike="noStrike" kern="0" cap="all" spc="0" normalizeH="0" baseline="0" noProof="0" dirty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 </a:t>
            </a:r>
            <a:r>
              <a:rPr kumimoji="0" lang="en-US" sz="4400" b="1" i="0" u="none" strike="noStrike" kern="0" cap="all" spc="0" normalizeH="0" baseline="0" noProof="0" dirty="0">
                <a:ln>
                  <a:noFill/>
                </a:ln>
                <a:solidFill>
                  <a:srgbClr val="6DC034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*/</a:t>
            </a:r>
            <a:endParaRPr kumimoji="0" lang="ka-GE" sz="4400" b="1" i="0" u="none" strike="noStrike" kern="0" cap="all" spc="0" normalizeH="0" baseline="0" noProof="0" dirty="0">
              <a:ln>
                <a:noFill/>
              </a:ln>
              <a:solidFill>
                <a:srgbClr val="6DC034"/>
              </a:solidFill>
              <a:effectLst/>
              <a:uLnTx/>
              <a:uFillTx/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Noto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a-GE" sz="1400" b="1" i="0" u="none" strike="noStrike" kern="0" cap="all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Noto Sans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764196" y="1645810"/>
            <a:ext cx="5336707" cy="4564681"/>
          </a:xfrm>
          <a:prstGeom prst="roundRect">
            <a:avLst>
              <a:gd name="adj" fmla="val 3038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" r="128"/>
          <a:stretch>
            <a:fillRect/>
          </a:stretch>
        </p:blipFill>
        <p:spPr>
          <a:xfrm>
            <a:off x="6600272" y="1950541"/>
            <a:ext cx="4745577" cy="4082156"/>
          </a:xfrm>
          <a:prstGeom prst="roundRect">
            <a:avLst>
              <a:gd name="adj" fmla="val 4927"/>
            </a:avLst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183" name="Google Shape;183;p3"/>
          <p:cNvSpPr txBox="1"/>
          <p:nvPr/>
        </p:nvSpPr>
        <p:spPr>
          <a:xfrm>
            <a:off x="964787" y="1810171"/>
            <a:ext cx="4665133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Inline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css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-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გამოიყენება ცალკეული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HTML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ელემენტის სტილის განსაზღვრისთვის. ის იწერება ელემენტის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style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ატრიბუტში.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sp>
        <p:nvSpPr>
          <p:cNvPr id="2" name="Google Shape;183;p3">
            <a:extLst>
              <a:ext uri="{FF2B5EF4-FFF2-40B4-BE49-F238E27FC236}">
                <a16:creationId xmlns:a16="http://schemas.microsoft.com/office/drawing/2014/main" id="{B71A62C4-3780-5E10-D18A-6F7F2CEB3787}"/>
              </a:ext>
            </a:extLst>
          </p:cNvPr>
          <p:cNvSpPr txBox="1"/>
          <p:nvPr/>
        </p:nvSpPr>
        <p:spPr>
          <a:xfrm>
            <a:off x="964787" y="3102792"/>
            <a:ext cx="4665133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Internal CSS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იწერება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HTML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დოკუმენტის &lt;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head&gt;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სექციაში, &lt;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style&gt;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ტეგის შიგნით. ის საშუალებას გვაძლევს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განვსაზღვროთ სტილები მთელი გვერდისთვის.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sp>
        <p:nvSpPr>
          <p:cNvPr id="3" name="Google Shape;183;p3">
            <a:extLst>
              <a:ext uri="{FF2B5EF4-FFF2-40B4-BE49-F238E27FC236}">
                <a16:creationId xmlns:a16="http://schemas.microsoft.com/office/drawing/2014/main" id="{8621B263-5466-BC1C-16FB-0D973DE301A1}"/>
              </a:ext>
            </a:extLst>
          </p:cNvPr>
          <p:cNvSpPr txBox="1"/>
          <p:nvPr/>
        </p:nvSpPr>
        <p:spPr>
          <a:xfrm>
            <a:off x="964787" y="4532433"/>
            <a:ext cx="4665133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External CSS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არის ყველაზე მოქნილი და ფართოდ გამოყენებადი მეთოდი. ამ შემთხვევაში,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CSS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კოდი იწერება ცალკე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css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ფაილში და უკავშირდება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HTML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დოკუმენტს &lt;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link&gt;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ტეგის საშუალებით.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1490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6595E6D-2DCD-D5BE-5ECA-C418628EC889}"/>
              </a:ext>
            </a:extLst>
          </p:cNvPr>
          <p:cNvSpPr/>
          <p:nvPr/>
        </p:nvSpPr>
        <p:spPr>
          <a:xfrm>
            <a:off x="5757530" y="3588757"/>
            <a:ext cx="6249881" cy="1020931"/>
          </a:xfrm>
          <a:prstGeom prst="roundRect">
            <a:avLst>
              <a:gd name="adj" fmla="val 5767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3954483" y="733111"/>
            <a:ext cx="392988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a-GE" sz="4000" b="1" i="0" u="none" strike="noStrike" kern="0" cap="all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/* </a:t>
            </a:r>
            <a:r>
              <a:rPr kumimoji="0" lang="en-US" sz="4000" b="1" i="0" u="none" strike="noStrike" kern="0" cap="all" spc="0" normalizeH="0" baseline="0" noProof="0" dirty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inline </a:t>
            </a:r>
            <a:r>
              <a:rPr kumimoji="0" lang="en-US" sz="4000" b="1" i="0" u="none" strike="noStrike" kern="0" cap="all" spc="0" normalizeH="0" baseline="0" noProof="0" dirty="0" err="1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css</a:t>
            </a:r>
            <a:r>
              <a:rPr kumimoji="0" lang="ka-GE" sz="4000" b="1" i="0" u="none" strike="noStrike" kern="0" cap="all" spc="0" normalizeH="0" baseline="0" noProof="0" dirty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kumimoji="0" lang="ka-GE" sz="4000" b="1" i="0" u="none" strike="noStrike" kern="0" cap="all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*/</a:t>
            </a:r>
            <a:endParaRPr kumimoji="0" sz="4000" b="1" i="0" u="none" strike="noStrike" kern="0" cap="all" spc="0" normalizeH="0" baseline="0" noProof="0" dirty="0">
              <a:ln>
                <a:noFill/>
              </a:ln>
              <a:solidFill>
                <a:srgbClr val="D52A7B"/>
              </a:solidFill>
              <a:effectLst/>
              <a:uLnTx/>
              <a:uFillTx/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576800" y="2180278"/>
            <a:ext cx="55192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6DC034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უპირატესობები: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სწრაფი და მარტივი გამოსაყენებლად მცირე ცვლილებებისთვის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ყველაზე მაღალი პრიორიტეტი აქვს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CSS 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იერარქიაში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endParaRPr kumimoji="0" lang="ka-GE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ნაკლოვანებები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არ არის ეფექტური, როცა ერთი და იგივე სტილი მრავალჯერ მეორდება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ართულებს კოდის წაკითხვას და მოვლას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531" y="3818195"/>
            <a:ext cx="6249880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247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6595E6D-2DCD-D5BE-5ECA-C418628EC889}"/>
              </a:ext>
            </a:extLst>
          </p:cNvPr>
          <p:cNvSpPr/>
          <p:nvPr/>
        </p:nvSpPr>
        <p:spPr>
          <a:xfrm>
            <a:off x="5841506" y="1606858"/>
            <a:ext cx="6249881" cy="4429958"/>
          </a:xfrm>
          <a:prstGeom prst="roundRect">
            <a:avLst>
              <a:gd name="adj" fmla="val 5767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3251553" y="393487"/>
            <a:ext cx="495938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a-GE" sz="4000" b="1" i="0" u="none" strike="noStrike" kern="0" cap="all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/*</a:t>
            </a:r>
            <a:r>
              <a:rPr kumimoji="0" lang="en-US" sz="4000" b="1" i="0" u="none" strike="noStrike" kern="0" cap="all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Internal CSS</a:t>
            </a:r>
            <a:r>
              <a:rPr kumimoji="0" lang="ka-GE" sz="4000" b="1" i="0" u="none" strike="noStrike" kern="0" cap="all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*/</a:t>
            </a:r>
            <a:endParaRPr kumimoji="0" sz="4000" b="0" i="0" u="none" strike="noStrike" kern="0" cap="all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403768" y="2144767"/>
            <a:ext cx="4913956" cy="309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6DC034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უპირატესობები: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სტილები განსაზღვრულია ერთ ადგილას კონკრეტული გვერდისთვის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არ საჭიროებს დამატებითი ფაილების შექმნას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endParaRPr kumimoji="0" lang="ka-GE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ნაკლოვანებები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ზრდის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HTML 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ფაილის ზომას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არ არის ეფექტური, როცა იგივე სტილები გამოიყენება მრავალ გვერდზე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430" y="1740019"/>
            <a:ext cx="4906060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167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6595E6D-2DCD-D5BE-5ECA-C418628EC889}"/>
              </a:ext>
            </a:extLst>
          </p:cNvPr>
          <p:cNvSpPr/>
          <p:nvPr/>
        </p:nvSpPr>
        <p:spPr>
          <a:xfrm>
            <a:off x="5841507" y="1606858"/>
            <a:ext cx="5930284" cy="4287915"/>
          </a:xfrm>
          <a:prstGeom prst="roundRect">
            <a:avLst>
              <a:gd name="adj" fmla="val 5767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3539096" y="580057"/>
            <a:ext cx="524101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all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/</a:t>
            </a:r>
            <a:r>
              <a:rPr kumimoji="0" lang="ka-GE" sz="4000" b="1" i="0" u="none" strike="noStrike" kern="0" cap="all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* </a:t>
            </a:r>
            <a:r>
              <a:rPr kumimoji="0" lang="en-US" sz="4000" b="1" i="0" u="none" strike="noStrike" kern="0" cap="all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External CSS</a:t>
            </a:r>
            <a:r>
              <a:rPr kumimoji="0" lang="ka-GE" sz="4000" b="1" i="0" u="none" strike="noStrike" kern="0" cap="all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*/</a:t>
            </a:r>
            <a:endParaRPr kumimoji="0" lang="en-US" sz="4000" b="1" i="0" u="none" strike="noStrike" kern="0" cap="all" spc="0" normalizeH="0" baseline="0" noProof="0" dirty="0">
              <a:ln>
                <a:noFill/>
              </a:ln>
              <a:solidFill>
                <a:srgbClr val="D52A7B"/>
              </a:solidFill>
              <a:effectLst/>
              <a:uLnTx/>
              <a:uFillTx/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457927" y="1743227"/>
            <a:ext cx="4913956" cy="373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6DC034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უპირატესობები: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ერთი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CSS 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ფაილი შეიძლება გამოყენებულ იქნას მრავალი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HTML 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გვერდისთვის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აადვილებს კოდის მოვლას და განახლებას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ამცირებს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HTML 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ფაილების ზომას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endParaRPr kumimoji="0" lang="ka-GE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ნაკლოვანებები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საჭიროებს დამატებითი ფაილის შექმნას და მართვას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თუ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CSS 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ფაილი არ ჩაიტვირთა, გვერდი შეიძლება არასწორად გამოჩნდეს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231" y="2053946"/>
            <a:ext cx="5458587" cy="24482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3312" y="5299390"/>
            <a:ext cx="1609950" cy="58110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96275" y="4423826"/>
            <a:ext cx="16369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styles.css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ფაილი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3312" y="4793736"/>
            <a:ext cx="1495634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31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6595E6D-2DCD-D5BE-5ECA-C418628EC889}"/>
              </a:ext>
            </a:extLst>
          </p:cNvPr>
          <p:cNvSpPr/>
          <p:nvPr/>
        </p:nvSpPr>
        <p:spPr>
          <a:xfrm>
            <a:off x="6538318" y="0"/>
            <a:ext cx="5882281" cy="6858000"/>
          </a:xfrm>
          <a:prstGeom prst="roundRect">
            <a:avLst>
              <a:gd name="adj" fmla="val 5767"/>
            </a:avLst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191126" y="376561"/>
            <a:ext cx="1172096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all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/</a:t>
            </a:r>
            <a:r>
              <a:rPr kumimoji="0" lang="ka-GE" sz="3600" b="1" i="0" u="none" strike="noStrike" kern="0" cap="all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*</a:t>
            </a:r>
            <a:r>
              <a:rPr kumimoji="0" lang="en-US" sz="3600" b="1" i="0" u="none" strike="noStrike" kern="0" cap="all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kumimoji="0" lang="en-US" sz="2800" b="1" i="0" u="none" strike="noStrike" kern="0" cap="all" spc="0" normalizeH="0" baseline="0" noProof="0" dirty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CSS </a:t>
            </a:r>
            <a:r>
              <a:rPr kumimoji="0" lang="ka-GE" sz="2800" b="1" i="0" u="none" strike="noStrike" kern="0" cap="all" spc="0" normalizeH="0" baseline="0" noProof="0" dirty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სელექტორები, იერარქია</a:t>
            </a:r>
            <a:r>
              <a:rPr kumimoji="0" lang="en-US" sz="2800" b="1" i="0" u="none" strike="noStrike" kern="0" cap="all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kumimoji="0" lang="ka-GE" sz="2800" b="1" i="0" u="none" strike="noStrike" kern="0" cap="all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*</a:t>
            </a:r>
            <a:r>
              <a:rPr kumimoji="0" lang="en-US" sz="2800" b="1" i="0" u="none" strike="noStrike" kern="0" cap="all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/ </a:t>
            </a:r>
            <a:endParaRPr kumimoji="0" sz="2800" b="0" i="0" u="none" strike="noStrike" kern="0" cap="all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532411" y="1603493"/>
            <a:ext cx="55192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/>
            </a:r>
            <a:b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</a:b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იერარქია ზრდადობის მიხედვით: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1.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უნივერსალური სელექტორი (*)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2.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6DC034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ელემენტის სელექტორი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3.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კლასის სელექტორი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4.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8F3FB3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ID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8F3FB3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სელექტორი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5.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Inline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სტილი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6. 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!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important (</a:t>
            </a:r>
            <a:r>
              <a:rPr kumimoji="0" lang="ka-GE" sz="1600" b="0" i="0" u="none" strike="noStrike" kern="0" cap="none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გამოიყენეთ ფრთხილად)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F4DA33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850" y="699706"/>
            <a:ext cx="5775749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093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/>
          <p:nvPr/>
        </p:nvSpPr>
        <p:spPr>
          <a:xfrm>
            <a:off x="3248819" y="333955"/>
            <a:ext cx="455503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a-GE" sz="4000" b="1" cap="all" dirty="0" smtClean="0">
                <a:solidFill>
                  <a:srgbClr val="D52A7B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&lt;!--</a:t>
            </a:r>
            <a:r>
              <a:rPr lang="ka-GE" sz="4000" b="1" cap="all" dirty="0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დავალება</a:t>
            </a:r>
            <a:r>
              <a:rPr lang="ka-GE" sz="4000" b="1" cap="all" dirty="0" smtClean="0">
                <a:solidFill>
                  <a:srgbClr val="D52A7B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--&gt;</a:t>
            </a:r>
            <a:endParaRPr sz="4000" cap="all" dirty="0"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184731" y="1508332"/>
            <a:ext cx="11543665" cy="8956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შექმენით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თქვენი პირველი 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Html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გვერდი რომლის სათაური იქნება „ჩემი პირველი 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ვებ გვერდი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“, ხოლო გვერდის 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შინაარსი იქნება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„გამარჯობა მსოფლიო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!“</a:t>
            </a:r>
          </a:p>
          <a:p>
            <a:pPr marL="28575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დაწერეთ საკუთარი ავტობიაოგრაფია 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და შექმენით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შესაბამისი ვებ 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გვერდი.გამოიყენეთ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თეგები: &lt;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h1&gt;, &lt;h2&gt;, &lt;p&gt;, &lt;b</a:t>
            </a:r>
            <a: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&gt;,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</a:t>
            </a:r>
            <a:r>
              <a:rPr lang="en-US" sz="1600" dirty="0" err="1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i</a:t>
            </a:r>
            <a: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&gt;, &lt;</a:t>
            </a:r>
            <a:r>
              <a:rPr lang="en-US" sz="1600" dirty="0" err="1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br</a:t>
            </a:r>
            <a: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&gt;,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</a:t>
            </a:r>
            <a:r>
              <a:rPr lang="en-US" sz="1600" dirty="0" err="1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img</a:t>
            </a:r>
            <a: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&gt;</a:t>
            </a:r>
          </a:p>
          <a:p>
            <a:pPr marL="28575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შექმენით სამი 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Html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გვერდი: 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products.html, about.html, contacts.html.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თითოეულ გვერდში 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ჩაწერეთ</a:t>
            </a:r>
            <a: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შეასაბამისი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მცირე ინფორმაცია, რისთვისაც გამოიყენეთ თეგები: &lt;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h1&gt;, &lt;h2&gt;, &lt;p&gt;, &lt;b</a:t>
            </a:r>
            <a: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&gt;. &lt;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a&gt;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თეგის გამოყენებით დაუკავშირეთ ეს გვერდები ერთმანეთს 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ბმულებით;</a:t>
            </a:r>
          </a:p>
          <a:p>
            <a:pPr marL="28575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შექმენით გვერდი, სადაც მოცემულია თქვენი საყვარელი მუსიკალური ჟანრების ჩამონათვალი </a:t>
            </a:r>
            <a:r>
              <a:rPr lang="en-US" sz="1600" dirty="0" err="1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ul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(unordered list)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სტილში. ასევე დაამატეთ ჟანრის რამდენიმე მაგალითი სიმღერის სახით 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li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ელემენტებში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შექმენით ბლოგ პოსტის 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HTML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სტრუქტურა, სადაც </a:t>
            </a:r>
            <a: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article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თეგის შიგნით მოთავსებული იქნება 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h2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სათაური, 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p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ტექსტი, ხოლო ტექსტში გამოყენებული იქნება 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span, b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და </a:t>
            </a:r>
            <a:r>
              <a:rPr lang="en-US" sz="1600" dirty="0" err="1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i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თეგები სიტყვების გამოსაყოფად 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შექმენით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გვერდი, სადაც </a:t>
            </a:r>
            <a:r>
              <a:rPr lang="en-US" sz="1600" dirty="0" err="1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ol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სია ასახავს თქვენს ტოპ 5 ფილმს. თითოეულ 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li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ელემენტში ჩაწერეთ ფილმის სახელი და შიგნით ჩასვით </a:t>
            </a:r>
            <a:r>
              <a:rPr lang="en-US" sz="1600" dirty="0" err="1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ul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,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რომელშიც ჩამოთვლილია ამ ფილმის მთავარი 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პერსონაჟები</a:t>
            </a:r>
          </a:p>
          <a:p>
            <a:pPr marL="28575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endParaRPr lang="ka-GE" sz="1600" dirty="0" smtClean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endParaRPr lang="ka-GE" sz="1600" dirty="0" smtClean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endParaRPr lang="ka-GE" sz="1600" dirty="0" smtClean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endParaRPr lang="ka-GE" sz="1600" dirty="0" smtClean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endParaRPr lang="en-US" sz="1600" dirty="0" smtClean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endParaRPr lang="ka-GE" sz="1600" dirty="0" smtClean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endParaRPr lang="ka-GE" sz="1600" dirty="0" smtClean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endParaRPr lang="en-US" sz="1600" dirty="0" smtClean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endParaRPr lang="en-US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683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/>
          <p:nvPr/>
        </p:nvSpPr>
        <p:spPr>
          <a:xfrm>
            <a:off x="3251553" y="393487"/>
            <a:ext cx="495938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a-GE" sz="4000" b="1" i="0" u="none" strike="noStrike" kern="0" cap="all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/*</a:t>
            </a:r>
            <a:r>
              <a:rPr kumimoji="0" lang="en-US" sz="4000" b="1" i="0" u="none" strike="noStrike" kern="0" cap="all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დ</a:t>
            </a:r>
            <a:r>
              <a:rPr kumimoji="0" lang="ka-GE" sz="4000" b="1" i="0" u="none" strike="noStrike" kern="0" cap="all" spc="0" normalizeH="0" baseline="0" noProof="0" dirty="0">
                <a:ln>
                  <a:noFill/>
                </a:ln>
                <a:solidFill>
                  <a:srgbClr val="D52A7B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ავალება */</a:t>
            </a:r>
            <a:endParaRPr kumimoji="0" sz="4000" b="0" i="0" u="none" strike="noStrike" kern="0" cap="all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226486" y="1101333"/>
            <a:ext cx="12117914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1) შექმენით ცხრილი, რომელშიც მოცემული იქნება თქვენი საყვარელი წიგნები. ცხრილის პირველი სტრიქონი უნდა შეიცავდეს სათაურებს (მაგ., „დასახელება“, „ჟანრი“, „წელი“), ხოლო შემდეგი სტრიქონები -მონაცემებს თითოეული წიგნის შესახებ.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2)ზემოთ შედგენილ ცხრილის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th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 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და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td 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ელემენტებს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,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internal 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სტილად გაუწერეთ ჩარჩო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  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რომელიც იქნება უწყვეტი და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solid 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ტიპის.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3)ცხრილის ჩარჩოს გაუწერეთ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inline 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სტილად: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border-collapse: collapse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4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)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იმავე ცხრილის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th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 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ელემენტს გაუწერეთ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external 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სტილად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background-color: #f2f2f2;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 </a:t>
            </a:r>
            <a:b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</a:b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5)წარმოდგენილი ნიმუშის მიხედვით შექმენით ცხრილი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endParaRPr kumimoji="0" lang="ka-GE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endParaRPr kumimoji="0" lang="ka-GE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endParaRPr kumimoji="0" lang="ka-GE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endParaRPr kumimoji="0" lang="ka-GE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6)შექმენით სია, რომელშიც ჩამოწერეთ კვირის დღეებს. სიის თითოეულ ელემენტს გაუწერეთ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inline 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სტილად წითელი ფერი,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internal 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სტილში ჩაწერეთ მწვანე ფერი, ხოლო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external 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სტილში ყვითელი. მიღებული შედეგის მიხედვით, რომელი გზით გაწერილი სტილია უპირატესი?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7)გასულ ლექციაზე შესრულებულ დავალებაზე (თქვენი ავტობიოგრაფია) გააგრძელეთ მუშაობა და მიანჭეთ სტილები: </a:t>
            </a:r>
            <a:b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</a:b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სურათს გაუწერეთ სიგანე 400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px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, </a:t>
            </a:r>
            <a:r>
              <a:rPr kumimoji="0" lang="ka-G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თქვენი სახელი და გვარი დაწერეთ წითელი ფერით, გაუწერეთ ფონტის ზომა და თქვენი სურვლისამებრ  დაამატეთ სტილი დანარჩენს ელემენტებსაც.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47" y="3157803"/>
            <a:ext cx="3353268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095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41dcd3-7dc6-4696-bf59-c6211389010d">
      <Terms xmlns="http://schemas.microsoft.com/office/infopath/2007/PartnerControls"/>
    </lcf76f155ced4ddcb4097134ff3c332f>
    <TaxCatchAll xmlns="61bf6615-2d26-442b-9d24-621696d9153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D7AC2670F3EA419A4C8ED9E85832A6" ma:contentTypeVersion="12" ma:contentTypeDescription="Create a new document." ma:contentTypeScope="" ma:versionID="3d664fc42e50c7968de9b0f92673dc0c">
  <xsd:schema xmlns:xsd="http://www.w3.org/2001/XMLSchema" xmlns:xs="http://www.w3.org/2001/XMLSchema" xmlns:p="http://schemas.microsoft.com/office/2006/metadata/properties" xmlns:ns2="6641dcd3-7dc6-4696-bf59-c6211389010d" xmlns:ns3="61bf6615-2d26-442b-9d24-621696d9153b" targetNamespace="http://schemas.microsoft.com/office/2006/metadata/properties" ma:root="true" ma:fieldsID="865ce7a4538c4707173aaa984d7dbe48" ns2:_="" ns3:_="">
    <xsd:import namespace="6641dcd3-7dc6-4696-bf59-c6211389010d"/>
    <xsd:import namespace="61bf6615-2d26-442b-9d24-621696d915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41dcd3-7dc6-4696-bf59-c621138901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4b8e8dd-1825-4134-a8d0-63b7970bc4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bf6615-2d26-442b-9d24-621696d9153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81c3954-a2f3-4f37-897d-d66ac7e49cf3}" ma:internalName="TaxCatchAll" ma:showField="CatchAllData" ma:web="61bf6615-2d26-442b-9d24-621696d9153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E8887C-1181-4408-93E7-585542DE34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9CC135-CD56-4F8B-921B-D95EF0B22F3D}">
  <ds:schemaRefs>
    <ds:schemaRef ds:uri="http://schemas.microsoft.com/office/2006/metadata/properties"/>
    <ds:schemaRef ds:uri="http://schemas.microsoft.com/office/infopath/2007/PartnerControls"/>
    <ds:schemaRef ds:uri="6641dcd3-7dc6-4696-bf59-c6211389010d"/>
    <ds:schemaRef ds:uri="61bf6615-2d26-442b-9d24-621696d9153b"/>
  </ds:schemaRefs>
</ds:datastoreItem>
</file>

<file path=customXml/itemProps3.xml><?xml version="1.0" encoding="utf-8"?>
<ds:datastoreItem xmlns:ds="http://schemas.openxmlformats.org/officeDocument/2006/customXml" ds:itemID="{F1DD9B47-239A-4D21-A188-9674782BD7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41dcd3-7dc6-4696-bf59-c6211389010d"/>
    <ds:schemaRef ds:uri="61bf6615-2d26-442b-9d24-621696d915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795</Words>
  <Application>Microsoft Office PowerPoint</Application>
  <PresentationFormat>Widescreen</PresentationFormat>
  <Paragraphs>123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FiraGO Light</vt:lpstr>
      <vt:lpstr>FiraGO</vt:lpstr>
      <vt:lpstr>Calibri</vt:lpstr>
      <vt:lpstr>Noto Sans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ბაია გურაბანიძე</dc:creator>
  <cp:lastModifiedBy>Ani Beroshvili</cp:lastModifiedBy>
  <cp:revision>40</cp:revision>
  <dcterms:created xsi:type="dcterms:W3CDTF">2024-10-25T12:59:50Z</dcterms:created>
  <dcterms:modified xsi:type="dcterms:W3CDTF">2025-03-11T10:29:07Z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0x0101001FD7AC2670F3EA419A4C8ED9E85832A6</vt:lpwstr>
  </property>
</Properties>
</file>