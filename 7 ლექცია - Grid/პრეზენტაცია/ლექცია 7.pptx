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60" r:id="rId8"/>
    <p:sldId id="259" r:id="rId9"/>
    <p:sldId id="267" r:id="rId10"/>
    <p:sldId id="263" r:id="rId11"/>
    <p:sldId id="268" r:id="rId12"/>
    <p:sldId id="269" r:id="rId13"/>
    <p:sldId id="270" r:id="rId14"/>
    <p:sldId id="271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FiraGO" panose="020B0604020202020204" charset="0"/>
      <p:regular r:id="rId21"/>
      <p:bold r:id="rId22"/>
      <p:italic r:id="rId23"/>
      <p:boldItalic r:id="rId24"/>
    </p:embeddedFont>
    <p:embeddedFont>
      <p:font typeface="FiraGO Light" panose="020B0604020202020204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000000"/>
    <a:srgbClr val="1F1F1F"/>
    <a:srgbClr val="D52A7B"/>
    <a:srgbClr val="F97D7D"/>
    <a:srgbClr val="FBFBFB"/>
    <a:srgbClr val="1F51FF"/>
    <a:srgbClr val="F4DA33"/>
    <a:srgbClr val="29364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903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7118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3233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1008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2102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84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19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5966307" y="1938578"/>
            <a:ext cx="4810672" cy="3290817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9" name="Google Shape;169;p2"/>
          <p:cNvSpPr txBox="1"/>
          <p:nvPr/>
        </p:nvSpPr>
        <p:spPr>
          <a:xfrm>
            <a:off x="2532393" y="486029"/>
            <a:ext cx="583925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&lt;!–</a:t>
            </a:r>
            <a:r>
              <a:rPr lang="ka-GE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4400" b="1" cap="all" dirty="0" err="1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css</a:t>
            </a:r>
            <a:r>
              <a:rPr lang="en-US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ka-GE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გრიდები</a:t>
            </a:r>
            <a:r>
              <a:rPr lang="en-US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  <a:endParaRPr lang="ka-GE" sz="4400" b="1" cap="all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8" y="1740571"/>
            <a:ext cx="4757237" cy="224058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54518" y="4038600"/>
            <a:ext cx="4757237" cy="1177139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911817" y="1938578"/>
            <a:ext cx="395559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smtClean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CSS 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Grid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არის ძლიერი ორგანზომილებიანი განლაგების სისტემა, რომელიც საშუალებას გვაძლევს შევქმნათ</a:t>
            </a:r>
          </a:p>
          <a:p>
            <a:pPr lvl="0"/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კომპლექსური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 მოქნილი ვებ-გვერდის მაკეტები.</a:t>
            </a:r>
            <a:endParaRPr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753197" y="4179159"/>
            <a:ext cx="473320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a-GE" sz="1600" dirty="0" smtClean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გრიდი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გვეხმარება ელემენტების ორგანიზებაში როგორც სვეტებად,</a:t>
            </a:r>
          </a:p>
          <a:p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ასევე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მწკრივებად.</a:t>
            </a:r>
            <a:endParaRPr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6" r="8818"/>
          <a:stretch/>
        </p:blipFill>
        <p:spPr>
          <a:xfrm>
            <a:off x="5743699" y="1749418"/>
            <a:ext cx="5156902" cy="34799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2957402" y="544019"/>
            <a:ext cx="7410204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&lt;!– </a:t>
            </a:r>
            <a:r>
              <a:rPr lang="en-US" sz="4400" b="1" cap="all" dirty="0" err="1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display:grid</a:t>
            </a:r>
            <a:r>
              <a:rPr lang="en-US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  <a:endParaRPr lang="ka-GE" sz="4400" b="1" cap="all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322947" y="1503790"/>
            <a:ext cx="117556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გრიდის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შექმნა იწყება კონტეინერ ელემენტზე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display: grid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თვისების გამოყენებით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b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ეს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გარდაქმნის ელემენტს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გრიდ კონტეინერად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, ხოლო მის შვილობილ ელემენტებს - გრიდის ელემენტებად.</a:t>
            </a:r>
            <a:endParaRPr lang="ka-GE" dirty="0"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209" y="2369903"/>
            <a:ext cx="7093822" cy="4132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/>
        </p:nvSpPr>
        <p:spPr>
          <a:xfrm>
            <a:off x="3349662" y="5486400"/>
            <a:ext cx="458800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grid-template-columns</a:t>
            </a:r>
            <a:r>
              <a:rPr lang="ka-GE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;</a:t>
            </a: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grid-template-row</a:t>
            </a:r>
            <a:r>
              <a:rPr lang="ka-GE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;</a:t>
            </a:r>
            <a:br>
              <a:rPr lang="ka-GE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</a:br>
            <a:r>
              <a:rPr lang="en-US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endParaRPr sz="16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7" name="Google Shape;180;p3"/>
          <p:cNvSpPr txBox="1"/>
          <p:nvPr/>
        </p:nvSpPr>
        <p:spPr>
          <a:xfrm>
            <a:off x="3509922" y="4490518"/>
            <a:ext cx="7819901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&lt;!– </a:t>
            </a:r>
            <a:r>
              <a:rPr lang="en-US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grid-tracks</a:t>
            </a:r>
            <a:r>
              <a:rPr lang="en-US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--&gt;</a:t>
            </a:r>
            <a:endParaRPr lang="ka-GE" sz="4400" b="1" cap="all" dirty="0" smtClean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" t="793" r="261" b="523"/>
          <a:stretch/>
        </p:blipFill>
        <p:spPr>
          <a:xfrm>
            <a:off x="1600171" y="266690"/>
            <a:ext cx="9270750" cy="35348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Google Shape;196;p5"/>
          <p:cNvSpPr txBox="1"/>
          <p:nvPr/>
        </p:nvSpPr>
        <p:spPr>
          <a:xfrm>
            <a:off x="6824964" y="5486400"/>
            <a:ext cx="599867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grid-auto-rows</a:t>
            </a:r>
            <a:r>
              <a:rPr lang="ka-GE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;</a:t>
            </a: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grid-auto-columns</a:t>
            </a:r>
            <a:endParaRPr sz="16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7038588" y="1412541"/>
            <a:ext cx="4854621" cy="2219418"/>
          </a:xfrm>
          <a:prstGeom prst="roundRect">
            <a:avLst>
              <a:gd name="adj" fmla="val 5767"/>
            </a:avLst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532660" y="281778"/>
            <a:ext cx="1099092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2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&lt;!– </a:t>
            </a:r>
            <a:r>
              <a:rPr lang="en-US" sz="32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grid-template-columns &amp; grid-template-rows</a:t>
            </a:r>
            <a:r>
              <a:rPr lang="en-US" sz="32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-&gt;</a:t>
            </a:r>
            <a:endParaRPr lang="ka-GE" sz="3200" b="1" cap="all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923179" y="4052423"/>
            <a:ext cx="536911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ეს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თვისებები განსაზღვრავს სვეტებისა და მწკრივების რაოდენობასა და ზომას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მოცემული მაგალითი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ქმნის გრიდს 3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სვეტით:</a:t>
            </a:r>
            <a:b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(100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px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, 200px, 100px)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 2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მწკრივით: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(50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px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, 100px)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/>
            </a:r>
            <a:b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endParaRPr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384999" y="1312177"/>
            <a:ext cx="4418522" cy="5048530"/>
          </a:xfrm>
          <a:prstGeom prst="roundRect">
            <a:avLst>
              <a:gd name="adj" fmla="val 5767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99" y="1590446"/>
            <a:ext cx="3827889" cy="44625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211" y="1707749"/>
            <a:ext cx="4115374" cy="1629002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5241912" y="1888365"/>
            <a:ext cx="1358284" cy="633885"/>
          </a:xfrm>
          <a:prstGeom prst="rightArrow">
            <a:avLst/>
          </a:prstGeom>
          <a:solidFill>
            <a:srgbClr val="FBFB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7038588" y="1412541"/>
            <a:ext cx="4854621" cy="1960974"/>
          </a:xfrm>
          <a:prstGeom prst="roundRect">
            <a:avLst>
              <a:gd name="adj" fmla="val 5767"/>
            </a:avLst>
          </a:prstGeom>
          <a:solidFill>
            <a:srgbClr val="FBF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532660" y="281778"/>
            <a:ext cx="1099092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6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&lt;!– </a:t>
            </a:r>
            <a:r>
              <a:rPr lang="en-US" sz="36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grid-auto-rows </a:t>
            </a:r>
            <a:r>
              <a:rPr lang="ka-GE" sz="36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&amp;</a:t>
            </a:r>
            <a:r>
              <a:rPr lang="ka-GE" sz="36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36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grid-auto-columns</a:t>
            </a:r>
            <a:r>
              <a:rPr lang="en-US" sz="36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-&gt;</a:t>
            </a:r>
            <a:endParaRPr lang="ka-GE" sz="3600" b="1" cap="all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923179" y="4052423"/>
            <a:ext cx="5369118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ეს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თვისებები განსაზღვრავს იმპლიციტურად შექმნილი მწკრივების ან სვეტების ზომას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/>
            </a:r>
            <a:b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მოცემულ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მაგალითში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ყველა ავტომატურად შექმნილი მწკრივი იქნება 100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px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სიმაღლის.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/>
            </a:r>
            <a:b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endParaRPr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384999" y="1312177"/>
            <a:ext cx="4418522" cy="5048530"/>
          </a:xfrm>
          <a:prstGeom prst="roundRect">
            <a:avLst>
              <a:gd name="adj" fmla="val 5767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ight Arrow 8"/>
          <p:cNvSpPr/>
          <p:nvPr/>
        </p:nvSpPr>
        <p:spPr>
          <a:xfrm>
            <a:off x="5241912" y="1888365"/>
            <a:ext cx="1358284" cy="633885"/>
          </a:xfrm>
          <a:prstGeom prst="rightArrow">
            <a:avLst/>
          </a:prstGeom>
          <a:solidFill>
            <a:srgbClr val="FBFB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58" y="1340516"/>
            <a:ext cx="3441515" cy="50201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957" y="1624614"/>
            <a:ext cx="4390629" cy="89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1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459961" y="885094"/>
            <a:ext cx="4098917" cy="1195958"/>
          </a:xfrm>
          <a:prstGeom prst="roundRect">
            <a:avLst>
              <a:gd name="adj" fmla="val 4634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9" name="Google Shape;169;p2"/>
          <p:cNvSpPr txBox="1"/>
          <p:nvPr/>
        </p:nvSpPr>
        <p:spPr>
          <a:xfrm>
            <a:off x="561859" y="230414"/>
            <a:ext cx="110146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&lt;!--</a:t>
            </a:r>
            <a:r>
              <a:rPr lang="en-US" sz="28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en-US" sz="28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2800" b="1" cap="all" dirty="0" err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fr</a:t>
            </a:r>
            <a:r>
              <a:rPr lang="en-US" sz="28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ka-GE" sz="28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ერთეული, </a:t>
            </a:r>
            <a:r>
              <a:rPr lang="en-US" sz="28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repeat() </a:t>
            </a:r>
            <a:r>
              <a:rPr lang="ka-GE" sz="28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ფუნქცია და </a:t>
            </a:r>
            <a:r>
              <a:rPr lang="en-US" sz="2800" b="1" cap="all" dirty="0" err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minmax</a:t>
            </a:r>
            <a:r>
              <a:rPr lang="en-US" sz="28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() </a:t>
            </a:r>
            <a:r>
              <a:rPr lang="ka-GE" sz="28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ფუნქცია</a:t>
            </a:r>
            <a:r>
              <a:rPr lang="en-US" sz="28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-&gt;</a:t>
            </a:r>
            <a:endParaRPr lang="ka-GE" sz="2800" b="1" cap="all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9" name="Google Shape;183;p3"/>
          <p:cNvSpPr txBox="1"/>
          <p:nvPr/>
        </p:nvSpPr>
        <p:spPr>
          <a:xfrm>
            <a:off x="88005" y="2286547"/>
            <a:ext cx="950875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 err="1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fr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fraction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)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ერთეული წარმოადგენს გრიდ კონტეინერის თავისუფალი სივრცის წილს.</a:t>
            </a:r>
          </a:p>
        </p:txBody>
      </p:sp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275950" y="923966"/>
            <a:ext cx="5686375" cy="119595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67" y="988959"/>
            <a:ext cx="3743847" cy="933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661" y="1232637"/>
            <a:ext cx="5544324" cy="600159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837012" y="1211941"/>
            <a:ext cx="1198485" cy="451056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459960" y="2845611"/>
            <a:ext cx="4098917" cy="1195958"/>
          </a:xfrm>
          <a:prstGeom prst="roundRect">
            <a:avLst>
              <a:gd name="adj" fmla="val 4634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ight Arrow 10"/>
          <p:cNvSpPr/>
          <p:nvPr/>
        </p:nvSpPr>
        <p:spPr>
          <a:xfrm>
            <a:off x="4837012" y="3238287"/>
            <a:ext cx="1198485" cy="451056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13635" y="2805568"/>
            <a:ext cx="5686375" cy="119595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546" y="2978482"/>
            <a:ext cx="3715268" cy="9335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661" y="3052513"/>
            <a:ext cx="5506218" cy="619211"/>
          </a:xfrm>
          <a:prstGeom prst="rect">
            <a:avLst/>
          </a:prstGeom>
        </p:spPr>
      </p:pic>
      <p:sp>
        <p:nvSpPr>
          <p:cNvPr id="15" name="Google Shape;183;p3"/>
          <p:cNvSpPr txBox="1"/>
          <p:nvPr/>
        </p:nvSpPr>
        <p:spPr>
          <a:xfrm>
            <a:off x="88005" y="4265976"/>
            <a:ext cx="950875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repeat()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ფუნქცია გამოიყენება ერთი და იგივე მნიშვნელობის გასამეორებლად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16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459960" y="4708666"/>
            <a:ext cx="4098917" cy="1195958"/>
          </a:xfrm>
          <a:prstGeom prst="roundRect">
            <a:avLst>
              <a:gd name="adj" fmla="val 4634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ight Arrow 16"/>
          <p:cNvSpPr/>
          <p:nvPr/>
        </p:nvSpPr>
        <p:spPr>
          <a:xfrm>
            <a:off x="4837013" y="5023990"/>
            <a:ext cx="1198485" cy="451056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13635" y="4702594"/>
            <a:ext cx="5686375" cy="119595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995" y="5004404"/>
            <a:ext cx="3907093" cy="73998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4661" y="4916659"/>
            <a:ext cx="5534797" cy="581106"/>
          </a:xfrm>
          <a:prstGeom prst="rect">
            <a:avLst/>
          </a:prstGeom>
        </p:spPr>
      </p:pic>
      <p:sp>
        <p:nvSpPr>
          <p:cNvPr id="21" name="Google Shape;183;p3"/>
          <p:cNvSpPr txBox="1"/>
          <p:nvPr/>
        </p:nvSpPr>
        <p:spPr>
          <a:xfrm>
            <a:off x="82633" y="5996656"/>
            <a:ext cx="1199987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minmax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()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ფუნქცია განსაზღვრავს ზომის დიაპაზონს მინიმალურ და მაქსიმალურ მნიშვნელობებს შორის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/>
            </a:r>
            <a:b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95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7038588" y="1412541"/>
            <a:ext cx="4854621" cy="2219418"/>
          </a:xfrm>
          <a:prstGeom prst="roundRect">
            <a:avLst>
              <a:gd name="adj" fmla="val 5767"/>
            </a:avLst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3874751" y="325207"/>
            <a:ext cx="409260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2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&lt;!– </a:t>
            </a:r>
            <a:r>
              <a:rPr lang="en-US" sz="32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place-items</a:t>
            </a:r>
            <a:r>
              <a:rPr lang="en-US" sz="32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-&gt;</a:t>
            </a:r>
            <a:endParaRPr lang="ka-GE" sz="3200" b="1" cap="all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940934" y="3831181"/>
            <a:ext cx="536911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place-items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არის შორთჰენდ თვისება 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align-items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</a:t>
            </a: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justify-items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თვისებებისთვის. ის აკონტროლებს </a:t>
            </a: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გრიდის ელემენტების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განლაგებას მათ უჯრედებში.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მოცემულ მაგალითში ცენტრში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ათავსებს ყველა გრიდის ელემენტს მათ უჯრედებში როგორც ვერტიკალურად, ასევე ჰორიზონტალურად.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/>
            </a:r>
            <a:br>
              <a:rPr lang="en-US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</a:b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ka-GE" sz="1600" dirty="0" smtClean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endParaRPr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384999" y="1312177"/>
            <a:ext cx="4418522" cy="5048530"/>
          </a:xfrm>
          <a:prstGeom prst="roundRect">
            <a:avLst>
              <a:gd name="adj" fmla="val 5767"/>
            </a:avLst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ight Arrow 8"/>
          <p:cNvSpPr/>
          <p:nvPr/>
        </p:nvSpPr>
        <p:spPr>
          <a:xfrm>
            <a:off x="5241912" y="1888365"/>
            <a:ext cx="1358284" cy="633885"/>
          </a:xfrm>
          <a:prstGeom prst="rightArrow">
            <a:avLst/>
          </a:prstGeom>
          <a:solidFill>
            <a:srgbClr val="FBFB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11" y="1578490"/>
            <a:ext cx="3230940" cy="45159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756" y="1805784"/>
            <a:ext cx="4664284" cy="112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7038588" y="1412540"/>
            <a:ext cx="4877641" cy="2349255"/>
          </a:xfrm>
          <a:prstGeom prst="roundRect">
            <a:avLst>
              <a:gd name="adj" fmla="val 5767"/>
            </a:avLst>
          </a:prstGeom>
          <a:solidFill>
            <a:srgbClr val="FBF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532660" y="281778"/>
            <a:ext cx="1099092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 ! – </a:t>
            </a:r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row-gap, column-gap </a:t>
            </a:r>
            <a:r>
              <a:rPr lang="ka-GE" sz="3600" b="1" cap="all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&amp; </a:t>
            </a:r>
            <a:r>
              <a:rPr lang="en-US" sz="3600" b="1" cap="all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Gap </a:t>
            </a:r>
            <a:r>
              <a:rPr lang="en-US" sz="3600" b="1" cap="all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</a:t>
            </a:r>
            <a:r>
              <a:rPr lang="en-US" sz="3600" b="1" cap="all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kumimoji="0" lang="ka-GE" sz="3600" b="1" i="0" u="none" strike="noStrike" kern="0" cap="all" spc="0" normalizeH="0" baseline="0" noProof="0" dirty="0">
              <a:ln>
                <a:noFill/>
              </a:ln>
              <a:solidFill>
                <a:srgbClr val="F4DA33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770255" y="4027055"/>
            <a:ext cx="5609128" cy="307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rgbClr val="FFFFFF"/>
              </a:buClr>
              <a:buSzPts val="1600"/>
            </a:pPr>
            <a:r>
              <a:rPr lang="en-US" sz="1600" b="1">
                <a:solidFill>
                  <a:srgbClr val="FBFBFB"/>
                </a:solidFill>
              </a:rPr>
              <a:t>Row-gap</a:t>
            </a:r>
            <a:r>
              <a:rPr lang="en-US" sz="1600">
                <a:solidFill>
                  <a:srgbClr val="FBFBFB"/>
                </a:solidFill>
              </a:rPr>
              <a:t> (</a:t>
            </a:r>
            <a:r>
              <a:rPr lang="ka-GE" sz="1600">
                <a:solidFill>
                  <a:srgbClr val="FBFBFB"/>
                </a:solidFill>
              </a:rPr>
              <a:t>ხაზების შუალედი): განსაზღვრავს ვერტიკალურ დაშორებას რიგებს შორის.</a:t>
            </a:r>
            <a:br>
              <a:rPr lang="ka-GE" sz="1600">
                <a:solidFill>
                  <a:srgbClr val="FBFBFB"/>
                </a:solidFill>
              </a:rPr>
            </a:br>
            <a:r>
              <a:rPr lang="en-US" sz="1600" b="1">
                <a:solidFill>
                  <a:srgbClr val="FBFBFB"/>
                </a:solidFill>
              </a:rPr>
              <a:t>Column-gap</a:t>
            </a:r>
            <a:r>
              <a:rPr lang="en-US" sz="1600">
                <a:solidFill>
                  <a:srgbClr val="FBFBFB"/>
                </a:solidFill>
              </a:rPr>
              <a:t> (</a:t>
            </a:r>
            <a:r>
              <a:rPr lang="ka-GE" sz="1600">
                <a:solidFill>
                  <a:srgbClr val="FBFBFB"/>
                </a:solidFill>
              </a:rPr>
              <a:t>სვეტების შუალედი): განსაზღვრავს ჰორიზონტალურ დაშორებას სვეტებს შორის.</a:t>
            </a:r>
            <a:br>
              <a:rPr lang="ka-GE" sz="1600">
                <a:solidFill>
                  <a:srgbClr val="FBFBFB"/>
                </a:solidFill>
              </a:rPr>
            </a:br>
            <a:r>
              <a:rPr lang="en-US" sz="1600" b="1">
                <a:solidFill>
                  <a:srgbClr val="FBFBFB"/>
                </a:solidFill>
              </a:rPr>
              <a:t>Gap</a:t>
            </a:r>
            <a:r>
              <a:rPr lang="en-US" sz="1600">
                <a:solidFill>
                  <a:srgbClr val="FBFBFB"/>
                </a:solidFill>
              </a:rPr>
              <a:t>: </a:t>
            </a:r>
            <a:r>
              <a:rPr lang="ka-GE" sz="1600">
                <a:solidFill>
                  <a:srgbClr val="FBFBFB"/>
                </a:solidFill>
              </a:rPr>
              <a:t>აერთიანებს </a:t>
            </a:r>
            <a:r>
              <a:rPr lang="en-US" sz="1600">
                <a:solidFill>
                  <a:srgbClr val="FBFBFB"/>
                </a:solidFill>
              </a:rPr>
              <a:t>row-gap </a:t>
            </a:r>
            <a:r>
              <a:rPr lang="ka-GE" sz="1600">
                <a:solidFill>
                  <a:srgbClr val="FBFBFB"/>
                </a:solidFill>
              </a:rPr>
              <a:t>და </a:t>
            </a:r>
            <a:r>
              <a:rPr lang="en-US" sz="1600">
                <a:solidFill>
                  <a:srgbClr val="FBFBFB"/>
                </a:solidFill>
              </a:rPr>
              <a:t>column-gap </a:t>
            </a:r>
            <a:r>
              <a:rPr lang="ka-GE" sz="1600">
                <a:solidFill>
                  <a:srgbClr val="FBFBFB"/>
                </a:solidFill>
              </a:rPr>
              <a:t>ერთ სტილში.</a:t>
            </a:r>
            <a:endParaRPr kumimoji="0" lang="ka-GE" sz="1600" b="0" i="0" u="none" strike="noStrike" kern="0" cap="none" spc="0" normalizeH="0" baseline="0" noProof="0" dirty="0">
              <a:ln>
                <a:noFill/>
              </a:ln>
              <a:solidFill>
                <a:srgbClr val="FBFBFB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</a:br>
            <a:endParaRPr kumimoji="0" lang="ka-GE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384999" y="1146349"/>
            <a:ext cx="4503472" cy="5380186"/>
          </a:xfrm>
          <a:prstGeom prst="roundRect">
            <a:avLst>
              <a:gd name="adj" fmla="val 5767"/>
            </a:avLst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241912" y="1888365"/>
            <a:ext cx="1358284" cy="633885"/>
          </a:xfrm>
          <a:prstGeom prst="rightArrow">
            <a:avLst/>
          </a:prstGeom>
          <a:solidFill>
            <a:srgbClr val="FBFB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876" y="1558584"/>
            <a:ext cx="3026874" cy="20571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58" y="1332059"/>
            <a:ext cx="4416553" cy="500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6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7038588" y="1412540"/>
            <a:ext cx="4877641" cy="2349255"/>
          </a:xfrm>
          <a:prstGeom prst="roundRect">
            <a:avLst>
              <a:gd name="adj" fmla="val 5767"/>
            </a:avLst>
          </a:prstGeom>
          <a:solidFill>
            <a:srgbClr val="FBF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532659" y="281778"/>
            <a:ext cx="113175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3600" b="1" i="0" u="none" strike="noStrike" kern="0" cap="all" spc="0" normalizeH="0" baseline="0" noProof="0" dirty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 ! – </a:t>
            </a:r>
            <a:r>
              <a:rPr lang="ka-GE" sz="2800" dirty="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გრიდის ელემენტების განლაგება ხაზების მიხედვით</a:t>
            </a:r>
            <a:r>
              <a:rPr kumimoji="0" lang="en-US" sz="3600" b="1" i="0" u="none" strike="noStrike" kern="0" cap="all" spc="0" normalizeH="0" baseline="0" noProof="0" dirty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-</a:t>
            </a:r>
            <a:r>
              <a:rPr kumimoji="0" lang="en-US" sz="3600" b="1" i="0" u="none" strike="noStrike" kern="0" cap="all" spc="0" normalizeH="0" baseline="0" noProof="0" dirty="0" smtClean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en-US" sz="3600" b="1" i="0" u="none" strike="noStrike" kern="0" cap="all" spc="0" normalizeH="0" baseline="0" noProof="0" dirty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kumimoji="0" lang="ka-GE" sz="3600" b="1" i="0" u="none" strike="noStrike" kern="0" cap="all" spc="0" normalizeH="0" baseline="0" noProof="0" dirty="0">
              <a:ln>
                <a:noFill/>
              </a:ln>
              <a:solidFill>
                <a:srgbClr val="F4DA33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770255" y="4027055"/>
            <a:ext cx="5237018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rgbClr val="FFFFFF"/>
              </a:buClr>
              <a:buSzPts val="1600"/>
            </a:pPr>
            <a:r>
              <a:rPr lang="en-US" sz="1600" b="1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grid-column-start</a:t>
            </a:r>
            <a:r>
              <a:rPr 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, </a:t>
            </a:r>
            <a:r>
              <a:rPr lang="en-US" sz="1600" b="1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grid-column-end</a:t>
            </a:r>
            <a:r>
              <a:rPr 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, </a:t>
            </a:r>
            <a:r>
              <a:rPr lang="en-US" sz="1600" b="1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grid-row-start</a:t>
            </a:r>
            <a:r>
              <a:rPr 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, </a:t>
            </a:r>
            <a:r>
              <a:rPr lang="en-US" sz="1600" b="1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grid-row-end</a:t>
            </a:r>
            <a:r>
              <a:rPr 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 </a:t>
            </a:r>
            <a:r>
              <a:rPr lang="ka-GE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გამოიყენება ელემენტის განლაგებისათვის კონკრეტულ ხაზზე</a:t>
            </a:r>
            <a:r>
              <a:rPr lang="ka-GE" sz="1600" dirty="0" smtClean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.</a:t>
            </a:r>
            <a:endParaRPr lang="en-US" sz="1600" dirty="0" smtClean="0">
              <a:solidFill>
                <a:srgbClr val="FBFBFB"/>
              </a:solidFill>
              <a:latin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lnSpc>
                <a:spcPct val="150000"/>
              </a:lnSpc>
              <a:buClr>
                <a:srgbClr val="FFFFFF"/>
              </a:buClr>
              <a:buSzPts val="1600"/>
            </a:pPr>
            <a:endParaRPr lang="en-US" sz="1600" dirty="0" smtClean="0">
              <a:solidFill>
                <a:srgbClr val="FBFBFB"/>
              </a:solidFill>
            </a:endParaRPr>
          </a:p>
          <a:p>
            <a:pPr lvl="0">
              <a:lnSpc>
                <a:spcPct val="150000"/>
              </a:lnSpc>
              <a:buClr>
                <a:srgbClr val="FFFFFF"/>
              </a:buClr>
              <a:buSzPts val="1600"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lvl="0">
              <a:lnSpc>
                <a:spcPct val="150000"/>
              </a:lnSpc>
              <a:buClr>
                <a:srgbClr val="FFFFFF"/>
              </a:buClr>
              <a:buSzPts val="1600"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</a:br>
            <a:endParaRPr kumimoji="0" lang="ka-GE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384999" y="1322773"/>
            <a:ext cx="4142613" cy="5203762"/>
          </a:xfrm>
          <a:prstGeom prst="roundRect">
            <a:avLst>
              <a:gd name="adj" fmla="val 5767"/>
            </a:avLst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241912" y="1888365"/>
            <a:ext cx="1358284" cy="633885"/>
          </a:xfrm>
          <a:prstGeom prst="rightArrow">
            <a:avLst/>
          </a:prstGeom>
          <a:solidFill>
            <a:srgbClr val="FBFB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699234" y="5277937"/>
            <a:ext cx="492298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ეს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კოდი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განსაზღვრავს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,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რომ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item1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გადაფარავს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პირველ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და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მეორე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სვეტებს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,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მაგრამ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მხოლოდ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პირველ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რიგზე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იქნება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altLang="en-US" sz="1600" dirty="0" err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განთავსებული</a:t>
            </a:r>
            <a:r>
              <a:rPr lang="en-US" altLang="en-US" sz="1600" dirty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819" y="1493602"/>
            <a:ext cx="3314987" cy="2187130"/>
          </a:xfrm>
          <a:prstGeom prst="rect">
            <a:avLst/>
          </a:prstGeom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52400" y="44678"/>
            <a:ext cx="24237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77" y="1454590"/>
            <a:ext cx="3827181" cy="48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82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7038588" y="1412540"/>
            <a:ext cx="4877641" cy="2349255"/>
          </a:xfrm>
          <a:prstGeom prst="roundRect">
            <a:avLst>
              <a:gd name="adj" fmla="val 5767"/>
            </a:avLst>
          </a:prstGeom>
          <a:solidFill>
            <a:srgbClr val="FBF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262256" y="44284"/>
            <a:ext cx="118189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 ! – </a:t>
            </a:r>
            <a:r>
              <a:rPr lang="ka-GE" sz="28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გრიდის ელემენტების განლაგება </a:t>
            </a:r>
            <a:r>
              <a:rPr lang="en-US" sz="2800" smtClean="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Grid-area-</a:t>
            </a:r>
            <a:r>
              <a:rPr lang="ka-GE" sz="2800" smtClean="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ს </a:t>
            </a:r>
            <a:r>
              <a:rPr lang="ka-GE" sz="28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მიხედვით:</a:t>
            </a:r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-</a:t>
            </a:r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en-US" sz="3600" b="1" i="0" u="none" strike="noStrike" kern="0" cap="all" spc="0" normalizeH="0" baseline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kumimoji="0" lang="ka-GE" sz="3600" b="1" i="0" u="none" strike="noStrike" kern="0" cap="all" spc="0" normalizeH="0" baseline="0" noProof="0" dirty="0">
              <a:ln>
                <a:noFill/>
              </a:ln>
              <a:solidFill>
                <a:srgbClr val="F4DA33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770255" y="4027055"/>
            <a:ext cx="523701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rgbClr val="FFFFFF"/>
              </a:buClr>
              <a:buSzPts val="1600"/>
            </a:pPr>
            <a:r>
              <a:rPr lang="en-US" sz="16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grid-area</a:t>
            </a:r>
            <a:r>
              <a:rPr lang="en-US" sz="160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 </a:t>
            </a:r>
            <a:r>
              <a:rPr lang="ka-GE" sz="160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საშუალებას გვაძლევს ელემენტი განვათავსოთ კონკრეტულ </a:t>
            </a:r>
            <a:r>
              <a:rPr lang="ka-GE" sz="1600" smtClean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არეალზე მხოლოდ ერთი</a:t>
            </a:r>
            <a:r>
              <a:rPr lang="en-US" sz="1600" smtClean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smtClean="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ხაზზე დაწერით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</a:br>
            <a:endParaRPr kumimoji="0" lang="ka-GE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ka-G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384999" y="1146349"/>
            <a:ext cx="4503472" cy="5380186"/>
          </a:xfrm>
          <a:prstGeom prst="roundRect">
            <a:avLst>
              <a:gd name="adj" fmla="val 5767"/>
            </a:avLst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241912" y="1888365"/>
            <a:ext cx="1358284" cy="633885"/>
          </a:xfrm>
          <a:prstGeom prst="rightArrow">
            <a:avLst/>
          </a:prstGeom>
          <a:solidFill>
            <a:srgbClr val="FBFB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770255" y="5451959"/>
            <a:ext cx="49229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smtClean="0">
              <a:ln>
                <a:noFill/>
              </a:ln>
              <a:solidFill>
                <a:srgbClr val="FBFBFB"/>
              </a:solidFill>
              <a:effectLst/>
              <a:uLnTx/>
              <a:uFillTx/>
              <a:latin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770255" y="5240115"/>
            <a:ext cx="464589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FBFBFB"/>
                </a:solidFill>
                <a:effectLst/>
                <a:uLnTx/>
                <a:uFillTx/>
                <a:latin typeface="FiraGO Light" panose="020B0403050000020004" pitchFamily="34" charset="0"/>
                <a:cs typeface="FiraGO Light" panose="020B0403050000020004" pitchFamily="34" charset="0"/>
                <a:sym typeface="Arial"/>
              </a:rPr>
              <a:t>ეს კოდი განსაზღვრავს, რომ item1 გადაფარავს პირველ და მეორე სვეტებს, მაგრამ მხოლოდ პირველ რიგზე იქნება განთავსებული.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025" y="1531705"/>
            <a:ext cx="3185436" cy="21109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18" y="1275004"/>
            <a:ext cx="4459002" cy="51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Props1.xml><?xml version="1.0" encoding="utf-8"?>
<ds:datastoreItem xmlns:ds="http://schemas.openxmlformats.org/officeDocument/2006/customXml" ds:itemID="{FDCF28C7-3966-46C8-8639-96CB00A4A327}"/>
</file>

<file path=customXml/itemProps2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CC135-CD56-4F8B-921B-D95EF0B22F3D}">
  <ds:schemaRefs>
    <ds:schemaRef ds:uri="6641dcd3-7dc6-4696-bf59-c6211389010d"/>
    <ds:schemaRef ds:uri="http://schemas.microsoft.com/office/infopath/2007/PartnerControls"/>
    <ds:schemaRef ds:uri="http://purl.org/dc/elements/1.1/"/>
    <ds:schemaRef ds:uri="http://purl.org/dc/dcmitype/"/>
    <ds:schemaRef ds:uri="61bf6615-2d26-442b-9d24-621696d9153b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298</Words>
  <Application>Microsoft Office PowerPoint</Application>
  <PresentationFormat>Widescreen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Wingdings</vt:lpstr>
      <vt:lpstr>FiraGO</vt:lpstr>
      <vt:lpstr>FiraGO Light</vt:lpstr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user</cp:lastModifiedBy>
  <cp:revision>55</cp:revision>
  <dcterms:created xsi:type="dcterms:W3CDTF">2024-10-25T12:59:50Z</dcterms:created>
  <dcterms:modified xsi:type="dcterms:W3CDTF">2024-12-12T07:39:45Z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</Properties>
</file>