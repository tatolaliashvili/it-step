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  <p:sldMasterId id="2147483660" r:id="rId5"/>
  </p:sldMasterIdLst>
  <p:notesMasterIdLst>
    <p:notesMasterId r:id="rId12"/>
  </p:notesMasterIdLst>
  <p:sldIdLst>
    <p:sldId id="256" r:id="rId6"/>
    <p:sldId id="257" r:id="rId7"/>
    <p:sldId id="264" r:id="rId8"/>
    <p:sldId id="263" r:id="rId9"/>
    <p:sldId id="259" r:id="rId10"/>
    <p:sldId id="262" r:id="rId11"/>
  </p:sldIdLst>
  <p:sldSz cx="12192000" cy="6858000"/>
  <p:notesSz cx="6858000" cy="9144000"/>
  <p:embeddedFontLst>
    <p:embeddedFont>
      <p:font typeface="FiraGO Light" panose="020B0403050000020004" pitchFamily="34" charset="0"/>
      <p:regular r:id="rId13"/>
      <p:italic r:id="rId14"/>
    </p:embeddedFont>
    <p:embeddedFont>
      <p:font typeface="FiraGO" panose="020B0803050000020004" pitchFamily="34" charset="0"/>
      <p:regular r:id="rId15"/>
      <p:bold r:id="rId16"/>
      <p:italic r:id="rId17"/>
      <p:boldItalic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3" roundtripDataSignature="AMtx7miGSzJV6VoQ7okuGXFlJ4wzkIxV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2A7B"/>
    <a:srgbClr val="6DC034"/>
    <a:srgbClr val="1F51FF"/>
    <a:srgbClr val="8F3FB3"/>
    <a:srgbClr val="F4DA33"/>
    <a:srgbClr val="0C0C0C"/>
    <a:srgbClr val="662D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FEE51C-0CFC-E4BB-CF04-E28EC2C0CA4B}" v="20" dt="2024-11-03T13:01:16.2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4025" autoAdjust="0"/>
  </p:normalViewPr>
  <p:slideViewPr>
    <p:cSldViewPr snapToGrid="0">
      <p:cViewPr varScale="1">
        <p:scale>
          <a:sx n="56" d="100"/>
          <a:sy n="56" d="100"/>
        </p:scale>
        <p:origin x="171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9.fntdata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3.fntdata"/><Relationship Id="rId23" Type="http://customschemas.google.com/relationships/presentationmetadata" Target="metadata"/><Relationship Id="rId28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ანი ბეროშვილი" userId="S::a.beroshvili@itstep.ge::f333310d-ff13-44fe-83b8-378f4836cdda" providerId="AD" clId="Web-{68FEE51C-0CFC-E4BB-CF04-E28EC2C0CA4B}"/>
    <pc:docChg chg="modSld">
      <pc:chgData name="ანი ბეროშვილი" userId="S::a.beroshvili@itstep.ge::f333310d-ff13-44fe-83b8-378f4836cdda" providerId="AD" clId="Web-{68FEE51C-0CFC-E4BB-CF04-E28EC2C0CA4B}" dt="2024-11-03T13:01:16.246" v="7" actId="20577"/>
      <pc:docMkLst>
        <pc:docMk/>
      </pc:docMkLst>
      <pc:sldChg chg="modSp">
        <pc:chgData name="ანი ბეროშვილი" userId="S::a.beroshvili@itstep.ge::f333310d-ff13-44fe-83b8-378f4836cdda" providerId="AD" clId="Web-{68FEE51C-0CFC-E4BB-CF04-E28EC2C0CA4B}" dt="2024-11-03T13:00:20.619" v="5" actId="20577"/>
        <pc:sldMkLst>
          <pc:docMk/>
          <pc:sldMk cId="0" sldId="257"/>
        </pc:sldMkLst>
        <pc:spChg chg="mod">
          <ac:chgData name="ანი ბეროშვილი" userId="S::a.beroshvili@itstep.ge::f333310d-ff13-44fe-83b8-378f4836cdda" providerId="AD" clId="Web-{68FEE51C-0CFC-E4BB-CF04-E28EC2C0CA4B}" dt="2024-11-03T12:59:46.399" v="1" actId="20577"/>
          <ac:spMkLst>
            <pc:docMk/>
            <pc:sldMk cId="0" sldId="257"/>
            <ac:spMk id="169" creationId="{00000000-0000-0000-0000-000000000000}"/>
          </ac:spMkLst>
        </pc:spChg>
        <pc:spChg chg="mod">
          <ac:chgData name="ანი ბეროშვილი" userId="S::a.beroshvili@itstep.ge::f333310d-ff13-44fe-83b8-378f4836cdda" providerId="AD" clId="Web-{68FEE51C-0CFC-E4BB-CF04-E28EC2C0CA4B}" dt="2024-11-03T13:00:00.384" v="2" actId="20577"/>
          <ac:spMkLst>
            <pc:docMk/>
            <pc:sldMk cId="0" sldId="257"/>
            <ac:spMk id="173" creationId="{00000000-0000-0000-0000-000000000000}"/>
          </ac:spMkLst>
        </pc:spChg>
        <pc:spChg chg="mod">
          <ac:chgData name="ანი ბეროშვილი" userId="S::a.beroshvili@itstep.ge::f333310d-ff13-44fe-83b8-378f4836cdda" providerId="AD" clId="Web-{68FEE51C-0CFC-E4BB-CF04-E28EC2C0CA4B}" dt="2024-11-03T13:00:20.619" v="5" actId="20577"/>
          <ac:spMkLst>
            <pc:docMk/>
            <pc:sldMk cId="0" sldId="257"/>
            <ac:spMk id="174" creationId="{00000000-0000-0000-0000-000000000000}"/>
          </ac:spMkLst>
        </pc:spChg>
      </pc:sldChg>
      <pc:sldChg chg="modSp">
        <pc:chgData name="ანი ბეროშვილი" userId="S::a.beroshvili@itstep.ge::f333310d-ff13-44fe-83b8-378f4836cdda" providerId="AD" clId="Web-{68FEE51C-0CFC-E4BB-CF04-E28EC2C0CA4B}" dt="2024-11-03T13:01:16.246" v="7" actId="20577"/>
        <pc:sldMkLst>
          <pc:docMk/>
          <pc:sldMk cId="0" sldId="260"/>
        </pc:sldMkLst>
        <pc:spChg chg="mod">
          <ac:chgData name="ანი ბეროშვილი" userId="S::a.beroshvili@itstep.ge::f333310d-ff13-44fe-83b8-378f4836cdda" providerId="AD" clId="Web-{68FEE51C-0CFC-E4BB-CF04-E28EC2C0CA4B}" dt="2024-11-03T13:01:16.246" v="7" actId="20577"/>
          <ac:spMkLst>
            <pc:docMk/>
            <pc:sldMk cId="0" sldId="260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endParaRPr dirty="0"/>
          </a:p>
        </p:txBody>
      </p:sp>
      <p:sp>
        <p:nvSpPr>
          <p:cNvPr id="167" name="Google Shape;16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14285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8" name="Google Shape;17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1685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6" name="Google Shape;1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6C6128F8-70FF-CD68-EC5C-9E89FB024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>
            <a:extLst>
              <a:ext uri="{FF2B5EF4-FFF2-40B4-BE49-F238E27FC236}">
                <a16:creationId xmlns:a16="http://schemas.microsoft.com/office/drawing/2014/main" id="{0760AC3D-A39D-B2CD-6E33-7BCBC101F9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6:notes">
            <a:extLst>
              <a:ext uri="{FF2B5EF4-FFF2-40B4-BE49-F238E27FC236}">
                <a16:creationId xmlns:a16="http://schemas.microsoft.com/office/drawing/2014/main" id="{D75B684C-B01E-6A58-30D5-38FD98260F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3982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>
            <a:spLocks noGrp="1"/>
          </p:cNvSpPr>
          <p:nvPr>
            <p:ph type="pic" idx="2"/>
          </p:nvPr>
        </p:nvSpPr>
        <p:spPr>
          <a:xfrm>
            <a:off x="5532357" y="855662"/>
            <a:ext cx="5759450" cy="514667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6096000" y="720671"/>
            <a:ext cx="6172200" cy="4873625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19"/>
          <p:cNvSpPr>
            <a:spLocks noGrp="1"/>
          </p:cNvSpPr>
          <p:nvPr>
            <p:ph type="pic" idx="3"/>
          </p:nvPr>
        </p:nvSpPr>
        <p:spPr>
          <a:xfrm>
            <a:off x="4038600" y="1936750"/>
            <a:ext cx="3533775" cy="3394075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5" name="Google Shape;115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3" name="Google Shape;133;p2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4" name="Google Shape;134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2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1" name="Google Shape;14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"/>
          <p:cNvSpPr txBox="1"/>
          <p:nvPr/>
        </p:nvSpPr>
        <p:spPr>
          <a:xfrm>
            <a:off x="507975" y="2311372"/>
            <a:ext cx="1172096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1F51FF"/>
                </a:solidFill>
                <a:latin typeface="Arial"/>
                <a:ea typeface="Arial"/>
                <a:cs typeface="Arial"/>
                <a:sym typeface="Arial"/>
              </a:rPr>
              <a:t>FRONT-END W. ANGULAR</a:t>
            </a:r>
            <a:endParaRPr dirty="0"/>
          </a:p>
        </p:txBody>
      </p:sp>
      <p:sp>
        <p:nvSpPr>
          <p:cNvPr id="163" name="Google Shape;163;p1"/>
          <p:cNvSpPr txBox="1"/>
          <p:nvPr/>
        </p:nvSpPr>
        <p:spPr>
          <a:xfrm>
            <a:off x="546075" y="3327035"/>
            <a:ext cx="3186569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err="1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ლექცია</a:t>
            </a:r>
            <a:r>
              <a:rPr lang="en-US" sz="280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</a:t>
            </a:r>
            <a:r>
              <a:rPr lang="en-US" sz="2800" smtClean="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1</a:t>
            </a:r>
            <a:r>
              <a:rPr lang="en-US" sz="2800" smtClean="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0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lt1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5DA91E-2F44-CD9B-6153-9BE5ECDE3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13" y="5126030"/>
            <a:ext cx="887837" cy="10826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"/>
          <p:cNvSpPr txBox="1"/>
          <p:nvPr/>
        </p:nvSpPr>
        <p:spPr>
          <a:xfrm>
            <a:off x="471031" y="213130"/>
            <a:ext cx="1172096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a-GE" sz="4400" b="1" cap="all" dirty="0" smtClean="0">
                <a:solidFill>
                  <a:srgbClr val="D52A7B"/>
                </a:solidFill>
                <a:latin typeface="FiraGO"/>
                <a:ea typeface="FiraGO"/>
                <a:cs typeface="FiraGO"/>
              </a:rPr>
              <a:t>                     </a:t>
            </a:r>
            <a:r>
              <a:rPr lang="en-US" sz="4400" b="1" cap="all" dirty="0" smtClean="0">
                <a:solidFill>
                  <a:srgbClr val="D52A7B"/>
                </a:solidFill>
                <a:latin typeface="FiraGO"/>
                <a:ea typeface="FiraGO"/>
                <a:cs typeface="FiraGO"/>
              </a:rPr>
              <a:t>/*</a:t>
            </a:r>
            <a:r>
              <a:rPr lang="en-US" sz="4400" b="1" cap="all" dirty="0" smtClean="0">
                <a:solidFill>
                  <a:srgbClr val="F4DA33"/>
                </a:solidFill>
                <a:latin typeface="FiraGO"/>
                <a:ea typeface="FiraGO"/>
                <a:cs typeface="FiraGO"/>
              </a:rPr>
              <a:t>   </a:t>
            </a:r>
            <a:r>
              <a:rPr lang="ka-GE" sz="4400" b="1" cap="all" dirty="0" smtClean="0">
                <a:solidFill>
                  <a:srgbClr val="1F51FF"/>
                </a:solidFill>
                <a:latin typeface="FiraGO"/>
                <a:ea typeface="FiraGO"/>
                <a:cs typeface="FiraGO"/>
              </a:rPr>
              <a:t>პოზიციები</a:t>
            </a:r>
            <a:r>
              <a:rPr lang="en-US" sz="4400" b="1" cap="all" dirty="0" smtClean="0">
                <a:solidFill>
                  <a:srgbClr val="D52A7B"/>
                </a:solidFill>
                <a:latin typeface="FiraGO"/>
                <a:ea typeface="FiraGO"/>
                <a:cs typeface="FiraGO"/>
              </a:rPr>
              <a:t>*/</a:t>
            </a:r>
            <a:endParaRPr lang="ka-GE" b="1" cap="all" dirty="0">
              <a:solidFill>
                <a:srgbClr val="D52A7B"/>
              </a:solidFill>
              <a:latin typeface="FiraGO"/>
              <a:ea typeface="FiraGO"/>
              <a:cs typeface="FiraGO"/>
            </a:endParaRPr>
          </a:p>
        </p:txBody>
      </p:sp>
      <p:sp>
        <p:nvSpPr>
          <p:cNvPr id="171" name="Google Shape;171;p2"/>
          <p:cNvSpPr/>
          <p:nvPr/>
        </p:nvSpPr>
        <p:spPr>
          <a:xfrm>
            <a:off x="501814" y="3172625"/>
            <a:ext cx="5649604" cy="1738274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"/>
          <p:cNvSpPr/>
          <p:nvPr/>
        </p:nvSpPr>
        <p:spPr>
          <a:xfrm>
            <a:off x="501814" y="5029200"/>
            <a:ext cx="5649604" cy="1787369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sz="2000" dirty="0">
              <a:solidFill>
                <a:srgbClr val="D52A7B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US" sz="2000" dirty="0">
              <a:solidFill>
                <a:srgbClr val="D52A7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"/>
          <p:cNvSpPr txBox="1"/>
          <p:nvPr/>
        </p:nvSpPr>
        <p:spPr>
          <a:xfrm>
            <a:off x="1541046" y="3656698"/>
            <a:ext cx="3751389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000" b="1" dirty="0" smtClean="0">
                <a:solidFill>
                  <a:srgbClr val="1F51FF"/>
                </a:solidFill>
                <a:latin typeface="Calibri"/>
                <a:ea typeface="Calibri"/>
                <a:cs typeface="Calibri"/>
                <a:sym typeface="Calibri"/>
              </a:rPr>
              <a:t>position : fixed</a:t>
            </a:r>
            <a:endParaRPr lang="en-US" sz="2000" b="1" dirty="0">
              <a:solidFill>
                <a:srgbClr val="1F51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</p:txBody>
      </p:sp>
      <p:sp>
        <p:nvSpPr>
          <p:cNvPr id="11" name="Google Shape;171;p2"/>
          <p:cNvSpPr/>
          <p:nvPr/>
        </p:nvSpPr>
        <p:spPr>
          <a:xfrm>
            <a:off x="6331667" y="3172625"/>
            <a:ext cx="5532765" cy="1738274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72;p2"/>
          <p:cNvSpPr/>
          <p:nvPr/>
        </p:nvSpPr>
        <p:spPr>
          <a:xfrm>
            <a:off x="6331667" y="5029200"/>
            <a:ext cx="5539847" cy="1814773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sz="2000" dirty="0">
              <a:solidFill>
                <a:srgbClr val="D52A7B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US" sz="2000" dirty="0">
              <a:solidFill>
                <a:srgbClr val="D52A7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73;p2"/>
          <p:cNvSpPr txBox="1"/>
          <p:nvPr/>
        </p:nvSpPr>
        <p:spPr>
          <a:xfrm>
            <a:off x="7088874" y="3656698"/>
            <a:ext cx="4644148" cy="1231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4000" b="1" dirty="0" smtClean="0">
                <a:solidFill>
                  <a:srgbClr val="1F51FF"/>
                </a:solidFill>
                <a:latin typeface="Calibri"/>
                <a:ea typeface="Calibri"/>
                <a:cs typeface="Calibri"/>
                <a:sym typeface="Calibri"/>
              </a:rPr>
              <a:t>position : </a:t>
            </a:r>
            <a:r>
              <a:rPr lang="en-US" sz="4000" b="1" dirty="0">
                <a:solidFill>
                  <a:srgbClr val="1F51FF"/>
                </a:solidFill>
                <a:latin typeface="Calibri"/>
                <a:ea typeface="Calibri"/>
                <a:cs typeface="Calibri"/>
              </a:rPr>
              <a:t>sticky</a:t>
            </a:r>
          </a:p>
          <a:p>
            <a:pPr lvl="0"/>
            <a:endParaRPr lang="en-US" sz="2000" b="1" dirty="0">
              <a:solidFill>
                <a:srgbClr val="1F51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</p:txBody>
      </p:sp>
      <p:sp>
        <p:nvSpPr>
          <p:cNvPr id="15" name="Google Shape;173;p2"/>
          <p:cNvSpPr txBox="1"/>
          <p:nvPr/>
        </p:nvSpPr>
        <p:spPr>
          <a:xfrm>
            <a:off x="1184337" y="5461239"/>
            <a:ext cx="4464808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000" b="1" dirty="0" smtClean="0">
                <a:solidFill>
                  <a:srgbClr val="1F51FF"/>
                </a:solidFill>
                <a:latin typeface="Calibri"/>
                <a:ea typeface="Calibri"/>
                <a:cs typeface="Calibri"/>
                <a:sym typeface="Calibri"/>
              </a:rPr>
              <a:t>position : absolute</a:t>
            </a:r>
            <a:endParaRPr lang="en-US" sz="2000" b="1" dirty="0">
              <a:solidFill>
                <a:srgbClr val="1F51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</p:txBody>
      </p:sp>
      <p:sp>
        <p:nvSpPr>
          <p:cNvPr id="16" name="Google Shape;173;p2"/>
          <p:cNvSpPr txBox="1"/>
          <p:nvPr/>
        </p:nvSpPr>
        <p:spPr>
          <a:xfrm>
            <a:off x="7088874" y="5373774"/>
            <a:ext cx="4644148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000" b="1" dirty="0" smtClean="0">
                <a:solidFill>
                  <a:srgbClr val="1F51FF"/>
                </a:solidFill>
                <a:latin typeface="Calibri"/>
                <a:ea typeface="Calibri"/>
                <a:cs typeface="Calibri"/>
                <a:sym typeface="Calibri"/>
              </a:rPr>
              <a:t>position : relative</a:t>
            </a:r>
            <a:endParaRPr lang="en-US" sz="2000" b="1" dirty="0">
              <a:solidFill>
                <a:srgbClr val="1F51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9675" y="1151112"/>
            <a:ext cx="1168348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 smtClean="0">
                <a:solidFill>
                  <a:srgbClr val="1F51FF"/>
                </a:solidFill>
              </a:rPr>
              <a:t>Html </a:t>
            </a:r>
            <a:r>
              <a:rPr lang="ka-GE" sz="2200" dirty="0" smtClean="0">
                <a:solidFill>
                  <a:srgbClr val="1F51FF"/>
                </a:solidFill>
              </a:rPr>
              <a:t>ის ყველა ელემენტს დეფაულთად აქვს პოზიცია </a:t>
            </a:r>
            <a:r>
              <a:rPr lang="en-US" sz="2200" dirty="0" smtClean="0">
                <a:solidFill>
                  <a:srgbClr val="D52A7B"/>
                </a:solidFill>
              </a:rPr>
              <a:t>static</a:t>
            </a:r>
            <a:r>
              <a:rPr lang="en-US" sz="2200" dirty="0" smtClean="0">
                <a:solidFill>
                  <a:srgbClr val="1F51FF"/>
                </a:solidFill>
              </a:rPr>
              <a:t> - </a:t>
            </a:r>
            <a:r>
              <a:rPr lang="ka-GE" sz="2200" dirty="0" smtClean="0">
                <a:solidFill>
                  <a:srgbClr val="1F51FF"/>
                </a:solidFill>
              </a:rPr>
              <a:t>რაც იმას უზრუნველყოფს, რომ ელემენტები სტატიკურად მიყვებიან ვებ-საიტზე მათი განლაგების დინამიკას</a:t>
            </a:r>
            <a:r>
              <a:rPr lang="en-US" sz="2200" dirty="0" smtClean="0">
                <a:solidFill>
                  <a:srgbClr val="1F51FF"/>
                </a:solidFill>
              </a:rPr>
              <a:t>.</a:t>
            </a:r>
            <a:r>
              <a:rPr lang="ka-GE" sz="2200" dirty="0" smtClean="0">
                <a:solidFill>
                  <a:srgbClr val="1F51FF"/>
                </a:solidFill>
              </a:rPr>
              <a:t> </a:t>
            </a:r>
          </a:p>
          <a:p>
            <a:pPr algn="ctr"/>
            <a:endParaRPr lang="en-US" sz="2200" dirty="0">
              <a:solidFill>
                <a:srgbClr val="1F51FF"/>
              </a:solidFill>
            </a:endParaRPr>
          </a:p>
          <a:p>
            <a:pPr algn="ctr"/>
            <a:r>
              <a:rPr lang="en-US" sz="2200" dirty="0" smtClean="0">
                <a:solidFill>
                  <a:srgbClr val="1F51FF"/>
                </a:solidFill>
              </a:rPr>
              <a:t>CSS -</a:t>
            </a:r>
            <a:r>
              <a:rPr lang="ka-GE" sz="2200" dirty="0" smtClean="0">
                <a:solidFill>
                  <a:srgbClr val="1F51FF"/>
                </a:solidFill>
              </a:rPr>
              <a:t>ის საშუალებით შეგვიძლია ამ დინამიკის შეცვლა შემდეგი პოზიციების გამოყენებით.</a:t>
            </a:r>
            <a:endParaRPr lang="en-US" sz="2200" dirty="0">
              <a:solidFill>
                <a:srgbClr val="1F51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"/>
          <p:cNvSpPr txBox="1"/>
          <p:nvPr/>
        </p:nvSpPr>
        <p:spPr>
          <a:xfrm>
            <a:off x="471031" y="213130"/>
            <a:ext cx="1172096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a-GE" sz="4400" b="1" cap="all" dirty="0" smtClean="0">
                <a:solidFill>
                  <a:srgbClr val="D52A7B"/>
                </a:solidFill>
                <a:latin typeface="FiraGO"/>
                <a:ea typeface="FiraGO"/>
                <a:cs typeface="FiraGO"/>
              </a:rPr>
              <a:t>                     </a:t>
            </a:r>
            <a:r>
              <a:rPr lang="en-US" sz="4400" b="1" cap="all" dirty="0" smtClean="0">
                <a:solidFill>
                  <a:srgbClr val="D52A7B"/>
                </a:solidFill>
                <a:latin typeface="FiraGO"/>
                <a:ea typeface="FiraGO"/>
                <a:cs typeface="FiraGO"/>
              </a:rPr>
              <a:t>/*</a:t>
            </a:r>
            <a:r>
              <a:rPr lang="en-US" sz="4400" b="1" cap="all" dirty="0" smtClean="0">
                <a:solidFill>
                  <a:srgbClr val="F4DA33"/>
                </a:solidFill>
                <a:latin typeface="FiraGO"/>
                <a:ea typeface="FiraGO"/>
                <a:cs typeface="FiraGO"/>
              </a:rPr>
              <a:t>   </a:t>
            </a:r>
            <a:r>
              <a:rPr lang="ka-GE" sz="4400" b="1" cap="all" dirty="0" smtClean="0">
                <a:solidFill>
                  <a:srgbClr val="1F51FF"/>
                </a:solidFill>
                <a:latin typeface="FiraGO"/>
                <a:ea typeface="FiraGO"/>
                <a:cs typeface="FiraGO"/>
              </a:rPr>
              <a:t>პოზიციები</a:t>
            </a:r>
            <a:r>
              <a:rPr lang="en-US" sz="4400" b="1" cap="all" dirty="0" smtClean="0">
                <a:solidFill>
                  <a:srgbClr val="D52A7B"/>
                </a:solidFill>
                <a:latin typeface="FiraGO"/>
                <a:ea typeface="FiraGO"/>
                <a:cs typeface="FiraGO"/>
              </a:rPr>
              <a:t>*/</a:t>
            </a:r>
            <a:endParaRPr lang="ka-GE" b="1" cap="all" dirty="0">
              <a:solidFill>
                <a:srgbClr val="D52A7B"/>
              </a:solidFill>
              <a:latin typeface="FiraGO"/>
              <a:ea typeface="FiraGO"/>
              <a:cs typeface="FiraGO"/>
            </a:endParaRPr>
          </a:p>
        </p:txBody>
      </p:sp>
      <p:sp>
        <p:nvSpPr>
          <p:cNvPr id="171" name="Google Shape;171;p2"/>
          <p:cNvSpPr/>
          <p:nvPr/>
        </p:nvSpPr>
        <p:spPr>
          <a:xfrm>
            <a:off x="201994" y="965675"/>
            <a:ext cx="4882624" cy="1331682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dirty="0">
              <a:solidFill>
                <a:srgbClr val="D52A7B"/>
              </a:solidFill>
            </a:endParaRPr>
          </a:p>
        </p:txBody>
      </p:sp>
      <p:sp>
        <p:nvSpPr>
          <p:cNvPr id="173" name="Google Shape;173;p2"/>
          <p:cNvSpPr txBox="1"/>
          <p:nvPr/>
        </p:nvSpPr>
        <p:spPr>
          <a:xfrm>
            <a:off x="141596" y="1278103"/>
            <a:ext cx="3751389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000" b="1" dirty="0" smtClean="0">
                <a:solidFill>
                  <a:srgbClr val="1F51FF"/>
                </a:solidFill>
                <a:latin typeface="Calibri"/>
                <a:ea typeface="Calibri"/>
                <a:cs typeface="Calibri"/>
                <a:sym typeface="Calibri"/>
              </a:rPr>
              <a:t>position : fixed</a:t>
            </a:r>
            <a:endParaRPr lang="en-US" sz="2000" b="1" dirty="0">
              <a:solidFill>
                <a:srgbClr val="1F51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</p:txBody>
      </p:sp>
      <p:sp>
        <p:nvSpPr>
          <p:cNvPr id="14" name="Google Shape;171;p2"/>
          <p:cNvSpPr/>
          <p:nvPr/>
        </p:nvSpPr>
        <p:spPr>
          <a:xfrm>
            <a:off x="5347854" y="965675"/>
            <a:ext cx="6704115" cy="1331682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dirty="0">
              <a:solidFill>
                <a:srgbClr val="D52A7B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570673" y="989817"/>
            <a:ext cx="2369139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D52A7B"/>
                </a:solidFill>
              </a:rPr>
              <a:t>  </a:t>
            </a:r>
            <a:r>
              <a:rPr lang="en-US" sz="1800" dirty="0" smtClean="0">
                <a:solidFill>
                  <a:srgbClr val="D52A7B"/>
                </a:solidFill>
              </a:rPr>
              <a:t>div {</a:t>
            </a:r>
            <a:endParaRPr lang="en-US" sz="1800" dirty="0">
              <a:solidFill>
                <a:srgbClr val="D52A7B"/>
              </a:solidFill>
            </a:endParaRPr>
          </a:p>
          <a:p>
            <a:r>
              <a:rPr lang="en-US" sz="1800" dirty="0">
                <a:solidFill>
                  <a:srgbClr val="D52A7B"/>
                </a:solidFill>
              </a:rPr>
              <a:t>    position: fixed;</a:t>
            </a:r>
          </a:p>
          <a:p>
            <a:r>
              <a:rPr lang="en-US" sz="1800" dirty="0">
                <a:solidFill>
                  <a:srgbClr val="D52A7B"/>
                </a:solidFill>
              </a:rPr>
              <a:t>    top: 10px;</a:t>
            </a:r>
          </a:p>
          <a:p>
            <a:r>
              <a:rPr lang="en-US" sz="1800" dirty="0">
                <a:solidFill>
                  <a:srgbClr val="D52A7B"/>
                </a:solidFill>
              </a:rPr>
              <a:t>    left: 10px</a:t>
            </a:r>
            <a:r>
              <a:rPr lang="en-US" sz="1800" dirty="0" smtClean="0">
                <a:solidFill>
                  <a:srgbClr val="D52A7B"/>
                </a:solidFill>
              </a:rPr>
              <a:t>;</a:t>
            </a:r>
            <a:r>
              <a:rPr lang="en-US" sz="1800" dirty="0">
                <a:solidFill>
                  <a:srgbClr val="D52A7B"/>
                </a:solidFill>
              </a:rPr>
              <a:t>  }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369816" y="1436093"/>
            <a:ext cx="4498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6DC034"/>
                </a:solidFill>
              </a:rPr>
              <a:t>f</a:t>
            </a:r>
            <a:r>
              <a:rPr lang="en-US" dirty="0" smtClean="0">
                <a:solidFill>
                  <a:srgbClr val="6DC034"/>
                </a:solidFill>
              </a:rPr>
              <a:t>ixed </a:t>
            </a:r>
            <a:r>
              <a:rPr lang="ka-GE" dirty="0" smtClean="0">
                <a:solidFill>
                  <a:srgbClr val="6DC034"/>
                </a:solidFill>
              </a:rPr>
              <a:t>ელემენტი მიმაგრებულია მითიებულ წერილებში </a:t>
            </a:r>
            <a:r>
              <a:rPr lang="ka-GE" dirty="0">
                <a:solidFill>
                  <a:srgbClr val="6DC034"/>
                </a:solidFill>
              </a:rPr>
              <a:t>და არ </a:t>
            </a:r>
            <a:r>
              <a:rPr lang="ka-GE" dirty="0" smtClean="0">
                <a:solidFill>
                  <a:srgbClr val="6DC034"/>
                </a:solidFill>
              </a:rPr>
              <a:t>ისქროლება.</a:t>
            </a:r>
            <a:endParaRPr lang="en-US" dirty="0">
              <a:solidFill>
                <a:srgbClr val="6DC034"/>
              </a:solidFill>
            </a:endParaRPr>
          </a:p>
        </p:txBody>
      </p:sp>
      <p:sp>
        <p:nvSpPr>
          <p:cNvPr id="18" name="Google Shape;171;p2"/>
          <p:cNvSpPr/>
          <p:nvPr/>
        </p:nvSpPr>
        <p:spPr>
          <a:xfrm>
            <a:off x="201994" y="2471776"/>
            <a:ext cx="4882624" cy="1331682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dirty="0">
              <a:solidFill>
                <a:srgbClr val="D52A7B"/>
              </a:solidFill>
            </a:endParaRPr>
          </a:p>
        </p:txBody>
      </p:sp>
      <p:sp>
        <p:nvSpPr>
          <p:cNvPr id="20" name="Google Shape;171;p2"/>
          <p:cNvSpPr/>
          <p:nvPr/>
        </p:nvSpPr>
        <p:spPr>
          <a:xfrm>
            <a:off x="5347855" y="2405589"/>
            <a:ext cx="6693662" cy="1331682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dirty="0">
              <a:solidFill>
                <a:srgbClr val="D52A7B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31071" y="2429731"/>
            <a:ext cx="2369139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D52A7B"/>
                </a:solidFill>
              </a:rPr>
              <a:t>  </a:t>
            </a:r>
            <a:r>
              <a:rPr lang="en-US" sz="1800" dirty="0" smtClean="0">
                <a:solidFill>
                  <a:srgbClr val="D52A7B"/>
                </a:solidFill>
              </a:rPr>
              <a:t>div {</a:t>
            </a:r>
            <a:endParaRPr lang="en-US" sz="1800" dirty="0">
              <a:solidFill>
                <a:srgbClr val="D52A7B"/>
              </a:solidFill>
            </a:endParaRPr>
          </a:p>
          <a:p>
            <a:r>
              <a:rPr lang="en-US" sz="1800" dirty="0">
                <a:solidFill>
                  <a:srgbClr val="D52A7B"/>
                </a:solidFill>
              </a:rPr>
              <a:t>    position: </a:t>
            </a:r>
            <a:r>
              <a:rPr lang="en-US" sz="1800" dirty="0" smtClean="0">
                <a:solidFill>
                  <a:srgbClr val="D52A7B"/>
                </a:solidFill>
              </a:rPr>
              <a:t>sticky;</a:t>
            </a:r>
            <a:endParaRPr lang="en-US" sz="1800" dirty="0">
              <a:solidFill>
                <a:srgbClr val="D52A7B"/>
              </a:solidFill>
            </a:endParaRPr>
          </a:p>
          <a:p>
            <a:r>
              <a:rPr lang="en-US" sz="1800" dirty="0">
                <a:solidFill>
                  <a:srgbClr val="D52A7B"/>
                </a:solidFill>
              </a:rPr>
              <a:t>    top: 10px;</a:t>
            </a:r>
          </a:p>
          <a:p>
            <a:r>
              <a:rPr lang="en-US" sz="1800" dirty="0">
                <a:solidFill>
                  <a:srgbClr val="D52A7B"/>
                </a:solidFill>
              </a:rPr>
              <a:t>    left: 10px</a:t>
            </a:r>
            <a:r>
              <a:rPr lang="en-US" sz="1800" dirty="0" smtClean="0">
                <a:solidFill>
                  <a:srgbClr val="D52A7B"/>
                </a:solidFill>
              </a:rPr>
              <a:t>;</a:t>
            </a:r>
            <a:r>
              <a:rPr lang="en-US" sz="1800" dirty="0">
                <a:solidFill>
                  <a:srgbClr val="D52A7B"/>
                </a:solidFill>
              </a:rPr>
              <a:t>  }</a:t>
            </a:r>
          </a:p>
          <a:p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5369817" y="2715862"/>
            <a:ext cx="44988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6DC034"/>
                </a:solidFill>
              </a:rPr>
              <a:t>s</a:t>
            </a:r>
            <a:r>
              <a:rPr lang="en-US" dirty="0" smtClean="0">
                <a:solidFill>
                  <a:srgbClr val="6DC034"/>
                </a:solidFill>
              </a:rPr>
              <a:t>ticky </a:t>
            </a:r>
            <a:r>
              <a:rPr lang="ka-GE" dirty="0" smtClean="0">
                <a:solidFill>
                  <a:srgbClr val="6DC034"/>
                </a:solidFill>
              </a:rPr>
              <a:t>ელემენტი მიმაგრებულია  მითიებულ წერილებში მანამ მისი მშობელი ბოლომდე დაისქროლება.</a:t>
            </a:r>
            <a:endParaRPr lang="en-US" dirty="0">
              <a:solidFill>
                <a:srgbClr val="6DC034"/>
              </a:solidFill>
            </a:endParaRPr>
          </a:p>
        </p:txBody>
      </p:sp>
      <p:sp>
        <p:nvSpPr>
          <p:cNvPr id="23" name="Google Shape;173;p2"/>
          <p:cNvSpPr txBox="1"/>
          <p:nvPr/>
        </p:nvSpPr>
        <p:spPr>
          <a:xfrm>
            <a:off x="201994" y="2760183"/>
            <a:ext cx="4644148" cy="1231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4000" b="1" dirty="0" smtClean="0">
                <a:solidFill>
                  <a:srgbClr val="1F51FF"/>
                </a:solidFill>
                <a:latin typeface="Calibri"/>
                <a:ea typeface="Calibri"/>
                <a:cs typeface="Calibri"/>
                <a:sym typeface="Calibri"/>
              </a:rPr>
              <a:t>position : </a:t>
            </a:r>
            <a:r>
              <a:rPr lang="en-US" sz="4000" b="1" dirty="0">
                <a:solidFill>
                  <a:srgbClr val="1F51FF"/>
                </a:solidFill>
                <a:latin typeface="Calibri"/>
                <a:ea typeface="Calibri"/>
                <a:cs typeface="Calibri"/>
              </a:rPr>
              <a:t>sticky</a:t>
            </a:r>
          </a:p>
          <a:p>
            <a:pPr lvl="0"/>
            <a:endParaRPr lang="en-US" sz="2000" b="1" dirty="0">
              <a:solidFill>
                <a:srgbClr val="1F51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</p:txBody>
      </p:sp>
      <p:sp>
        <p:nvSpPr>
          <p:cNvPr id="24" name="Google Shape;171;p2"/>
          <p:cNvSpPr/>
          <p:nvPr/>
        </p:nvSpPr>
        <p:spPr>
          <a:xfrm>
            <a:off x="148154" y="3951496"/>
            <a:ext cx="4936464" cy="1331682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dirty="0">
              <a:solidFill>
                <a:srgbClr val="D52A7B"/>
              </a:solidFill>
            </a:endParaRPr>
          </a:p>
        </p:txBody>
      </p:sp>
      <p:sp>
        <p:nvSpPr>
          <p:cNvPr id="25" name="Google Shape;171;p2"/>
          <p:cNvSpPr/>
          <p:nvPr/>
        </p:nvSpPr>
        <p:spPr>
          <a:xfrm>
            <a:off x="5299990" y="3870384"/>
            <a:ext cx="6751980" cy="1331682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dirty="0">
              <a:solidFill>
                <a:srgbClr val="D52A7B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577231" y="3909451"/>
            <a:ext cx="2369139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D52A7B"/>
                </a:solidFill>
              </a:rPr>
              <a:t>  </a:t>
            </a:r>
            <a:r>
              <a:rPr lang="en-US" sz="1800" dirty="0" smtClean="0">
                <a:solidFill>
                  <a:srgbClr val="D52A7B"/>
                </a:solidFill>
              </a:rPr>
              <a:t>div {</a:t>
            </a:r>
            <a:endParaRPr lang="en-US" sz="1800" dirty="0">
              <a:solidFill>
                <a:srgbClr val="D52A7B"/>
              </a:solidFill>
            </a:endParaRPr>
          </a:p>
          <a:p>
            <a:r>
              <a:rPr lang="en-US" sz="1800" dirty="0">
                <a:solidFill>
                  <a:srgbClr val="D52A7B"/>
                </a:solidFill>
              </a:rPr>
              <a:t>    position: </a:t>
            </a:r>
            <a:r>
              <a:rPr lang="en-US" sz="1800" dirty="0">
                <a:solidFill>
                  <a:srgbClr val="D52A7B"/>
                </a:solidFill>
                <a:latin typeface="Calibri"/>
                <a:ea typeface="Calibri"/>
                <a:cs typeface="Calibri"/>
                <a:sym typeface="Calibri"/>
              </a:rPr>
              <a:t>absolute</a:t>
            </a:r>
            <a:r>
              <a:rPr lang="en-US" sz="1800" dirty="0" smtClean="0">
                <a:solidFill>
                  <a:srgbClr val="D52A7B"/>
                </a:solidFill>
              </a:rPr>
              <a:t>;</a:t>
            </a:r>
            <a:endParaRPr lang="en-US" sz="1800" dirty="0">
              <a:solidFill>
                <a:srgbClr val="D52A7B"/>
              </a:solidFill>
            </a:endParaRPr>
          </a:p>
          <a:p>
            <a:r>
              <a:rPr lang="en-US" sz="1800" dirty="0">
                <a:solidFill>
                  <a:srgbClr val="D52A7B"/>
                </a:solidFill>
              </a:rPr>
              <a:t>    top: 10px;</a:t>
            </a:r>
          </a:p>
          <a:p>
            <a:r>
              <a:rPr lang="en-US" sz="1800" dirty="0">
                <a:solidFill>
                  <a:srgbClr val="D52A7B"/>
                </a:solidFill>
              </a:rPr>
              <a:t>    left: 10px</a:t>
            </a:r>
            <a:r>
              <a:rPr lang="en-US" sz="1800" dirty="0" smtClean="0">
                <a:solidFill>
                  <a:srgbClr val="D52A7B"/>
                </a:solidFill>
              </a:rPr>
              <a:t>;</a:t>
            </a:r>
            <a:r>
              <a:rPr lang="en-US" sz="1800" dirty="0">
                <a:solidFill>
                  <a:srgbClr val="D52A7B"/>
                </a:solidFill>
              </a:rPr>
              <a:t>  }</a:t>
            </a:r>
          </a:p>
          <a:p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5347854" y="4182507"/>
            <a:ext cx="4044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6DC034"/>
                </a:solidFill>
              </a:rPr>
              <a:t>a</a:t>
            </a:r>
            <a:r>
              <a:rPr lang="en-US" dirty="0" smtClean="0">
                <a:solidFill>
                  <a:srgbClr val="6DC034"/>
                </a:solidFill>
              </a:rPr>
              <a:t>bsolute </a:t>
            </a:r>
            <a:r>
              <a:rPr lang="ka-GE" dirty="0" smtClean="0">
                <a:solidFill>
                  <a:srgbClr val="6DC034"/>
                </a:solidFill>
              </a:rPr>
              <a:t>ელემენტი</a:t>
            </a:r>
            <a:r>
              <a:rPr lang="en-US" dirty="0" smtClean="0">
                <a:solidFill>
                  <a:srgbClr val="6DC034"/>
                </a:solidFill>
              </a:rPr>
              <a:t> </a:t>
            </a:r>
            <a:r>
              <a:rPr lang="ka-GE" dirty="0" smtClean="0">
                <a:solidFill>
                  <a:srgbClr val="6DC034"/>
                </a:solidFill>
              </a:rPr>
              <a:t>გამოდის საიტის დინამიკიდან და დაშორებებს იღებს </a:t>
            </a:r>
            <a:r>
              <a:rPr lang="en-US" dirty="0" smtClean="0">
                <a:solidFill>
                  <a:srgbClr val="6DC034"/>
                </a:solidFill>
              </a:rPr>
              <a:t>body</a:t>
            </a:r>
            <a:r>
              <a:rPr lang="ka-GE" dirty="0" smtClean="0">
                <a:solidFill>
                  <a:srgbClr val="6DC034"/>
                </a:solidFill>
              </a:rPr>
              <a:t>-დან.</a:t>
            </a:r>
            <a:endParaRPr lang="en-US" dirty="0">
              <a:solidFill>
                <a:srgbClr val="6DC034"/>
              </a:solidFill>
            </a:endParaRPr>
          </a:p>
        </p:txBody>
      </p:sp>
      <p:sp>
        <p:nvSpPr>
          <p:cNvPr id="28" name="Google Shape;173;p2"/>
          <p:cNvSpPr txBox="1"/>
          <p:nvPr/>
        </p:nvSpPr>
        <p:spPr>
          <a:xfrm>
            <a:off x="201994" y="4182507"/>
            <a:ext cx="4464808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000" b="1" dirty="0" smtClean="0">
                <a:solidFill>
                  <a:srgbClr val="1F51FF"/>
                </a:solidFill>
                <a:latin typeface="Calibri"/>
                <a:ea typeface="Calibri"/>
                <a:cs typeface="Calibri"/>
                <a:sym typeface="Calibri"/>
              </a:rPr>
              <a:t>position : absolute</a:t>
            </a:r>
            <a:endParaRPr lang="en-US" sz="2000" b="1" dirty="0">
              <a:solidFill>
                <a:srgbClr val="1F51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</p:txBody>
      </p:sp>
      <p:sp>
        <p:nvSpPr>
          <p:cNvPr id="29" name="Google Shape;171;p2"/>
          <p:cNvSpPr/>
          <p:nvPr/>
        </p:nvSpPr>
        <p:spPr>
          <a:xfrm>
            <a:off x="148154" y="5365029"/>
            <a:ext cx="4936464" cy="1331682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dirty="0">
              <a:solidFill>
                <a:srgbClr val="D52A7B"/>
              </a:solidFill>
            </a:endParaRPr>
          </a:p>
        </p:txBody>
      </p:sp>
      <p:sp>
        <p:nvSpPr>
          <p:cNvPr id="30" name="Google Shape;171;p2"/>
          <p:cNvSpPr/>
          <p:nvPr/>
        </p:nvSpPr>
        <p:spPr>
          <a:xfrm>
            <a:off x="5299990" y="5305680"/>
            <a:ext cx="6751980" cy="1331682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lang="en-US" dirty="0">
              <a:solidFill>
                <a:srgbClr val="D52A7B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109474" y="5497040"/>
            <a:ext cx="218770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D52A7B"/>
                </a:solidFill>
                <a:latin typeface="Calibri"/>
                <a:ea typeface="Calibri"/>
                <a:cs typeface="Calibri"/>
                <a:sym typeface="Calibri"/>
              </a:rPr>
              <a:t>  .parent{</a:t>
            </a:r>
          </a:p>
          <a:p>
            <a:r>
              <a:rPr lang="en-US" sz="1800" dirty="0">
                <a:solidFill>
                  <a:srgbClr val="D52A7B"/>
                </a:solidFill>
                <a:latin typeface="Calibri"/>
                <a:ea typeface="Calibri"/>
                <a:cs typeface="Calibri"/>
                <a:sym typeface="Calibri"/>
              </a:rPr>
              <a:t>    position: relative</a:t>
            </a:r>
            <a:r>
              <a:rPr lang="en-US" sz="1800" dirty="0" smtClean="0">
                <a:solidFill>
                  <a:srgbClr val="D52A7B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</a:p>
          <a:p>
            <a:r>
              <a:rPr lang="en-US" sz="1800" dirty="0" smtClean="0">
                <a:solidFill>
                  <a:srgbClr val="D52A7B"/>
                </a:solidFill>
                <a:latin typeface="Calibri"/>
                <a:ea typeface="Calibri"/>
                <a:cs typeface="Calibri"/>
                <a:sym typeface="Calibri"/>
              </a:rPr>
              <a:t>   }</a:t>
            </a:r>
            <a:endParaRPr lang="en-US" sz="1800" dirty="0">
              <a:solidFill>
                <a:srgbClr val="D52A7B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5299990" y="5461008"/>
            <a:ext cx="30895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6DC034"/>
                </a:solidFill>
              </a:rPr>
              <a:t>r</a:t>
            </a:r>
            <a:r>
              <a:rPr lang="en-US" dirty="0" smtClean="0">
                <a:solidFill>
                  <a:srgbClr val="6DC034"/>
                </a:solidFill>
              </a:rPr>
              <a:t>elative </a:t>
            </a:r>
            <a:r>
              <a:rPr lang="ka-GE" dirty="0" smtClean="0">
                <a:solidFill>
                  <a:srgbClr val="6DC034"/>
                </a:solidFill>
              </a:rPr>
              <a:t>ელემენტი</a:t>
            </a:r>
            <a:r>
              <a:rPr lang="en-US" dirty="0" smtClean="0">
                <a:solidFill>
                  <a:srgbClr val="6DC034"/>
                </a:solidFill>
              </a:rPr>
              <a:t> </a:t>
            </a:r>
            <a:r>
              <a:rPr lang="ka-GE" dirty="0" smtClean="0">
                <a:solidFill>
                  <a:srgbClr val="6DC034"/>
                </a:solidFill>
              </a:rPr>
              <a:t>იმორჩილებს </a:t>
            </a:r>
            <a:r>
              <a:rPr lang="en-US" dirty="0" smtClean="0">
                <a:solidFill>
                  <a:srgbClr val="6DC034"/>
                </a:solidFill>
              </a:rPr>
              <a:t>absolute </a:t>
            </a:r>
            <a:r>
              <a:rPr lang="ka-GE" dirty="0" smtClean="0">
                <a:solidFill>
                  <a:srgbClr val="6DC034"/>
                </a:solidFill>
              </a:rPr>
              <a:t>შვილს. </a:t>
            </a:r>
            <a:endParaRPr lang="en-US" dirty="0" smtClean="0">
              <a:solidFill>
                <a:srgbClr val="6DC034"/>
              </a:solidFill>
            </a:endParaRPr>
          </a:p>
          <a:p>
            <a:r>
              <a:rPr lang="ka-GE" dirty="0" smtClean="0">
                <a:solidFill>
                  <a:srgbClr val="6DC034"/>
                </a:solidFill>
              </a:rPr>
              <a:t>მოცემული კოდით </a:t>
            </a:r>
            <a:r>
              <a:rPr lang="en-US" dirty="0" smtClean="0">
                <a:solidFill>
                  <a:srgbClr val="6DC034"/>
                </a:solidFill>
              </a:rPr>
              <a:t>absolute </a:t>
            </a:r>
            <a:r>
              <a:rPr lang="ka-GE" dirty="0" smtClean="0">
                <a:solidFill>
                  <a:srgbClr val="6DC034"/>
                </a:solidFill>
              </a:rPr>
              <a:t>შვილი დაშორებას აიღებს მშობლიდან</a:t>
            </a:r>
            <a:endParaRPr lang="en-US" dirty="0">
              <a:solidFill>
                <a:srgbClr val="6DC034"/>
              </a:solidFill>
            </a:endParaRPr>
          </a:p>
        </p:txBody>
      </p:sp>
      <p:sp>
        <p:nvSpPr>
          <p:cNvPr id="34" name="Google Shape;173;p2"/>
          <p:cNvSpPr txBox="1"/>
          <p:nvPr/>
        </p:nvSpPr>
        <p:spPr>
          <a:xfrm>
            <a:off x="201994" y="5575078"/>
            <a:ext cx="4644148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000" b="1" dirty="0" smtClean="0">
                <a:solidFill>
                  <a:srgbClr val="1F51FF"/>
                </a:solidFill>
                <a:latin typeface="Calibri"/>
                <a:ea typeface="Calibri"/>
                <a:cs typeface="Calibri"/>
                <a:sym typeface="Calibri"/>
              </a:rPr>
              <a:t>position : relative</a:t>
            </a:r>
            <a:endParaRPr lang="en-US" sz="2000" b="1" dirty="0">
              <a:solidFill>
                <a:srgbClr val="1F51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FiraGO Light" panose="020B0403050000020004" pitchFamily="34" charset="0"/>
              <a:ea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937320" y="5422764"/>
            <a:ext cx="225468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D52A7B"/>
                </a:solidFill>
                <a:latin typeface="Calibri"/>
                <a:ea typeface="Calibri"/>
                <a:cs typeface="Calibri"/>
                <a:sym typeface="Calibri"/>
              </a:rPr>
              <a:t>  .child{</a:t>
            </a:r>
          </a:p>
          <a:p>
            <a:r>
              <a:rPr lang="en-US" sz="1800" dirty="0">
                <a:solidFill>
                  <a:srgbClr val="D52A7B"/>
                </a:solidFill>
                <a:latin typeface="Calibri"/>
                <a:ea typeface="Calibri"/>
                <a:cs typeface="Calibri"/>
                <a:sym typeface="Calibri"/>
              </a:rPr>
              <a:t>    position: absolute;</a:t>
            </a:r>
          </a:p>
          <a:p>
            <a:r>
              <a:rPr lang="en-US" sz="1800" dirty="0">
                <a:solidFill>
                  <a:srgbClr val="D52A7B"/>
                </a:solidFill>
                <a:latin typeface="Calibri"/>
                <a:ea typeface="Calibri"/>
                <a:cs typeface="Calibri"/>
                <a:sym typeface="Calibri"/>
              </a:rPr>
              <a:t>    top: 10px</a:t>
            </a:r>
            <a:r>
              <a:rPr lang="en-US" sz="1800" dirty="0" smtClean="0">
                <a:solidFill>
                  <a:srgbClr val="D52A7B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</a:p>
          <a:p>
            <a:r>
              <a:rPr lang="en-US" sz="1800" dirty="0" smtClean="0">
                <a:solidFill>
                  <a:srgbClr val="D52A7B"/>
                </a:solidFill>
                <a:latin typeface="Calibri"/>
                <a:ea typeface="Calibri"/>
                <a:cs typeface="Calibri"/>
                <a:sym typeface="Calibri"/>
              </a:rPr>
              <a:t>    }</a:t>
            </a:r>
            <a:endParaRPr lang="en-US" sz="1800" dirty="0">
              <a:solidFill>
                <a:srgbClr val="D52A7B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50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"/>
          <p:cNvSpPr txBox="1"/>
          <p:nvPr/>
        </p:nvSpPr>
        <p:spPr>
          <a:xfrm>
            <a:off x="128338" y="523945"/>
            <a:ext cx="12169432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400" b="1" cap="all" dirty="0">
                <a:solidFill>
                  <a:srgbClr val="6DC034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/</a:t>
            </a:r>
            <a:r>
              <a:rPr lang="ka-GE" sz="4400" b="1" cap="all" dirty="0">
                <a:solidFill>
                  <a:srgbClr val="6DC034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*</a:t>
            </a:r>
            <a:r>
              <a:rPr lang="en-US" sz="4400" b="1" cap="all" dirty="0">
                <a:solidFill>
                  <a:srgbClr val="6DC034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 </a:t>
            </a:r>
            <a:r>
              <a:rPr lang="ka-GE" sz="5400" dirty="0" smtClean="0">
                <a:solidFill>
                  <a:srgbClr val="D52A7B"/>
                </a:solidFill>
                <a:latin typeface="FiraGO" panose="020B0503050000020004" pitchFamily="34" charset="0"/>
                <a:ea typeface="FiraGO" panose="020B0503050000020004" pitchFamily="34" charset="0"/>
              </a:rPr>
              <a:t>პოზიციების მახასიათებლები</a:t>
            </a:r>
            <a:r>
              <a:rPr lang="ka-GE" sz="4400" b="1" dirty="0" smtClean="0">
                <a:solidFill>
                  <a:srgbClr val="92D05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*/</a:t>
            </a:r>
            <a:endParaRPr lang="ka-GE" b="1" cap="all" dirty="0">
              <a:solidFill>
                <a:srgbClr val="92D050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  <a:sym typeface="Noto Sans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583079" y="1643614"/>
            <a:ext cx="10930048" cy="4564681"/>
          </a:xfrm>
          <a:prstGeom prst="roundRect">
            <a:avLst>
              <a:gd name="adj" fmla="val 3038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"/>
          <p:cNvSpPr txBox="1"/>
          <p:nvPr/>
        </p:nvSpPr>
        <p:spPr>
          <a:xfrm>
            <a:off x="918864" y="2117752"/>
            <a:ext cx="1034549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800" b="1" dirty="0" smtClean="0">
                <a:solidFill>
                  <a:srgbClr val="F4DA33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top</a:t>
            </a:r>
            <a:r>
              <a:rPr lang="en-US" sz="1600" dirty="0" smtClean="0">
                <a:solidFill>
                  <a:schemeClr val="bg1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– </a:t>
            </a:r>
            <a:r>
              <a:rPr lang="ka-GE" sz="1600" dirty="0" smtClean="0">
                <a:solidFill>
                  <a:schemeClr val="bg1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მიუთითებს ზემოდან რა წერტილში განთავსდეს</a:t>
            </a:r>
            <a:endParaRPr dirty="0">
              <a:solidFill>
                <a:schemeClr val="bg1"/>
              </a:solidFill>
              <a:latin typeface="FiraGO Light" panose="020B0604020202020204" charset="0"/>
              <a:ea typeface="FiraGO Light" panose="020B0604020202020204" charset="0"/>
              <a:cs typeface="FiraGO Light" panose="020B0604020202020204" charset="0"/>
            </a:endParaRPr>
          </a:p>
        </p:txBody>
      </p:sp>
      <p:sp>
        <p:nvSpPr>
          <p:cNvPr id="2" name="Google Shape;183;p3">
            <a:extLst>
              <a:ext uri="{FF2B5EF4-FFF2-40B4-BE49-F238E27FC236}">
                <a16:creationId xmlns:a16="http://schemas.microsoft.com/office/drawing/2014/main" id="{B71A62C4-3780-5E10-D18A-6F7F2CEB3787}"/>
              </a:ext>
            </a:extLst>
          </p:cNvPr>
          <p:cNvSpPr txBox="1"/>
          <p:nvPr/>
        </p:nvSpPr>
        <p:spPr>
          <a:xfrm>
            <a:off x="932942" y="3234442"/>
            <a:ext cx="880680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800" b="1" dirty="0" smtClean="0">
                <a:solidFill>
                  <a:srgbClr val="6DC034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right</a:t>
            </a:r>
            <a:r>
              <a:rPr lang="en-US" sz="1600" b="1" dirty="0" smtClean="0">
                <a:solidFill>
                  <a:srgbClr val="6DC034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– </a:t>
            </a:r>
            <a:r>
              <a:rPr lang="ka-GE" sz="1600" dirty="0">
                <a:solidFill>
                  <a:schemeClr val="bg1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მიუთითებს </a:t>
            </a:r>
            <a:r>
              <a:rPr lang="ka-GE" sz="1600" dirty="0" smtClean="0">
                <a:solidFill>
                  <a:schemeClr val="bg1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მარჯვნიდან </a:t>
            </a:r>
            <a:r>
              <a:rPr lang="ka-GE" sz="1600" dirty="0">
                <a:solidFill>
                  <a:schemeClr val="bg1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რა წერტილში განთავსდეს</a:t>
            </a:r>
          </a:p>
        </p:txBody>
      </p:sp>
      <p:sp>
        <p:nvSpPr>
          <p:cNvPr id="3" name="Google Shape;183;p3">
            <a:extLst>
              <a:ext uri="{FF2B5EF4-FFF2-40B4-BE49-F238E27FC236}">
                <a16:creationId xmlns:a16="http://schemas.microsoft.com/office/drawing/2014/main" id="{8621B263-5466-BC1C-16FB-0D973DE301A1}"/>
              </a:ext>
            </a:extLst>
          </p:cNvPr>
          <p:cNvSpPr txBox="1"/>
          <p:nvPr/>
        </p:nvSpPr>
        <p:spPr>
          <a:xfrm>
            <a:off x="918864" y="4274251"/>
            <a:ext cx="966600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800" b="1" dirty="0" smtClean="0">
                <a:solidFill>
                  <a:srgbClr val="8F3FB3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bottom</a:t>
            </a:r>
            <a:r>
              <a:rPr lang="en-US" sz="1600" dirty="0" smtClean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– </a:t>
            </a:r>
            <a:r>
              <a:rPr lang="ka-GE" sz="1600" dirty="0" smtClean="0">
                <a:solidFill>
                  <a:schemeClr val="bg1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ქვეომდან </a:t>
            </a:r>
            <a:r>
              <a:rPr lang="ka-GE" sz="1600" dirty="0">
                <a:solidFill>
                  <a:schemeClr val="bg1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ზემოდან რა წერტილში განთავსდეს</a:t>
            </a:r>
          </a:p>
        </p:txBody>
      </p:sp>
      <p:sp>
        <p:nvSpPr>
          <p:cNvPr id="9" name="Google Shape;183;p3">
            <a:extLst>
              <a:ext uri="{FF2B5EF4-FFF2-40B4-BE49-F238E27FC236}">
                <a16:creationId xmlns:a16="http://schemas.microsoft.com/office/drawing/2014/main" id="{8621B263-5466-BC1C-16FB-0D973DE301A1}"/>
              </a:ext>
            </a:extLst>
          </p:cNvPr>
          <p:cNvSpPr txBox="1"/>
          <p:nvPr/>
        </p:nvSpPr>
        <p:spPr>
          <a:xfrm>
            <a:off x="918864" y="5241273"/>
            <a:ext cx="828055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1800" b="1" dirty="0" smtClean="0">
                <a:solidFill>
                  <a:srgbClr val="1F51FF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left</a:t>
            </a:r>
            <a:r>
              <a:rPr lang="en-US" sz="1600" dirty="0" smtClean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– </a:t>
            </a:r>
            <a:r>
              <a:rPr lang="ka-GE" sz="1600" dirty="0">
                <a:solidFill>
                  <a:schemeClr val="bg1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მიუთითებს </a:t>
            </a:r>
            <a:r>
              <a:rPr lang="ka-GE" sz="1600" dirty="0" smtClean="0">
                <a:solidFill>
                  <a:schemeClr val="bg1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მარცხნიდან </a:t>
            </a:r>
            <a:r>
              <a:rPr lang="ka-GE" sz="1600" dirty="0">
                <a:solidFill>
                  <a:schemeClr val="bg1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რა წერტილში განთავსდეს</a:t>
            </a:r>
          </a:p>
        </p:txBody>
      </p:sp>
    </p:spTree>
    <p:extLst>
      <p:ext uri="{BB962C8B-B14F-4D97-AF65-F5344CB8AC3E}">
        <p14:creationId xmlns:p14="http://schemas.microsoft.com/office/powerpoint/2010/main" val="1230771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"/>
          <p:cNvSpPr txBox="1"/>
          <p:nvPr/>
        </p:nvSpPr>
        <p:spPr>
          <a:xfrm>
            <a:off x="576800" y="316901"/>
            <a:ext cx="1172096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000" b="1" dirty="0" smtClean="0">
                <a:solidFill>
                  <a:srgbClr val="6DC034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                            /*</a:t>
            </a:r>
            <a:r>
              <a:rPr lang="en-US" sz="4000" dirty="0" smtClean="0">
                <a:solidFill>
                  <a:srgbClr val="00B0F0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    z-index  </a:t>
            </a:r>
            <a:r>
              <a:rPr lang="en-US" sz="4000" b="1" dirty="0" smtClean="0">
                <a:solidFill>
                  <a:srgbClr val="6DC034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</a:rPr>
              <a:t>*/</a:t>
            </a:r>
            <a:endParaRPr sz="4000" b="1" cap="all" dirty="0">
              <a:solidFill>
                <a:srgbClr val="6DC034"/>
              </a:solidFill>
              <a:latin typeface="FiraGO" panose="020B0604020202020204" charset="0"/>
              <a:ea typeface="FiraGO" panose="020B0604020202020204" charset="0"/>
              <a:cs typeface="FiraGO" panose="020B0604020202020204" charset="0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187359" y="1800601"/>
            <a:ext cx="5779043" cy="50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lnSpc>
                <a:spcPct val="150000"/>
              </a:lnSpc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2000" b="1" dirty="0">
                <a:solidFill>
                  <a:srgbClr val="D52A7B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z</a:t>
            </a:r>
            <a:r>
              <a:rPr lang="en-US" sz="2000" b="1" dirty="0" smtClean="0">
                <a:solidFill>
                  <a:srgbClr val="D52A7B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  <a:sym typeface="Arial"/>
              </a:rPr>
              <a:t>-index </a:t>
            </a:r>
            <a:r>
              <a:rPr lang="ka-GE" sz="2000" dirty="0" smtClean="0">
                <a:solidFill>
                  <a:srgbClr val="00B0F0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  <a:sym typeface="Arial"/>
              </a:rPr>
              <a:t>მახასიათებელი პოზიციაშეცვლილ</a:t>
            </a:r>
            <a:r>
              <a:rPr lang="en-US" sz="2000" dirty="0" smtClean="0">
                <a:solidFill>
                  <a:srgbClr val="00B0F0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  <a:sym typeface="Arial"/>
              </a:rPr>
              <a:t> </a:t>
            </a:r>
            <a:r>
              <a:rPr lang="ka-GE" sz="2000" dirty="0" smtClean="0">
                <a:solidFill>
                  <a:srgbClr val="00B0F0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  <a:sym typeface="Arial"/>
              </a:rPr>
              <a:t> </a:t>
            </a:r>
            <a:r>
              <a:rPr lang="en-US" sz="2000" dirty="0">
                <a:solidFill>
                  <a:srgbClr val="FFFF00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(</a:t>
            </a:r>
            <a:r>
              <a:rPr lang="ka-GE" sz="2000" dirty="0">
                <a:solidFill>
                  <a:srgbClr val="FFFF00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არა </a:t>
            </a:r>
            <a:r>
              <a:rPr lang="en-US" sz="2000" dirty="0">
                <a:solidFill>
                  <a:srgbClr val="FFFF00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static) </a:t>
            </a:r>
            <a:r>
              <a:rPr lang="en-US" sz="2000" dirty="0" smtClean="0">
                <a:solidFill>
                  <a:srgbClr val="FFFF00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lang="ka-GE" sz="2000" dirty="0" smtClean="0">
                <a:solidFill>
                  <a:srgbClr val="00B0F0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  <a:sym typeface="Arial"/>
              </a:rPr>
              <a:t>ელემენტების სივრცეში პოზიციონირების საშუალებას გვაძლევს.</a:t>
            </a:r>
          </a:p>
          <a:p>
            <a:pPr marL="285750" lvl="0" indent="-285750">
              <a:lnSpc>
                <a:spcPct val="150000"/>
              </a:lnSpc>
              <a:buClr>
                <a:schemeClr val="lt1"/>
              </a:buClr>
              <a:buSzPts val="1600"/>
              <a:buFont typeface="Arial"/>
              <a:buChar char="•"/>
            </a:pPr>
            <a:r>
              <a:rPr lang="ka-GE" sz="2000" dirty="0" smtClean="0">
                <a:solidFill>
                  <a:srgbClr val="00B0F0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რაც უფრო მაღალია </a:t>
            </a:r>
            <a:r>
              <a:rPr lang="en-US" sz="2000" dirty="0" smtClean="0">
                <a:solidFill>
                  <a:srgbClr val="00B0F0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z-index </a:t>
            </a:r>
            <a:r>
              <a:rPr lang="ka-GE" sz="2000" dirty="0" smtClean="0">
                <a:solidFill>
                  <a:srgbClr val="00B0F0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მით უფრო მაღლა (სივრცეში და არა სიბრტყეზე) დადგება ელემენტი.</a:t>
            </a:r>
            <a:endParaRPr lang="en-US" sz="2000" dirty="0">
              <a:solidFill>
                <a:srgbClr val="00B0F0"/>
              </a:solidFill>
              <a:latin typeface="FiraGO Light" panose="020B0604020202020204" charset="0"/>
              <a:ea typeface="FiraGO Light" panose="020B0604020202020204" charset="0"/>
              <a:cs typeface="FiraGO Light" panose="020B0604020202020204" charset="0"/>
            </a:endParaRPr>
          </a:p>
          <a:p>
            <a:pPr marL="285750" lvl="0" indent="-285750">
              <a:lnSpc>
                <a:spcPct val="150000"/>
              </a:lnSpc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2000" dirty="0">
                <a:solidFill>
                  <a:srgbClr val="00B0F0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z</a:t>
            </a:r>
            <a:r>
              <a:rPr lang="en-US" sz="2000" dirty="0" smtClean="0">
                <a:solidFill>
                  <a:srgbClr val="00B0F0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-index </a:t>
            </a:r>
            <a:r>
              <a:rPr lang="ka-GE" sz="2000" dirty="0" smtClean="0">
                <a:solidFill>
                  <a:srgbClr val="00B0F0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მახასიათებელი გამოისახება</a:t>
            </a:r>
            <a:r>
              <a:rPr lang="en-US" sz="2000" dirty="0" smtClean="0">
                <a:solidFill>
                  <a:srgbClr val="00B0F0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lang="ka-GE" sz="2000" dirty="0" smtClean="0">
                <a:solidFill>
                  <a:srgbClr val="00B0F0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მთელ (როგორც პოზიტიურ ისე ნეგატიურ) რიცხევბში და არ აქვს დამატებითი ზომის ერთეული.</a:t>
            </a:r>
            <a:endParaRPr lang="en-US" sz="2000" dirty="0">
              <a:solidFill>
                <a:srgbClr val="FFFF00"/>
              </a:solidFill>
            </a:endParaRPr>
          </a:p>
          <a:p>
            <a:r>
              <a:rPr lang="en-US" sz="2000" dirty="0">
                <a:solidFill>
                  <a:srgbClr val="FFFF00"/>
                </a:solidFill>
              </a:rPr>
              <a:t>    </a:t>
            </a:r>
            <a:endParaRPr lang="en-US" sz="2000" dirty="0">
              <a:solidFill>
                <a:srgbClr val="00B0F0"/>
              </a:solidFill>
              <a:latin typeface="FiraGO Light" panose="020B0604020202020204" charset="0"/>
              <a:ea typeface="FiraGO Light" panose="020B0604020202020204" charset="0"/>
              <a:cs typeface="FiraGO Light" panose="020B0604020202020204" charset="0"/>
              <a:sym typeface="Arial"/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idx="2"/>
          </p:nvPr>
        </p:nvSpPr>
        <p:spPr>
          <a:xfrm>
            <a:off x="5836805" y="1191491"/>
            <a:ext cx="6355195" cy="5572437"/>
          </a:xfrm>
          <a:solidFill>
            <a:schemeClr val="tx1"/>
          </a:solidFill>
          <a:ln>
            <a:solidFill>
              <a:schemeClr val="tx1"/>
            </a:solidFill>
          </a:ln>
        </p:spPr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7935" y="1330036"/>
            <a:ext cx="5872392" cy="52439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1">
          <a:extLst>
            <a:ext uri="{FF2B5EF4-FFF2-40B4-BE49-F238E27FC236}">
              <a16:creationId xmlns:a16="http://schemas.microsoft.com/office/drawing/2014/main" id="{AA1C56B9-8CDC-D13A-D566-89EA34096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">
            <a:extLst>
              <a:ext uri="{FF2B5EF4-FFF2-40B4-BE49-F238E27FC236}">
                <a16:creationId xmlns:a16="http://schemas.microsoft.com/office/drawing/2014/main" id="{98E62D9D-4B85-5ED2-373B-8E0998C56A8F}"/>
              </a:ext>
            </a:extLst>
          </p:cNvPr>
          <p:cNvSpPr txBox="1"/>
          <p:nvPr/>
        </p:nvSpPr>
        <p:spPr>
          <a:xfrm>
            <a:off x="471031" y="-32887"/>
            <a:ext cx="1172096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a-GE" sz="4000" b="1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                    </a:t>
            </a:r>
            <a:r>
              <a:rPr lang="en-US" sz="4000" b="1" dirty="0" smtClean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   </a:t>
            </a:r>
            <a:r>
              <a:rPr lang="ka-GE" sz="4000" b="1" dirty="0" smtClean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   </a:t>
            </a:r>
            <a:r>
              <a:rPr lang="ka-GE" sz="4000" b="1" dirty="0">
                <a:solidFill>
                  <a:srgbClr val="F4DA33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&lt;/დავალება&gt;</a:t>
            </a:r>
            <a:endParaRPr lang="ka-GE" sz="4000" b="1" dirty="0">
              <a:solidFill>
                <a:srgbClr val="1F51FF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sp>
        <p:nvSpPr>
          <p:cNvPr id="3" name="Google Shape;203;p6">
            <a:extLst>
              <a:ext uri="{FF2B5EF4-FFF2-40B4-BE49-F238E27FC236}">
                <a16:creationId xmlns:a16="http://schemas.microsoft.com/office/drawing/2014/main" id="{05001C60-8E57-870C-5D26-A4FE666FCE1F}"/>
              </a:ext>
            </a:extLst>
          </p:cNvPr>
          <p:cNvSpPr txBox="1"/>
          <p:nvPr/>
        </p:nvSpPr>
        <p:spPr>
          <a:xfrm>
            <a:off x="651141" y="942301"/>
            <a:ext cx="11402314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lt1"/>
              </a:buClr>
              <a:buSzPts val="1600"/>
            </a:pPr>
            <a:r>
              <a:rPr lang="ka-GE" sz="3200" dirty="0" smtClean="0">
                <a:solidFill>
                  <a:srgbClr val="00B050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ააწყვეთ </a:t>
            </a:r>
            <a:r>
              <a:rPr lang="ka-GE" sz="3200" dirty="0">
                <a:solidFill>
                  <a:srgbClr val="00B050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სურათზე ნაჩვენები </a:t>
            </a:r>
            <a:r>
              <a:rPr lang="ka-GE" sz="3200" dirty="0" smtClean="0">
                <a:solidFill>
                  <a:srgbClr val="00B050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ვებ-გვერდი</a:t>
            </a:r>
            <a:r>
              <a:rPr lang="en-US" sz="3200" dirty="0" smtClean="0">
                <a:solidFill>
                  <a:srgbClr val="00B050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 </a:t>
            </a:r>
            <a:r>
              <a:rPr lang="ka-GE" sz="3200" dirty="0" smtClean="0">
                <a:solidFill>
                  <a:srgbClr val="00B050"/>
                </a:solidFill>
                <a:latin typeface="FiraGO Light" panose="020B0604020202020204" charset="0"/>
                <a:ea typeface="FiraGO Light" panose="020B0604020202020204" charset="0"/>
                <a:cs typeface="FiraGO Light" panose="020B0604020202020204" charset="0"/>
              </a:rPr>
              <a:t>პოზიციების ცვლილებით. სურათის ადგილზე შეგიძლიათ ჩასვათ სხვა სურათი.</a:t>
            </a:r>
            <a:endParaRPr sz="2000" dirty="0">
              <a:solidFill>
                <a:srgbClr val="00B050"/>
              </a:solidFill>
              <a:latin typeface="FiraGO Light" panose="020B0604020202020204" charset="0"/>
              <a:ea typeface="FiraGO Light" panose="020B0604020202020204" charset="0"/>
              <a:cs typeface="FiraGO Light" panose="020B0604020202020204" charset="0"/>
              <a:sym typeface="Arial"/>
            </a:endParaRPr>
          </a:p>
        </p:txBody>
      </p:sp>
      <p:pic>
        <p:nvPicPr>
          <p:cNvPr id="5" name="Picture 4"/>
          <p:cNvPicPr/>
          <p:nvPr/>
        </p:nvPicPr>
        <p:blipFill>
          <a:blip r:embed="rId4"/>
          <a:stretch>
            <a:fillRect/>
          </a:stretch>
        </p:blipFill>
        <p:spPr>
          <a:xfrm>
            <a:off x="1205321" y="2636613"/>
            <a:ext cx="9670497" cy="4221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382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B30F4B5B4F1C4F898D01A5B6D6EAC6" ma:contentTypeVersion="11" ma:contentTypeDescription="Create a new document." ma:contentTypeScope="" ma:versionID="5799349a26875bb54342e6f15b0d7dd3">
  <xsd:schema xmlns:xsd="http://www.w3.org/2001/XMLSchema" xmlns:xs="http://www.w3.org/2001/XMLSchema" xmlns:p="http://schemas.microsoft.com/office/2006/metadata/properties" xmlns:ns2="c6614108-75a9-4e66-8a32-9441b5203e5d" xmlns:ns3="03d70116-57c7-4d11-b8b6-fca79f70cc49" targetNamespace="http://schemas.microsoft.com/office/2006/metadata/properties" ma:root="true" ma:fieldsID="39757c6bdb6c88709aaa91037d09d708" ns2:_="" ns3:_="">
    <xsd:import namespace="c6614108-75a9-4e66-8a32-9441b5203e5d"/>
    <xsd:import namespace="03d70116-57c7-4d11-b8b6-fca79f70cc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614108-75a9-4e66-8a32-9441b5203e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34b8e8dd-1825-4134-a8d0-63b7970bc4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d70116-57c7-4d11-b8b6-fca79f70cc49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9c49b0b1-cf67-49ef-9804-19a02ea3f661}" ma:internalName="TaxCatchAll" ma:showField="CatchAllData" ma:web="03d70116-57c7-4d11-b8b6-fca79f70cc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6614108-75a9-4e66-8a32-9441b5203e5d">
      <Terms xmlns="http://schemas.microsoft.com/office/infopath/2007/PartnerControls"/>
    </lcf76f155ced4ddcb4097134ff3c332f>
    <TaxCatchAll xmlns="03d70116-57c7-4d11-b8b6-fca79f70cc49" xsi:nil="true"/>
  </documentManagement>
</p:properties>
</file>

<file path=customXml/itemProps1.xml><?xml version="1.0" encoding="utf-8"?>
<ds:datastoreItem xmlns:ds="http://schemas.openxmlformats.org/officeDocument/2006/customXml" ds:itemID="{BAE8887C-1181-4408-93E7-585542DE347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1B669DC-FF40-4BA1-9D8B-D7BED598E21D}"/>
</file>

<file path=customXml/itemProps3.xml><?xml version="1.0" encoding="utf-8"?>
<ds:datastoreItem xmlns:ds="http://schemas.openxmlformats.org/officeDocument/2006/customXml" ds:itemID="{CA9CC135-CD56-4F8B-921B-D95EF0B22F3D}">
  <ds:schemaRefs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purl.org/dc/dcmitype/"/>
    <ds:schemaRef ds:uri="6641dcd3-7dc6-4696-bf59-c6211389010d"/>
    <ds:schemaRef ds:uri="http://schemas.microsoft.com/office/infopath/2007/PartnerControls"/>
    <ds:schemaRef ds:uri="http://www.w3.org/XML/1998/namespace"/>
    <ds:schemaRef ds:uri="61bf6615-2d26-442b-9d24-621696d9153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222</Words>
  <Application>Microsoft Office PowerPoint</Application>
  <PresentationFormat>Widescreen</PresentationFormat>
  <Paragraphs>55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FiraGO Light</vt:lpstr>
      <vt:lpstr>FiraGO</vt:lpstr>
      <vt:lpstr>Calibri</vt:lpstr>
      <vt:lpstr>Noto Sans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ბაია გურაბანიძე</dc:creator>
  <cp:lastModifiedBy>Ani Beroshvili</cp:lastModifiedBy>
  <cp:revision>40</cp:revision>
  <dcterms:created xsi:type="dcterms:W3CDTF">2024-10-25T12:59:50Z</dcterms:created>
  <dcterms:modified xsi:type="dcterms:W3CDTF">2025-04-09T08:53:23Z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0x010100C6B30F4B5B4F1C4F898D01A5B6D6EAC6</vt:lpwstr>
  </property>
</Properties>
</file>