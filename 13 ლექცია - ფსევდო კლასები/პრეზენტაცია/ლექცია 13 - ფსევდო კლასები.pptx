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  <p:sldMasterId id="2147483660" r:id="rId5"/>
  </p:sldMasterIdLst>
  <p:notesMasterIdLst>
    <p:notesMasterId r:id="rId17"/>
  </p:notesMasterIdLst>
  <p:sldIdLst>
    <p:sldId id="256" r:id="rId6"/>
    <p:sldId id="257" r:id="rId7"/>
    <p:sldId id="258" r:id="rId8"/>
    <p:sldId id="259" r:id="rId9"/>
    <p:sldId id="264" r:id="rId10"/>
    <p:sldId id="265" r:id="rId11"/>
    <p:sldId id="260" r:id="rId12"/>
    <p:sldId id="266" r:id="rId13"/>
    <p:sldId id="267" r:id="rId14"/>
    <p:sldId id="268" r:id="rId15"/>
    <p:sldId id="262" r:id="rId16"/>
  </p:sldIdLst>
  <p:sldSz cx="12192000" cy="6858000"/>
  <p:notesSz cx="6858000" cy="9144000"/>
  <p:embeddedFontLst>
    <p:embeddedFont>
      <p:font typeface="FiraGO Light" panose="020B0403050000020004" pitchFamily="34" charset="0"/>
      <p:regular r:id="rId18"/>
      <p:italic r:id="rId19"/>
    </p:embeddedFont>
    <p:embeddedFont>
      <p:font typeface="Calibri" panose="020F0502020204030204" pitchFamily="34" charset="0"/>
      <p:regular r:id="rId20"/>
      <p:bold r:id="rId21"/>
      <p:italic r:id="rId22"/>
      <p:boldItalic r:id="rId23"/>
    </p:embeddedFont>
    <p:embeddedFont>
      <p:font typeface="FiraGO" panose="020B0803050000020004" pitchFamily="34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8" roundtripDataSignature="AMtx7miGSzJV6VoQ7okuGXFlJ4wzkIxV5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51FF"/>
    <a:srgbClr val="6DC034"/>
    <a:srgbClr val="0C0C0C"/>
    <a:srgbClr val="F4DA33"/>
    <a:srgbClr val="D52A7B"/>
    <a:srgbClr val="8F3FB3"/>
    <a:srgbClr val="662D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3202" autoAdjust="0"/>
  </p:normalViewPr>
  <p:slideViewPr>
    <p:cSldViewPr snapToGrid="0">
      <p:cViewPr varScale="1">
        <p:scale>
          <a:sx n="66" d="100"/>
          <a:sy n="66" d="100"/>
        </p:scale>
        <p:origin x="82" y="38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customXml" Target="../customXml/item3.xml"/><Relationship Id="rId21" Type="http://schemas.openxmlformats.org/officeDocument/2006/relationships/font" Target="fonts/font4.fntdata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font" Target="fonts/font3.fntdata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font" Target="fonts/font7.fntdata"/><Relationship Id="rId32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font" Target="fonts/font6.fntdata"/><Relationship Id="rId28" Type="http://customschemas.google.com/relationships/presentationmetadata" Target="metadata"/><Relationship Id="rId10" Type="http://schemas.openxmlformats.org/officeDocument/2006/relationships/slide" Target="slides/slide5.xml"/><Relationship Id="rId19" Type="http://schemas.openxmlformats.org/officeDocument/2006/relationships/font" Target="fonts/font2.fntdata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8" name="Google Shape;158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6" name="Google Shape;16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7" name="Google Shape;17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397688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229698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988768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399594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130213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>
          <a:extLst>
            <a:ext uri="{FF2B5EF4-FFF2-40B4-BE49-F238E27FC236}">
              <a16:creationId xmlns:a16="http://schemas.microsoft.com/office/drawing/2014/main" id="{6C6128F8-70FF-CD68-EC5C-9E89FB024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6:notes">
            <a:extLst>
              <a:ext uri="{FF2B5EF4-FFF2-40B4-BE49-F238E27FC236}">
                <a16:creationId xmlns:a16="http://schemas.microsoft.com/office/drawing/2014/main" id="{0760AC3D-A39D-B2CD-6E33-7BCBC101F9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6:notes">
            <a:extLst>
              <a:ext uri="{FF2B5EF4-FFF2-40B4-BE49-F238E27FC236}">
                <a16:creationId xmlns:a16="http://schemas.microsoft.com/office/drawing/2014/main" id="{D75B684C-B01E-6A58-30D5-38FD98260F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39821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>
            <a:spLocks noGrp="1"/>
          </p:cNvSpPr>
          <p:nvPr>
            <p:ph type="pic" idx="2"/>
          </p:nvPr>
        </p:nvSpPr>
        <p:spPr>
          <a:xfrm>
            <a:off x="5532357" y="855662"/>
            <a:ext cx="5759450" cy="5146675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1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1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1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8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>
  <p:cSld name="Picture with Ca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9"/>
          <p:cNvSpPr>
            <a:spLocks noGrp="1"/>
          </p:cNvSpPr>
          <p:nvPr>
            <p:ph type="pic" idx="2"/>
          </p:nvPr>
        </p:nvSpPr>
        <p:spPr>
          <a:xfrm>
            <a:off x="6096000" y="720671"/>
            <a:ext cx="6172200" cy="4873625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64" name="Google Shape;64;p19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8" name="Google Shape;68;p19"/>
          <p:cNvSpPr>
            <a:spLocks noGrp="1"/>
          </p:cNvSpPr>
          <p:nvPr>
            <p:ph type="pic" idx="3"/>
          </p:nvPr>
        </p:nvSpPr>
        <p:spPr>
          <a:xfrm>
            <a:off x="4038600" y="1936750"/>
            <a:ext cx="3533775" cy="3394075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0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2" name="Google Shape;72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1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1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96" name="Google Shape;96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3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3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2" name="Google Shape;102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2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8" name="Google Shape;108;p24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9" name="Google Shape;109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5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25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15" name="Google Shape;115;p25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6" name="Google Shape;116;p25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17" name="Google Shape;117;p25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8" name="Google Shape;118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2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33" name="Google Shape;133;p28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34" name="Google Shape;134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29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40" name="Google Shape;140;p29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41" name="Google Shape;141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30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7" name="Google Shape;147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1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31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3" name="Google Shape;153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3" name="Google Shape;83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4" name="Google Shape;84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5" name="Google Shape;85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6" name="Google Shape;86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"/>
          <p:cNvSpPr txBox="1"/>
          <p:nvPr/>
        </p:nvSpPr>
        <p:spPr>
          <a:xfrm>
            <a:off x="507975" y="2311372"/>
            <a:ext cx="11720969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>
                <a:solidFill>
                  <a:srgbClr val="1F51FF"/>
                </a:solidFill>
                <a:latin typeface="Arial"/>
                <a:ea typeface="Arial"/>
                <a:cs typeface="Arial"/>
                <a:sym typeface="Arial"/>
              </a:rPr>
              <a:t>FRONT-END W. ANGULAR</a:t>
            </a:r>
            <a:endParaRPr dirty="0"/>
          </a:p>
        </p:txBody>
      </p:sp>
      <p:sp>
        <p:nvSpPr>
          <p:cNvPr id="163" name="Google Shape;163;p1"/>
          <p:cNvSpPr txBox="1"/>
          <p:nvPr/>
        </p:nvSpPr>
        <p:spPr>
          <a:xfrm>
            <a:off x="546075" y="3327035"/>
            <a:ext cx="3186569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err="1">
                <a:solidFill>
                  <a:schemeClr val="lt1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Arial"/>
              </a:rPr>
              <a:t>ლექცია</a:t>
            </a:r>
            <a:r>
              <a:rPr lang="en-US" sz="2800">
                <a:solidFill>
                  <a:schemeClr val="lt1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Arial"/>
              </a:rPr>
              <a:t> </a:t>
            </a:r>
            <a:r>
              <a:rPr lang="ka-GE" sz="2800" smtClean="0">
                <a:solidFill>
                  <a:schemeClr val="lt1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24</a:t>
            </a:r>
            <a:endParaRPr sz="2800" dirty="0">
              <a:solidFill>
                <a:schemeClr val="lt1"/>
              </a:solidFill>
              <a:latin typeface="FiraGO" panose="020B0503050000020004" pitchFamily="34" charset="0"/>
              <a:ea typeface="FiraGO" panose="020B0503050000020004" pitchFamily="34" charset="0"/>
              <a:cs typeface="FiraGO" panose="020B0503050000020004" pitchFamily="34" charset="0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B5DA91E-2F44-CD9B-6153-9BE5ECDE32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213" y="5126030"/>
            <a:ext cx="887837" cy="108268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C411DE0-15D4-9D3F-7871-5A075C4740B5}"/>
              </a:ext>
            </a:extLst>
          </p:cNvPr>
          <p:cNvSpPr/>
          <p:nvPr/>
        </p:nvSpPr>
        <p:spPr>
          <a:xfrm>
            <a:off x="6362298" y="1617044"/>
            <a:ext cx="5245768" cy="4591251"/>
          </a:xfrm>
          <a:prstGeom prst="roundRect">
            <a:avLst>
              <a:gd name="adj" fmla="val 4634"/>
            </a:avLst>
          </a:prstGeom>
          <a:solidFill>
            <a:srgbClr val="0C0C0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pic>
        <p:nvPicPr>
          <p:cNvPr id="3" name="Picture Placeholder 2"/>
          <p:cNvPicPr>
            <a:picLocks noGrp="1" noChangeAspect="1"/>
          </p:cNvPicPr>
          <p:nvPr>
            <p:ph type="pic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38" r="21438"/>
          <a:stretch>
            <a:fillRect/>
          </a:stretch>
        </p:blipFill>
        <p:spPr>
          <a:xfrm>
            <a:off x="6362700" y="1617663"/>
            <a:ext cx="5245100" cy="4591050"/>
          </a:xfrm>
          <a:prstGeom prst="roundRect">
            <a:avLst>
              <a:gd name="adj" fmla="val 4927"/>
            </a:avLst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69" name="Google Shape;169;p2"/>
          <p:cNvSpPr txBox="1"/>
          <p:nvPr/>
        </p:nvSpPr>
        <p:spPr>
          <a:xfrm>
            <a:off x="471031" y="170117"/>
            <a:ext cx="11720969" cy="14465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4400" b="1" cap="all" smtClean="0">
                <a:solidFill>
                  <a:srgbClr val="FFFF00"/>
                </a:solidFill>
                <a:latin typeface="FiraGO" panose="020B0803050000020004" pitchFamily="34" charset="0"/>
                <a:ea typeface="FiraGO" panose="020B0503050000020004" pitchFamily="34" charset="0"/>
                <a:cs typeface="FiraGO" panose="020B0803050000020004" pitchFamily="34" charset="0"/>
                <a:sym typeface="Arial"/>
              </a:rPr>
              <a:t> </a:t>
            </a:r>
            <a:r>
              <a:rPr lang="ka-GE" sz="4400">
                <a:solidFill>
                  <a:srgbClr val="FFFF00"/>
                </a:solidFill>
                <a:latin typeface="FiraGO" panose="020B0803050000020004" pitchFamily="34" charset="0"/>
                <a:cs typeface="FiraGO" panose="020B0803050000020004" pitchFamily="34" charset="0"/>
              </a:rPr>
              <a:t>რა არის ფსევდო კლასები და ფსევდო ელემენტები?</a:t>
            </a:r>
            <a:endParaRPr lang="ka-GE" b="1" cap="all" dirty="0">
              <a:solidFill>
                <a:srgbClr val="FFFF00"/>
              </a:solidFill>
              <a:latin typeface="FiraGO" panose="020B0803050000020004" pitchFamily="34" charset="0"/>
              <a:ea typeface="FiraGO" panose="020B0503050000020004" pitchFamily="34" charset="0"/>
              <a:cs typeface="FiraGO" panose="020B0803050000020004" pitchFamily="34" charset="0"/>
            </a:endParaRPr>
          </a:p>
        </p:txBody>
      </p:sp>
      <p:sp>
        <p:nvSpPr>
          <p:cNvPr id="171" name="Google Shape;171;p2"/>
          <p:cNvSpPr/>
          <p:nvPr/>
        </p:nvSpPr>
        <p:spPr>
          <a:xfrm>
            <a:off x="654517" y="1616626"/>
            <a:ext cx="5441482" cy="2240581"/>
          </a:xfrm>
          <a:prstGeom prst="roundRect">
            <a:avLst>
              <a:gd name="adj" fmla="val 7003"/>
            </a:avLst>
          </a:prstGeom>
          <a:solidFill>
            <a:srgbClr val="0E2E5F">
              <a:alpha val="53725"/>
            </a:srgbClr>
          </a:solidFill>
          <a:ln>
            <a:noFill/>
          </a:ln>
          <a:effectLst>
            <a:outerShdw blurRad="50800" dist="38100" dir="2700000" algn="tl" rotWithShape="0">
              <a:srgbClr val="000000">
                <a:alpha val="2980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"/>
          <p:cNvSpPr/>
          <p:nvPr/>
        </p:nvSpPr>
        <p:spPr>
          <a:xfrm>
            <a:off x="654518" y="4038600"/>
            <a:ext cx="5441482" cy="2169695"/>
          </a:xfrm>
          <a:prstGeom prst="roundRect">
            <a:avLst>
              <a:gd name="adj" fmla="val 7003"/>
            </a:avLst>
          </a:prstGeom>
          <a:solidFill>
            <a:srgbClr val="0E2E5F">
              <a:alpha val="53725"/>
            </a:srgbClr>
          </a:solidFill>
          <a:ln>
            <a:noFill/>
          </a:ln>
          <a:effectLst>
            <a:outerShdw blurRad="50800" dist="38100" dir="2700000" algn="tl" rotWithShape="0">
              <a:srgbClr val="000000">
                <a:alpha val="2980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716371" y="1912263"/>
            <a:ext cx="5671595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403050000020004" pitchFamily="34" charset="0"/>
                <a:cs typeface="FiraGO Light" panose="020B0403050000020004" pitchFamily="34" charset="0"/>
              </a:rPr>
              <a:t>ფსევდო კლასი </a:t>
            </a:r>
            <a:r>
              <a:rPr kumimoji="0" lang="en-US" altLang="en-US" sz="2000" b="1" i="0" u="none" strike="noStrike" cap="none" normalizeH="0" baseline="0" smtClean="0">
                <a:ln>
                  <a:noFill/>
                </a:ln>
                <a:solidFill>
                  <a:srgbClr val="FFFF00"/>
                </a:solidFill>
                <a:effectLst/>
                <a:latin typeface="FiraGO Light" panose="020B0403050000020004" pitchFamily="34" charset="0"/>
                <a:cs typeface="FiraGO Light" panose="020B0403050000020004" pitchFamily="34" charset="0"/>
              </a:rPr>
              <a:t>(:hover, :focus და სხვ.) </a:t>
            </a:r>
            <a:r>
              <a:rPr kumimoji="0" lang="en-US" altLang="en-US" sz="2000" b="0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403050000020004" pitchFamily="34" charset="0"/>
                <a:cs typeface="FiraGO Light" panose="020B0403050000020004" pitchFamily="34" charset="0"/>
              </a:rPr>
              <a:t>გვაძლევს საშუალებას, ელემენტის </a:t>
            </a:r>
            <a:r>
              <a:rPr kumimoji="0" lang="en-US" altLang="en-US" sz="2000" b="1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403050000020004" pitchFamily="34" charset="0"/>
                <a:cs typeface="FiraGO Light" panose="020B0403050000020004" pitchFamily="34" charset="0"/>
              </a:rPr>
              <a:t>მდგომარეობაზე</a:t>
            </a:r>
            <a:r>
              <a:rPr kumimoji="0" lang="en-US" altLang="en-US" sz="2000" b="0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403050000020004" pitchFamily="34" charset="0"/>
                <a:cs typeface="FiraGO Light" panose="020B0403050000020004" pitchFamily="34" charset="0"/>
              </a:rPr>
              <a:t> ან </a:t>
            </a:r>
            <a:r>
              <a:rPr kumimoji="0" lang="en-US" altLang="en-US" sz="2000" b="1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403050000020004" pitchFamily="34" charset="0"/>
                <a:cs typeface="FiraGO Light" panose="020B0403050000020004" pitchFamily="34" charset="0"/>
              </a:rPr>
              <a:t>მდებარეობაზე</a:t>
            </a:r>
            <a:r>
              <a:rPr kumimoji="0" lang="en-US" altLang="en-US" sz="2000" b="0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403050000020004" pitchFamily="34" charset="0"/>
                <a:cs typeface="FiraGO Light" panose="020B0403050000020004" pitchFamily="34" charset="0"/>
              </a:rPr>
              <a:t> ვიმუშაოთ. </a:t>
            </a: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716371" y="4234154"/>
            <a:ext cx="5405377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403050000020004" pitchFamily="34" charset="0"/>
                <a:cs typeface="FiraGO Light" panose="020B0403050000020004" pitchFamily="34" charset="0"/>
              </a:rPr>
              <a:t>ფსევდო ელემენტი </a:t>
            </a:r>
            <a:r>
              <a:rPr kumimoji="0" lang="en-US" altLang="en-US" sz="2000" b="1" i="0" u="none" strike="noStrike" cap="none" normalizeH="0" baseline="0" smtClean="0">
                <a:ln>
                  <a:noFill/>
                </a:ln>
                <a:solidFill>
                  <a:srgbClr val="FFFF00"/>
                </a:solidFill>
                <a:effectLst/>
                <a:latin typeface="FiraGO Light" panose="020B0403050000020004" pitchFamily="34" charset="0"/>
                <a:cs typeface="FiraGO Light" panose="020B0403050000020004" pitchFamily="34" charset="0"/>
              </a:rPr>
              <a:t>(::before, ::after) </a:t>
            </a:r>
            <a:r>
              <a:rPr kumimoji="0" lang="en-US" altLang="en-US" sz="2000" b="0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403050000020004" pitchFamily="34" charset="0"/>
                <a:cs typeface="FiraGO Light" panose="020B0403050000020004" pitchFamily="34" charset="0"/>
              </a:rPr>
              <a:t>გვაძლევს საშუალებას, ელემენტში </a:t>
            </a:r>
            <a:r>
              <a:rPr kumimoji="0" lang="en-US" altLang="en-US" sz="2000" b="1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403050000020004" pitchFamily="34" charset="0"/>
                <a:cs typeface="FiraGO Light" panose="020B0403050000020004" pitchFamily="34" charset="0"/>
              </a:rPr>
              <a:t>დამატებითი შინაარსი ჩავსვათ</a:t>
            </a:r>
            <a:r>
              <a:rPr kumimoji="0" lang="en-US" altLang="en-US" sz="2000" b="0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FiraGO Light" panose="020B0403050000020004" pitchFamily="34" charset="0"/>
                <a:cs typeface="FiraGO Light" panose="020B0403050000020004" pitchFamily="34" charset="0"/>
              </a:rPr>
              <a:t>, რეალურად HTML-ში ცვლილების გარეშე.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5FAD63D-8ABB-8EE6-A946-0B8BDB7F972E}"/>
              </a:ext>
            </a:extLst>
          </p:cNvPr>
          <p:cNvSpPr/>
          <p:nvPr/>
        </p:nvSpPr>
        <p:spPr>
          <a:xfrm>
            <a:off x="6200777" y="1617044"/>
            <a:ext cx="5336705" cy="4591251"/>
          </a:xfrm>
          <a:prstGeom prst="roundRect">
            <a:avLst>
              <a:gd name="adj" fmla="val 4634"/>
            </a:avLst>
          </a:prstGeom>
          <a:solidFill>
            <a:srgbClr val="0C0C0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80" name="Google Shape;180;p3"/>
          <p:cNvSpPr txBox="1"/>
          <p:nvPr/>
        </p:nvSpPr>
        <p:spPr>
          <a:xfrm>
            <a:off x="74951" y="179663"/>
            <a:ext cx="11832548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3600" b="1" cap="all" smtClean="0">
                <a:solidFill>
                  <a:srgbClr val="6DC034"/>
                </a:solidFill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  <a:sym typeface="Noto Sans"/>
              </a:rPr>
              <a:t>                        // </a:t>
            </a:r>
            <a:r>
              <a:rPr lang="en-US" sz="3600">
                <a:solidFill>
                  <a:srgbClr val="FFFF00"/>
                </a:solidFill>
                <a:latin typeface="FiraGO" panose="020B0803050000020004" pitchFamily="34" charset="0"/>
                <a:cs typeface="FiraGO" panose="020B0803050000020004" pitchFamily="34" charset="0"/>
              </a:rPr>
              <a:t>:</a:t>
            </a:r>
            <a:r>
              <a:rPr lang="en-US" sz="3600" smtClean="0">
                <a:solidFill>
                  <a:srgbClr val="FFFF00"/>
                </a:solidFill>
                <a:latin typeface="FiraGO" panose="020B0803050000020004" pitchFamily="34" charset="0"/>
                <a:cs typeface="FiraGO" panose="020B0803050000020004" pitchFamily="34" charset="0"/>
              </a:rPr>
              <a:t>hover- </a:t>
            </a:r>
            <a:r>
              <a:rPr lang="ka-GE" sz="3600" smtClean="0">
                <a:solidFill>
                  <a:srgbClr val="FFFF00"/>
                </a:solidFill>
                <a:latin typeface="FiraGO" panose="020B0803050000020004" pitchFamily="34" charset="0"/>
                <a:cs typeface="FiraGO" panose="020B0803050000020004" pitchFamily="34" charset="0"/>
              </a:rPr>
              <a:t>როცა მაუსს ვადებთ</a:t>
            </a:r>
            <a:endParaRPr lang="ka-GE" b="1" cap="all" dirty="0">
              <a:solidFill>
                <a:srgbClr val="FFFF00"/>
              </a:solidFill>
              <a:latin typeface="FiraGO" panose="020B0803050000020004" pitchFamily="34" charset="0"/>
              <a:ea typeface="FiraGO" panose="020B0503050000020004" pitchFamily="34" charset="0"/>
              <a:cs typeface="FiraGO" panose="020B0803050000020004" pitchFamily="34" charset="0"/>
              <a:sym typeface="Noto Sans"/>
            </a:endParaRPr>
          </a:p>
        </p:txBody>
      </p:sp>
      <p:pic>
        <p:nvPicPr>
          <p:cNvPr id="9" name="Picture Placeholder 8"/>
          <p:cNvPicPr>
            <a:picLocks noGrp="1" noChangeAspect="1"/>
          </p:cNvPicPr>
          <p:nvPr>
            <p:ph type="pic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61" r="11861"/>
          <a:stretch>
            <a:fillRect/>
          </a:stretch>
        </p:blipFill>
        <p:spPr/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2357" y="874220"/>
            <a:ext cx="6000988" cy="512811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7817" y="2266703"/>
            <a:ext cx="1981200" cy="117157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1961" y="2266703"/>
            <a:ext cx="2333625" cy="1590675"/>
          </a:xfrm>
          <a:prstGeom prst="rect">
            <a:avLst/>
          </a:prstGeom>
        </p:spPr>
      </p:pic>
      <p:sp>
        <p:nvSpPr>
          <p:cNvPr id="11" name="Right Arrow 10"/>
          <p:cNvSpPr/>
          <p:nvPr/>
        </p:nvSpPr>
        <p:spPr>
          <a:xfrm>
            <a:off x="2361235" y="2708476"/>
            <a:ext cx="671332" cy="41668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4"/>
          <p:cNvSpPr txBox="1"/>
          <p:nvPr/>
        </p:nvSpPr>
        <p:spPr>
          <a:xfrm>
            <a:off x="471031" y="268775"/>
            <a:ext cx="11720969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4000" b="1" cap="all">
                <a:solidFill>
                  <a:srgbClr val="1F51FF"/>
                </a:solidFill>
                <a:latin typeface="FiraGO" panose="020B0604020202020204" charset="0"/>
                <a:ea typeface="FiraGO" panose="020B0604020202020204" charset="0"/>
                <a:cs typeface="FiraGO" panose="020B0604020202020204" charset="0"/>
                <a:sym typeface="Arial"/>
              </a:rPr>
              <a:t>// </a:t>
            </a:r>
            <a:r>
              <a:rPr lang="en-US" sz="4000">
                <a:solidFill>
                  <a:srgbClr val="FFFF00"/>
                </a:solidFill>
                <a:latin typeface="FiraGO" panose="020B0803050000020004" pitchFamily="34" charset="0"/>
                <a:cs typeface="FiraGO" panose="020B0803050000020004" pitchFamily="34" charset="0"/>
              </a:rPr>
              <a:t>:active – </a:t>
            </a:r>
            <a:r>
              <a:rPr lang="ka-GE" sz="4000">
                <a:solidFill>
                  <a:srgbClr val="FFFF00"/>
                </a:solidFill>
                <a:latin typeface="FiraGO" panose="020B0803050000020004" pitchFamily="34" charset="0"/>
                <a:cs typeface="FiraGO" panose="020B0803050000020004" pitchFamily="34" charset="0"/>
              </a:rPr>
              <a:t>როცა კლიკზეა!</a:t>
            </a:r>
            <a:endParaRPr sz="4000" cap="all" dirty="0">
              <a:solidFill>
                <a:srgbClr val="FFFF00"/>
              </a:solidFill>
              <a:latin typeface="FiraGO" panose="020B0803050000020004" pitchFamily="34" charset="0"/>
              <a:ea typeface="FiraGO" panose="020B0604020202020204" charset="0"/>
              <a:cs typeface="FiraGO" panose="020B08030500000200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940" y="1445212"/>
            <a:ext cx="7775565" cy="455047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331515" y="3009418"/>
            <a:ext cx="546325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a-GE" sz="3600">
                <a:solidFill>
                  <a:srgbClr val="FFFF00"/>
                </a:solidFill>
                <a:latin typeface="FiraGO Light" panose="020B0403050000020004" pitchFamily="34" charset="0"/>
                <a:cs typeface="FiraGO Light" panose="020B0403050000020004" pitchFamily="34" charset="0"/>
              </a:rPr>
              <a:t>ნაჩვენებია ეფექტი კლიკის მომენტში</a:t>
            </a:r>
            <a:endParaRPr lang="en-US" sz="3600">
              <a:solidFill>
                <a:srgbClr val="FFFF00"/>
              </a:solidFill>
              <a:latin typeface="FiraGO Light" panose="020B0403050000020004" pitchFamily="34" charset="0"/>
              <a:cs typeface="FiraGO Light" panose="020B04030500000200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4"/>
          <p:cNvSpPr txBox="1"/>
          <p:nvPr/>
        </p:nvSpPr>
        <p:spPr>
          <a:xfrm>
            <a:off x="471031" y="309186"/>
            <a:ext cx="11720969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all" spc="0" normalizeH="0" baseline="0" noProof="0">
                <a:ln>
                  <a:noFill/>
                </a:ln>
                <a:solidFill>
                  <a:srgbClr val="1F51FF"/>
                </a:solidFill>
                <a:effectLst/>
                <a:uLnTx/>
                <a:uFillTx/>
                <a:latin typeface="FiraGO" panose="020B0604020202020204" charset="0"/>
                <a:ea typeface="FiraGO" panose="020B0604020202020204" charset="0"/>
                <a:cs typeface="FiraGO" panose="020B0604020202020204" charset="0"/>
                <a:sym typeface="Arial"/>
              </a:rPr>
              <a:t>// </a:t>
            </a:r>
            <a:r>
              <a:rPr kumimoji="0" lang="en-US" sz="3600" b="0" i="0" u="none" strike="noStrike" kern="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FiraGO" panose="020B0803050000020004" pitchFamily="34" charset="0"/>
                <a:cs typeface="FiraGO" panose="020B0803050000020004" pitchFamily="34" charset="0"/>
                <a:sym typeface="Arial"/>
              </a:rPr>
              <a:t>:</a:t>
            </a:r>
            <a:r>
              <a:rPr lang="en-US" sz="3600" noProof="0" smtClean="0">
                <a:solidFill>
                  <a:srgbClr val="FFFF00"/>
                </a:solidFill>
                <a:latin typeface="FiraGO" panose="020B0803050000020004" pitchFamily="34" charset="0"/>
                <a:cs typeface="FiraGO" panose="020B0803050000020004" pitchFamily="34" charset="0"/>
              </a:rPr>
              <a:t>focus</a:t>
            </a:r>
            <a:r>
              <a:rPr kumimoji="0" lang="en-US" sz="3600" b="0" i="0" u="none" strike="noStrike" kern="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FiraGO" panose="020B0803050000020004" pitchFamily="34" charset="0"/>
                <a:cs typeface="FiraGO" panose="020B0803050000020004" pitchFamily="34" charset="0"/>
                <a:sym typeface="Arial"/>
              </a:rPr>
              <a:t> </a:t>
            </a:r>
            <a:r>
              <a:rPr kumimoji="0" lang="en-US" sz="3600" b="0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FiraGO" panose="020B0803050000020004" pitchFamily="34" charset="0"/>
                <a:cs typeface="FiraGO" panose="020B0803050000020004" pitchFamily="34" charset="0"/>
                <a:sym typeface="Arial"/>
              </a:rPr>
              <a:t>– </a:t>
            </a:r>
            <a:r>
              <a:rPr kumimoji="0" lang="ka-GE" sz="3600" b="0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FiraGO" panose="020B0803050000020004" pitchFamily="34" charset="0"/>
                <a:cs typeface="FiraGO" panose="020B0803050000020004" pitchFamily="34" charset="0"/>
                <a:sym typeface="Arial"/>
              </a:rPr>
              <a:t>როცა </a:t>
            </a:r>
            <a:r>
              <a:rPr lang="ka-GE" sz="3600" smtClean="0">
                <a:solidFill>
                  <a:srgbClr val="FFFF00"/>
                </a:solidFill>
                <a:latin typeface="FiraGO" panose="020B0803050000020004" pitchFamily="34" charset="0"/>
                <a:cs typeface="FiraGO" panose="020B0803050000020004" pitchFamily="34" charset="0"/>
              </a:rPr>
              <a:t>ელემენტი აქტიურია(მაგ.</a:t>
            </a:r>
            <a:r>
              <a:rPr lang="en-US" sz="3600" smtClean="0">
                <a:solidFill>
                  <a:srgbClr val="FFFF00"/>
                </a:solidFill>
                <a:latin typeface="FiraGO" panose="020B0803050000020004" pitchFamily="34" charset="0"/>
                <a:cs typeface="FiraGO" panose="020B0803050000020004" pitchFamily="34" charset="0"/>
              </a:rPr>
              <a:t>input) </a:t>
            </a:r>
            <a:r>
              <a:rPr kumimoji="0" lang="ka-GE" sz="3600" b="0" i="0" u="none" strike="noStrike" kern="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FiraGO" panose="020B0803050000020004" pitchFamily="34" charset="0"/>
                <a:cs typeface="FiraGO" panose="020B0803050000020004" pitchFamily="34" charset="0"/>
                <a:sym typeface="Arial"/>
              </a:rPr>
              <a:t>!</a:t>
            </a:r>
            <a:endParaRPr kumimoji="0" sz="3600" b="0" i="0" u="none" strike="noStrike" kern="0" cap="all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FiraGO" panose="020B0803050000020004" pitchFamily="34" charset="0"/>
              <a:ea typeface="FiraGO" panose="020B0604020202020204" charset="0"/>
              <a:cs typeface="FiraGO" panose="020B0803050000020004" pitchFamily="34" charset="0"/>
              <a:sym typeface="Arial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728750" y="1643606"/>
            <a:ext cx="546325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3600">
                <a:solidFill>
                  <a:schemeClr val="bg1"/>
                </a:solidFill>
                <a:latin typeface="FiraGO Light" panose="020B0403050000020004" pitchFamily="34" charset="0"/>
                <a:cs typeface="FiraGO Light" panose="020B0403050000020004" pitchFamily="34" charset="0"/>
              </a:rPr>
              <a:t>input </a:t>
            </a:r>
            <a:r>
              <a:rPr lang="ka-GE" sz="3600">
                <a:solidFill>
                  <a:schemeClr val="bg1"/>
                </a:solidFill>
                <a:latin typeface="FiraGO Light" panose="020B0403050000020004" pitchFamily="34" charset="0"/>
                <a:cs typeface="FiraGO Light" panose="020B0403050000020004" pitchFamily="34" charset="0"/>
              </a:rPr>
              <a:t>ჩარჩო ცისფერი ხდება </a:t>
            </a:r>
            <a:r>
              <a:rPr lang="ka-GE" sz="3600">
                <a:solidFill>
                  <a:schemeClr val="bg1"/>
                </a:solidFill>
                <a:latin typeface="FiraGO Light" panose="020B0403050000020004" pitchFamily="34" charset="0"/>
                <a:cs typeface="FiraGO Light" panose="020B0403050000020004" pitchFamily="34" charset="0"/>
              </a:rPr>
              <a:t>ფოკუსზე</a:t>
            </a:r>
            <a:r>
              <a:rPr lang="ka-GE" sz="3600" smtClean="0">
                <a:solidFill>
                  <a:schemeClr val="bg1"/>
                </a:solidFill>
                <a:latin typeface="FiraGO Light" panose="020B0403050000020004" pitchFamily="34" charset="0"/>
                <a:cs typeface="FiraGO Light" panose="020B0403050000020004" pitchFamily="34" charset="0"/>
              </a:rPr>
              <a:t>.</a:t>
            </a:r>
            <a:r>
              <a:rPr lang="en-US" sz="3600">
                <a:solidFill>
                  <a:schemeClr val="bg1"/>
                </a:solidFill>
                <a:latin typeface="FiraGO Light" panose="020B0403050000020004" pitchFamily="34" charset="0"/>
                <a:cs typeface="FiraGO Light" panose="020B0403050000020004" pitchFamily="34" charset="0"/>
              </a:rPr>
              <a:t> :focus </a:t>
            </a:r>
            <a:r>
              <a:rPr lang="ka-GE" sz="3600">
                <a:solidFill>
                  <a:schemeClr val="bg1"/>
                </a:solidFill>
                <a:latin typeface="FiraGO Light" panose="020B0403050000020004" pitchFamily="34" charset="0"/>
                <a:cs typeface="FiraGO Light" panose="020B0403050000020004" pitchFamily="34" charset="0"/>
              </a:rPr>
              <a:t>ნიშნავს რომ ელემენტზე ვართ კონცენტრირებული, ან კლავიატურით ვწერთ</a:t>
            </a:r>
            <a:endParaRPr kumimoji="0" lang="en-US" sz="36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FiraGO Light" panose="020B0403050000020004" pitchFamily="34" charset="0"/>
              <a:cs typeface="FiraGO Light" panose="020B0403050000020004" pitchFamily="34" charset="0"/>
              <a:sym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641" y="1525333"/>
            <a:ext cx="6628109" cy="3936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4875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4"/>
          <p:cNvSpPr txBox="1"/>
          <p:nvPr/>
        </p:nvSpPr>
        <p:spPr>
          <a:xfrm>
            <a:off x="656226" y="274462"/>
            <a:ext cx="11720969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kumimoji="0" lang="en-US" sz="3600" b="1" i="0" u="none" strike="noStrike" kern="0" cap="all" spc="0" normalizeH="0" baseline="0" noProof="0">
                <a:ln>
                  <a:noFill/>
                </a:ln>
                <a:solidFill>
                  <a:srgbClr val="1F51FF"/>
                </a:solidFill>
                <a:effectLst/>
                <a:uLnTx/>
                <a:uFillTx/>
                <a:latin typeface="FiraGO" panose="020B0604020202020204" charset="0"/>
                <a:ea typeface="FiraGO" panose="020B0604020202020204" charset="0"/>
                <a:cs typeface="FiraGO" panose="020B0604020202020204" charset="0"/>
                <a:sym typeface="Arial"/>
              </a:rPr>
              <a:t>// </a:t>
            </a:r>
            <a:r>
              <a:rPr lang="en-US" sz="3600">
                <a:solidFill>
                  <a:srgbClr val="1F51FF"/>
                </a:solidFill>
                <a:latin typeface="FiraGO" panose="020B0803050000020004" pitchFamily="34" charset="0"/>
                <a:cs typeface="FiraGO" panose="020B0803050000020004" pitchFamily="34" charset="0"/>
              </a:rPr>
              <a:t>:visited – </a:t>
            </a:r>
            <a:r>
              <a:rPr lang="ka-GE" sz="3600">
                <a:solidFill>
                  <a:srgbClr val="1F51FF"/>
                </a:solidFill>
                <a:latin typeface="FiraGO" panose="020B0803050000020004" pitchFamily="34" charset="0"/>
                <a:cs typeface="FiraGO" panose="020B0803050000020004" pitchFamily="34" charset="0"/>
              </a:rPr>
              <a:t>ნანახი ლინკები</a:t>
            </a:r>
            <a:endParaRPr kumimoji="0" sz="3600" b="0" i="0" u="none" strike="noStrike" kern="0" cap="all" spc="0" normalizeH="0" baseline="0" noProof="0" dirty="0">
              <a:ln>
                <a:noFill/>
              </a:ln>
              <a:solidFill>
                <a:srgbClr val="1F51FF"/>
              </a:solidFill>
              <a:effectLst/>
              <a:uLnTx/>
              <a:uFillTx/>
              <a:latin typeface="FiraGO" panose="020B0803050000020004" pitchFamily="34" charset="0"/>
              <a:ea typeface="FiraGO" panose="020B0604020202020204" charset="0"/>
              <a:cs typeface="FiraGO" panose="020B0803050000020004" pitchFamily="34" charset="0"/>
              <a:sym typeface="Arial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193894" y="4803494"/>
            <a:ext cx="546325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ka-GE" sz="3600">
                <a:solidFill>
                  <a:schemeClr val="bg1"/>
                </a:solidFill>
                <a:latin typeface="FiraGO Light" panose="020B0403050000020004" pitchFamily="34" charset="0"/>
                <a:cs typeface="FiraGO Light" panose="020B0403050000020004" pitchFamily="34" charset="0"/>
              </a:rPr>
              <a:t>ჩვეულებრივი ლინკი და ნანახი ლინკი (მუქი იისფერი).</a:t>
            </a:r>
            <a:endParaRPr kumimoji="0" lang="en-US" sz="36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FiraGO Light" panose="020B0403050000020004" pitchFamily="34" charset="0"/>
              <a:cs typeface="FiraGO Light" panose="020B0403050000020004" pitchFamily="34" charset="0"/>
              <a:sym typeface="Arial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769" y="1238491"/>
            <a:ext cx="8414796" cy="3526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61234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268638" y="184671"/>
            <a:ext cx="836389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a-GE" sz="4000" smtClean="0">
                <a:solidFill>
                  <a:srgbClr val="1F51FF"/>
                </a:solidFill>
                <a:latin typeface="FiraGO" panose="020B0803050000020004" pitchFamily="34" charset="0"/>
                <a:cs typeface="FiraGO" panose="020B0803050000020004" pitchFamily="34" charset="0"/>
              </a:rPr>
              <a:t>// სხვა </a:t>
            </a:r>
            <a:r>
              <a:rPr lang="ka-GE" sz="4000">
                <a:solidFill>
                  <a:srgbClr val="1F51FF"/>
                </a:solidFill>
                <a:latin typeface="FiraGO" panose="020B0803050000020004" pitchFamily="34" charset="0"/>
                <a:cs typeface="FiraGO" panose="020B0803050000020004" pitchFamily="34" charset="0"/>
              </a:rPr>
              <a:t>ფსევდო კლასები</a:t>
            </a:r>
          </a:p>
        </p:txBody>
      </p:sp>
      <p:sp>
        <p:nvSpPr>
          <p:cNvPr id="6" name="Rectangle 5"/>
          <p:cNvSpPr/>
          <p:nvPr/>
        </p:nvSpPr>
        <p:spPr>
          <a:xfrm>
            <a:off x="558331" y="1043976"/>
            <a:ext cx="10074204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a-GE" sz="2000">
                <a:solidFill>
                  <a:schemeClr val="bg1"/>
                </a:solidFill>
                <a:latin typeface="FiraGO Light" panose="020B0403050000020004" pitchFamily="34" charset="0"/>
                <a:cs typeface="FiraGO Light" panose="020B0403050000020004" pitchFamily="34" charset="0"/>
              </a:rPr>
              <a:t>ფსევდო კლასები გვაძლევს საშუალებას, რომ კონკრეტული ელემენტები შერჩეულ იქნან მათი მდებარეობის ან მდგომარეობის მიხედვით. მოდი, გავიცნოთ ისინი: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a-GE" sz="2000" b="1">
                <a:solidFill>
                  <a:srgbClr val="FFFF00"/>
                </a:solidFill>
                <a:latin typeface="FiraGO Light" panose="020B0403050000020004" pitchFamily="34" charset="0"/>
                <a:cs typeface="FiraGO Light" panose="020B0403050000020004" pitchFamily="34" charset="0"/>
              </a:rPr>
              <a:t>:</a:t>
            </a:r>
            <a:r>
              <a:rPr lang="en-US" sz="2000" b="1">
                <a:solidFill>
                  <a:srgbClr val="FFFF00"/>
                </a:solidFill>
                <a:latin typeface="FiraGO Light" panose="020B0403050000020004" pitchFamily="34" charset="0"/>
                <a:cs typeface="FiraGO Light" panose="020B0403050000020004" pitchFamily="34" charset="0"/>
              </a:rPr>
              <a:t>first-child </a:t>
            </a:r>
            <a:r>
              <a:rPr lang="en-US" sz="2000">
                <a:solidFill>
                  <a:schemeClr val="bg1"/>
                </a:solidFill>
                <a:latin typeface="FiraGO Light" panose="020B0403050000020004" pitchFamily="34" charset="0"/>
                <a:cs typeface="FiraGO Light" panose="020B0403050000020004" pitchFamily="34" charset="0"/>
              </a:rPr>
              <a:t>– </a:t>
            </a:r>
            <a:r>
              <a:rPr lang="ka-GE" sz="2000">
                <a:solidFill>
                  <a:schemeClr val="bg1"/>
                </a:solidFill>
                <a:latin typeface="FiraGO Light" panose="020B0403050000020004" pitchFamily="34" charset="0"/>
                <a:cs typeface="FiraGO Light" panose="020B0403050000020004" pitchFamily="34" charset="0"/>
              </a:rPr>
              <a:t>აირჩევს იმ ელემენტს, რომელიც პირველია თავის მშობელში.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a-GE" sz="2000" b="1">
                <a:solidFill>
                  <a:srgbClr val="FFFF00"/>
                </a:solidFill>
                <a:latin typeface="FiraGO Light" panose="020B0403050000020004" pitchFamily="34" charset="0"/>
                <a:cs typeface="FiraGO Light" panose="020B0403050000020004" pitchFamily="34" charset="0"/>
              </a:rPr>
              <a:t>:</a:t>
            </a:r>
            <a:r>
              <a:rPr lang="en-US" sz="2000" b="1">
                <a:solidFill>
                  <a:srgbClr val="FFFF00"/>
                </a:solidFill>
                <a:latin typeface="FiraGO Light" panose="020B0403050000020004" pitchFamily="34" charset="0"/>
                <a:cs typeface="FiraGO Light" panose="020B0403050000020004" pitchFamily="34" charset="0"/>
              </a:rPr>
              <a:t>last-child </a:t>
            </a:r>
            <a:r>
              <a:rPr lang="en-US" sz="2000">
                <a:solidFill>
                  <a:schemeClr val="bg1"/>
                </a:solidFill>
                <a:latin typeface="FiraGO Light" panose="020B0403050000020004" pitchFamily="34" charset="0"/>
                <a:cs typeface="FiraGO Light" panose="020B0403050000020004" pitchFamily="34" charset="0"/>
              </a:rPr>
              <a:t>– </a:t>
            </a:r>
            <a:r>
              <a:rPr lang="ka-GE" sz="2000">
                <a:solidFill>
                  <a:schemeClr val="bg1"/>
                </a:solidFill>
                <a:latin typeface="FiraGO Light" panose="020B0403050000020004" pitchFamily="34" charset="0"/>
                <a:cs typeface="FiraGO Light" panose="020B0403050000020004" pitchFamily="34" charset="0"/>
              </a:rPr>
              <a:t>აირჩევს ელემენტს, რომელიც უკანასკნელია მშობლის შიგნით.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a-GE" sz="2000" b="1">
                <a:solidFill>
                  <a:srgbClr val="FFFF00"/>
                </a:solidFill>
                <a:latin typeface="FiraGO Light" panose="020B0403050000020004" pitchFamily="34" charset="0"/>
                <a:cs typeface="FiraGO Light" panose="020B0403050000020004" pitchFamily="34" charset="0"/>
              </a:rPr>
              <a:t>:</a:t>
            </a:r>
            <a:r>
              <a:rPr lang="en-US" sz="2000" b="1">
                <a:solidFill>
                  <a:srgbClr val="FFFF00"/>
                </a:solidFill>
                <a:latin typeface="FiraGO Light" panose="020B0403050000020004" pitchFamily="34" charset="0"/>
                <a:cs typeface="FiraGO Light" panose="020B0403050000020004" pitchFamily="34" charset="0"/>
              </a:rPr>
              <a:t>nth-child(n) </a:t>
            </a:r>
            <a:r>
              <a:rPr lang="en-US" sz="2000">
                <a:solidFill>
                  <a:schemeClr val="bg1"/>
                </a:solidFill>
                <a:latin typeface="FiraGO Light" panose="020B0403050000020004" pitchFamily="34" charset="0"/>
                <a:cs typeface="FiraGO Light" panose="020B0403050000020004" pitchFamily="34" charset="0"/>
              </a:rPr>
              <a:t>– </a:t>
            </a:r>
            <a:r>
              <a:rPr lang="ka-GE" sz="2000">
                <a:solidFill>
                  <a:schemeClr val="bg1"/>
                </a:solidFill>
                <a:latin typeface="FiraGO Light" panose="020B0403050000020004" pitchFamily="34" charset="0"/>
                <a:cs typeface="FiraGO Light" panose="020B0403050000020004" pitchFamily="34" charset="0"/>
              </a:rPr>
              <a:t>აირჩევს მშობლის შიგნით რიგით </a:t>
            </a:r>
            <a:r>
              <a:rPr lang="en-US" sz="2000">
                <a:solidFill>
                  <a:schemeClr val="bg1"/>
                </a:solidFill>
                <a:latin typeface="FiraGO Light" panose="020B0403050000020004" pitchFamily="34" charset="0"/>
                <a:cs typeface="FiraGO Light" panose="020B0403050000020004" pitchFamily="34" charset="0"/>
              </a:rPr>
              <a:t>n-</a:t>
            </a:r>
            <a:r>
              <a:rPr lang="ka-GE" sz="2000">
                <a:solidFill>
                  <a:schemeClr val="bg1"/>
                </a:solidFill>
                <a:latin typeface="FiraGO Light" panose="020B0403050000020004" pitchFamily="34" charset="0"/>
                <a:cs typeface="FiraGO Light" panose="020B0403050000020004" pitchFamily="34" charset="0"/>
              </a:rPr>
              <a:t>ე ელემენტს.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a-GE" sz="2000" b="1">
                <a:solidFill>
                  <a:srgbClr val="FFFF00"/>
                </a:solidFill>
                <a:latin typeface="FiraGO Light" panose="020B0403050000020004" pitchFamily="34" charset="0"/>
                <a:cs typeface="FiraGO Light" panose="020B0403050000020004" pitchFamily="34" charset="0"/>
              </a:rPr>
              <a:t>:</a:t>
            </a:r>
            <a:r>
              <a:rPr lang="en-US" sz="2000" b="1">
                <a:solidFill>
                  <a:srgbClr val="FFFF00"/>
                </a:solidFill>
                <a:latin typeface="FiraGO Light" panose="020B0403050000020004" pitchFamily="34" charset="0"/>
                <a:cs typeface="FiraGO Light" panose="020B0403050000020004" pitchFamily="34" charset="0"/>
              </a:rPr>
              <a:t>not(selector) </a:t>
            </a:r>
            <a:r>
              <a:rPr lang="en-US" sz="2000">
                <a:solidFill>
                  <a:schemeClr val="bg1"/>
                </a:solidFill>
                <a:latin typeface="FiraGO Light" panose="020B0403050000020004" pitchFamily="34" charset="0"/>
                <a:cs typeface="FiraGO Light" panose="020B0403050000020004" pitchFamily="34" charset="0"/>
              </a:rPr>
              <a:t>– </a:t>
            </a:r>
            <a:r>
              <a:rPr lang="ka-GE" sz="2000">
                <a:solidFill>
                  <a:schemeClr val="bg1"/>
                </a:solidFill>
                <a:latin typeface="FiraGO Light" panose="020B0403050000020004" pitchFamily="34" charset="0"/>
                <a:cs typeface="FiraGO Light" panose="020B0403050000020004" pitchFamily="34" charset="0"/>
              </a:rPr>
              <a:t>ამოარჩევს ყველა ელემენტს, რომელიც არ ემთხვევა მითითებულ სელექტორს.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9711" y="4380223"/>
            <a:ext cx="6913303" cy="247777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68102" y="184671"/>
            <a:ext cx="976443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0" lang="ka-GE" sz="4000" b="0" i="0" u="none" strike="noStrike" kern="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FiraGO" panose="020B0803050000020004" pitchFamily="34" charset="0"/>
                <a:cs typeface="FiraGO" panose="020B0803050000020004" pitchFamily="34" charset="0"/>
                <a:sym typeface="Arial"/>
              </a:rPr>
              <a:t>// </a:t>
            </a:r>
            <a:r>
              <a:rPr lang="ka-GE" sz="4000">
                <a:solidFill>
                  <a:srgbClr val="FFFF00"/>
                </a:solidFill>
                <a:latin typeface="FiraGO" panose="020B0803050000020004" pitchFamily="34" charset="0"/>
                <a:cs typeface="FiraGO" panose="020B0803050000020004" pitchFamily="34" charset="0"/>
              </a:rPr>
              <a:t>რას აკეთებს ::</a:t>
            </a:r>
            <a:r>
              <a:rPr lang="en-US" sz="4000">
                <a:solidFill>
                  <a:srgbClr val="FFFF00"/>
                </a:solidFill>
                <a:latin typeface="FiraGO" panose="020B0803050000020004" pitchFamily="34" charset="0"/>
                <a:cs typeface="FiraGO" panose="020B0803050000020004" pitchFamily="34" charset="0"/>
              </a:rPr>
              <a:t>before </a:t>
            </a:r>
            <a:r>
              <a:rPr lang="ka-GE" sz="4000">
                <a:solidFill>
                  <a:srgbClr val="FFFF00"/>
                </a:solidFill>
                <a:latin typeface="FiraGO" panose="020B0803050000020004" pitchFamily="34" charset="0"/>
                <a:cs typeface="FiraGO" panose="020B0803050000020004" pitchFamily="34" charset="0"/>
              </a:rPr>
              <a:t>და ::</a:t>
            </a:r>
            <a:r>
              <a:rPr lang="en-US" sz="4000">
                <a:solidFill>
                  <a:srgbClr val="FFFF00"/>
                </a:solidFill>
                <a:latin typeface="FiraGO" panose="020B0803050000020004" pitchFamily="34" charset="0"/>
                <a:cs typeface="FiraGO" panose="020B0803050000020004" pitchFamily="34" charset="0"/>
              </a:rPr>
              <a:t>after?</a:t>
            </a:r>
          </a:p>
        </p:txBody>
      </p:sp>
      <p:sp>
        <p:nvSpPr>
          <p:cNvPr id="6" name="Rectangle 5"/>
          <p:cNvSpPr/>
          <p:nvPr/>
        </p:nvSpPr>
        <p:spPr>
          <a:xfrm>
            <a:off x="558331" y="1043976"/>
            <a:ext cx="1123627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a-GE" sz="2400">
                <a:solidFill>
                  <a:schemeClr val="bg1"/>
                </a:solidFill>
                <a:latin typeface="FiraGO Light" panose="020B0403050000020004" pitchFamily="34" charset="0"/>
                <a:cs typeface="FiraGO Light" panose="020B0403050000020004" pitchFamily="34" charset="0"/>
              </a:rPr>
              <a:t>ფსევდო ელემენტები არ ცვლიან </a:t>
            </a:r>
            <a:r>
              <a:rPr lang="en-US" sz="2400">
                <a:solidFill>
                  <a:schemeClr val="bg1"/>
                </a:solidFill>
                <a:latin typeface="FiraGO Light" panose="020B0403050000020004" pitchFamily="34" charset="0"/>
                <a:cs typeface="FiraGO Light" panose="020B0403050000020004" pitchFamily="34" charset="0"/>
              </a:rPr>
              <a:t>HTML </a:t>
            </a:r>
            <a:r>
              <a:rPr lang="ka-GE" sz="2400">
                <a:solidFill>
                  <a:schemeClr val="bg1"/>
                </a:solidFill>
                <a:latin typeface="FiraGO Light" panose="020B0403050000020004" pitchFamily="34" charset="0"/>
                <a:cs typeface="FiraGO Light" panose="020B0403050000020004" pitchFamily="34" charset="0"/>
              </a:rPr>
              <a:t>სტრუქტურას, არამედ ვიზუალურად ამატებენ ან ცვლიან ინფორმაციას </a:t>
            </a:r>
            <a:r>
              <a:rPr lang="en-US" sz="2400">
                <a:solidFill>
                  <a:schemeClr val="bg1"/>
                </a:solidFill>
                <a:latin typeface="FiraGO Light" panose="020B0403050000020004" pitchFamily="34" charset="0"/>
                <a:cs typeface="FiraGO Light" panose="020B0403050000020004" pitchFamily="34" charset="0"/>
              </a:rPr>
              <a:t>CSS-</a:t>
            </a:r>
            <a:r>
              <a:rPr lang="ka-GE" sz="2400">
                <a:solidFill>
                  <a:schemeClr val="bg1"/>
                </a:solidFill>
                <a:latin typeface="FiraGO Light" panose="020B0403050000020004" pitchFamily="34" charset="0"/>
                <a:cs typeface="FiraGO Light" panose="020B0403050000020004" pitchFamily="34" charset="0"/>
              </a:rPr>
              <a:t>ის მეშვეობით.</a:t>
            </a:r>
          </a:p>
          <a:p>
            <a:r>
              <a:rPr lang="ka-GE" sz="2400" b="1">
                <a:solidFill>
                  <a:schemeClr val="bg1"/>
                </a:solidFill>
                <a:latin typeface="FiraGO Light" panose="020B0403050000020004" pitchFamily="34" charset="0"/>
                <a:cs typeface="FiraGO Light" panose="020B0403050000020004" pitchFamily="34" charset="0"/>
              </a:rPr>
              <a:t>::</a:t>
            </a:r>
            <a:r>
              <a:rPr lang="en-US" sz="2400" b="1">
                <a:solidFill>
                  <a:schemeClr val="bg1"/>
                </a:solidFill>
                <a:latin typeface="FiraGO Light" panose="020B0403050000020004" pitchFamily="34" charset="0"/>
                <a:cs typeface="FiraGO Light" panose="020B0403050000020004" pitchFamily="34" charset="0"/>
              </a:rPr>
              <a:t>before</a:t>
            </a:r>
            <a:r>
              <a:rPr lang="en-US" sz="2400">
                <a:solidFill>
                  <a:schemeClr val="bg1"/>
                </a:solidFill>
                <a:latin typeface="FiraGO Light" panose="020B0403050000020004" pitchFamily="34" charset="0"/>
                <a:cs typeface="FiraGO Light" panose="020B0403050000020004" pitchFamily="34" charset="0"/>
              </a:rPr>
              <a:t> – </a:t>
            </a:r>
            <a:r>
              <a:rPr lang="ka-GE" sz="2400">
                <a:solidFill>
                  <a:schemeClr val="bg1"/>
                </a:solidFill>
                <a:latin typeface="FiraGO Light" panose="020B0403050000020004" pitchFamily="34" charset="0"/>
                <a:cs typeface="FiraGO Light" panose="020B0403050000020004" pitchFamily="34" charset="0"/>
              </a:rPr>
              <a:t>ამატებს შინაარსს ელემენტის დასაწყისში.</a:t>
            </a:r>
          </a:p>
          <a:p>
            <a:r>
              <a:rPr lang="ka-GE" sz="2400" b="1">
                <a:solidFill>
                  <a:schemeClr val="bg1"/>
                </a:solidFill>
                <a:latin typeface="FiraGO Light" panose="020B0403050000020004" pitchFamily="34" charset="0"/>
                <a:cs typeface="FiraGO Light" panose="020B0403050000020004" pitchFamily="34" charset="0"/>
              </a:rPr>
              <a:t>::</a:t>
            </a:r>
            <a:r>
              <a:rPr lang="en-US" sz="2400" b="1">
                <a:solidFill>
                  <a:schemeClr val="bg1"/>
                </a:solidFill>
                <a:latin typeface="FiraGO Light" panose="020B0403050000020004" pitchFamily="34" charset="0"/>
                <a:cs typeface="FiraGO Light" panose="020B0403050000020004" pitchFamily="34" charset="0"/>
              </a:rPr>
              <a:t>after</a:t>
            </a:r>
            <a:r>
              <a:rPr lang="en-US" sz="2400">
                <a:solidFill>
                  <a:schemeClr val="bg1"/>
                </a:solidFill>
                <a:latin typeface="FiraGO Light" panose="020B0403050000020004" pitchFamily="34" charset="0"/>
                <a:cs typeface="FiraGO Light" panose="020B0403050000020004" pitchFamily="34" charset="0"/>
              </a:rPr>
              <a:t> – </a:t>
            </a:r>
            <a:r>
              <a:rPr lang="ka-GE" sz="2400">
                <a:solidFill>
                  <a:schemeClr val="bg1"/>
                </a:solidFill>
                <a:latin typeface="FiraGO Light" panose="020B0403050000020004" pitchFamily="34" charset="0"/>
                <a:cs typeface="FiraGO Light" panose="020B0403050000020004" pitchFamily="34" charset="0"/>
              </a:rPr>
              <a:t>ამატებს შინაარსს ელემენტის ბოლოს.</a:t>
            </a:r>
          </a:p>
          <a:p>
            <a:r>
              <a:rPr lang="ka-GE" sz="2400">
                <a:solidFill>
                  <a:schemeClr val="bg1"/>
                </a:solidFill>
                <a:latin typeface="FiraGO Light" panose="020B0403050000020004" pitchFamily="34" charset="0"/>
                <a:cs typeface="FiraGO Light" panose="020B0403050000020004" pitchFamily="34" charset="0"/>
              </a:rPr>
              <a:t>ეს ხშირად გამოიყენება დეკორატიული ელემენტებისთვის ან დამატებითი ვიზუალური ეფექტებისთვის.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5179" y="3352300"/>
            <a:ext cx="3712727" cy="252587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286445" y="4930815"/>
            <a:ext cx="47532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✨</a:t>
            </a:r>
          </a:p>
        </p:txBody>
      </p:sp>
      <p:sp>
        <p:nvSpPr>
          <p:cNvPr id="8" name="Rectangle 7"/>
          <p:cNvSpPr/>
          <p:nvPr/>
        </p:nvSpPr>
        <p:spPr>
          <a:xfrm>
            <a:off x="238445" y="5878172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a-GE" sz="1800">
                <a:solidFill>
                  <a:schemeClr val="bg1"/>
                </a:solidFill>
                <a:latin typeface="FiraGO Light" panose="020B0403050000020004" pitchFamily="34" charset="0"/>
                <a:cs typeface="FiraGO Light" panose="020B0403050000020004" pitchFamily="34" charset="0"/>
              </a:rPr>
              <a:t>ტექსტს დაემატება ვარსკვლავი წინ — „</a:t>
            </a:r>
            <a:r>
              <a:rPr lang="en-US" sz="1800">
                <a:solidFill>
                  <a:schemeClr val="bg1"/>
                </a:solidFill>
                <a:latin typeface="FiraGO Light" panose="020B0403050000020004" pitchFamily="34" charset="0"/>
                <a:cs typeface="FiraGO Light" panose="020B0403050000020004" pitchFamily="34" charset="0"/>
              </a:rPr>
              <a:t>✨ </a:t>
            </a:r>
            <a:r>
              <a:rPr lang="ka-GE" sz="1800">
                <a:solidFill>
                  <a:schemeClr val="bg1"/>
                </a:solidFill>
                <a:latin typeface="FiraGO Light" panose="020B0403050000020004" pitchFamily="34" charset="0"/>
                <a:cs typeface="FiraGO Light" panose="020B0403050000020004" pitchFamily="34" charset="0"/>
              </a:rPr>
              <a:t>სათაური“.</a:t>
            </a:r>
          </a:p>
          <a:p>
            <a:r>
              <a:rPr lang="ka-GE" sz="1800">
                <a:solidFill>
                  <a:schemeClr val="bg1"/>
                </a:solidFill>
                <a:latin typeface="FiraGO Light" panose="020B0403050000020004" pitchFamily="34" charset="0"/>
                <a:cs typeface="FiraGO Light" panose="020B0403050000020004" pitchFamily="34" charset="0"/>
              </a:rPr>
              <a:t>ეს ტექნიკა გამოიყენება ვიზუალური გამორჩეულობისთვის.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1179" y="3278551"/>
            <a:ext cx="3699197" cy="2673369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014093" y="5985894"/>
            <a:ext cx="606070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a-GE" sz="2000">
                <a:solidFill>
                  <a:schemeClr val="bg1"/>
                </a:solidFill>
                <a:latin typeface="FiraGO Light" panose="020B0403050000020004" pitchFamily="34" charset="0"/>
                <a:cs typeface="FiraGO Light" panose="020B0403050000020004" pitchFamily="34" charset="0"/>
              </a:rPr>
              <a:t>ტექსტს დაემატება ემოჯი ბოლოში — „დასრულდა </a:t>
            </a:r>
            <a:r>
              <a:rPr lang="en-US" sz="2000">
                <a:solidFill>
                  <a:schemeClr val="bg1"/>
                </a:solidFill>
                <a:latin typeface="FiraGO Light" panose="020B0403050000020004" pitchFamily="34" charset="0"/>
                <a:cs typeface="FiraGO Light" panose="020B0403050000020004" pitchFamily="34" charset="0"/>
              </a:rPr>
              <a:t>🎉</a:t>
            </a:r>
          </a:p>
        </p:txBody>
      </p:sp>
    </p:spTree>
    <p:extLst>
      <p:ext uri="{BB962C8B-B14F-4D97-AF65-F5344CB8AC3E}">
        <p14:creationId xmlns:p14="http://schemas.microsoft.com/office/powerpoint/2010/main" val="37228999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445" y="184671"/>
            <a:ext cx="1155615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0" lang="ka-GE" sz="4000" b="0" i="0" u="none" strike="noStrike" kern="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FiraGO" panose="020B0803050000020004" pitchFamily="34" charset="0"/>
                <a:cs typeface="FiraGO" panose="020B0803050000020004" pitchFamily="34" charset="0"/>
                <a:sym typeface="Arial"/>
              </a:rPr>
              <a:t>// </a:t>
            </a:r>
            <a:r>
              <a:rPr lang="ka-GE" sz="3200">
                <a:solidFill>
                  <a:srgbClr val="1F51FF"/>
                </a:solidFill>
                <a:latin typeface="FiraGO" panose="020B0803050000020004" pitchFamily="34" charset="0"/>
                <a:cs typeface="FiraGO" panose="020B0803050000020004" pitchFamily="34" charset="0"/>
              </a:rPr>
              <a:t>დეკორატიული ხაზის დამატება ::</a:t>
            </a:r>
            <a:r>
              <a:rPr lang="en-US" sz="3200">
                <a:solidFill>
                  <a:srgbClr val="1F51FF"/>
                </a:solidFill>
                <a:latin typeface="FiraGO" panose="020B0803050000020004" pitchFamily="34" charset="0"/>
                <a:cs typeface="FiraGO" panose="020B0803050000020004" pitchFamily="34" charset="0"/>
              </a:rPr>
              <a:t>before-</a:t>
            </a:r>
            <a:r>
              <a:rPr lang="ka-GE" sz="3200">
                <a:solidFill>
                  <a:srgbClr val="1F51FF"/>
                </a:solidFill>
                <a:latin typeface="FiraGO" panose="020B0803050000020004" pitchFamily="34" charset="0"/>
                <a:cs typeface="FiraGO" panose="020B0803050000020004" pitchFamily="34" charset="0"/>
              </a:rPr>
              <a:t>ით </a:t>
            </a:r>
            <a:endParaRPr lang="en-US" sz="3200">
              <a:solidFill>
                <a:srgbClr val="1F51FF"/>
              </a:solidFill>
              <a:latin typeface="FiraGO" panose="020B0803050000020004" pitchFamily="34" charset="0"/>
              <a:cs typeface="FiraGO" panose="020B08030500000200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58331" y="1043976"/>
            <a:ext cx="1123627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>
                <a:solidFill>
                  <a:schemeClr val="bg1"/>
                </a:solidFill>
                <a:latin typeface="FiraGO Light" panose="020B0403050000020004" pitchFamily="34" charset="0"/>
                <a:cs typeface="FiraGO Light" panose="020B0403050000020004" pitchFamily="34" charset="0"/>
              </a:rPr>
              <a:t>::before </a:t>
            </a:r>
            <a:r>
              <a:rPr lang="ka-GE" sz="2400">
                <a:solidFill>
                  <a:schemeClr val="bg1"/>
                </a:solidFill>
                <a:latin typeface="FiraGO Light" panose="020B0403050000020004" pitchFamily="34" charset="0"/>
                <a:cs typeface="FiraGO Light" panose="020B0403050000020004" pitchFamily="34" charset="0"/>
              </a:rPr>
              <a:t>შეგვიძლია გამოვიყენოთ დეკორატიული ელემენტებისთვის, მაგალითად წერტილის ან ზოლის დამატება ტექსტის წინ.</a:t>
            </a:r>
          </a:p>
        </p:txBody>
      </p:sp>
      <p:sp>
        <p:nvSpPr>
          <p:cNvPr id="4" name="Rectangle 3"/>
          <p:cNvSpPr/>
          <p:nvPr/>
        </p:nvSpPr>
        <p:spPr>
          <a:xfrm>
            <a:off x="3286445" y="4930815"/>
            <a:ext cx="47532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✨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964" y="1886547"/>
            <a:ext cx="5960962" cy="477564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45506" y="3098431"/>
            <a:ext cx="573563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a-GE" sz="2400">
                <a:solidFill>
                  <a:schemeClr val="bg1"/>
                </a:solidFill>
                <a:latin typeface="FiraGO Light" panose="020B0403050000020004" pitchFamily="34" charset="0"/>
                <a:cs typeface="FiraGO Light" panose="020B0403050000020004" pitchFamily="34" charset="0"/>
              </a:rPr>
              <a:t>შედეგი: მცირე წითელი კვადრატი გამოჩნდება სათაურზე მარცხნივ</a:t>
            </a:r>
            <a:r>
              <a:rPr lang="ka-GE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709293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445" y="184671"/>
            <a:ext cx="1155615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0" lang="ka-GE" sz="4000" b="0" i="0" u="none" strike="noStrike" kern="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FiraGO" panose="020B0803050000020004" pitchFamily="34" charset="0"/>
                <a:cs typeface="FiraGO" panose="020B0803050000020004" pitchFamily="34" charset="0"/>
                <a:sym typeface="Arial"/>
              </a:rPr>
              <a:t>// </a:t>
            </a:r>
            <a:r>
              <a:rPr kumimoji="0" lang="ka-GE" sz="3200" b="0" i="0" u="none" strike="noStrike" kern="0" cap="none" spc="0" normalizeH="0" baseline="0" noProof="0" smtClean="0">
                <a:ln>
                  <a:noFill/>
                </a:ln>
                <a:solidFill>
                  <a:srgbClr val="1F51FF"/>
                </a:solidFill>
                <a:effectLst/>
                <a:uLnTx/>
                <a:uFillTx/>
                <a:latin typeface="FiraGO" panose="020B0803050000020004" pitchFamily="34" charset="0"/>
                <a:cs typeface="FiraGO" panose="020B0803050000020004" pitchFamily="34" charset="0"/>
                <a:sym typeface="Arial"/>
              </a:rPr>
              <a:t>შეჯამება </a:t>
            </a:r>
            <a:r>
              <a:rPr lang="ka-GE" sz="3200">
                <a:solidFill>
                  <a:srgbClr val="1F51FF"/>
                </a:solidFill>
                <a:latin typeface="FiraGO" panose="020B0803050000020004" pitchFamily="34" charset="0"/>
                <a:cs typeface="FiraGO" panose="020B0803050000020004" pitchFamily="34" charset="0"/>
              </a:rPr>
              <a:t>– ფსევდო კლასი </a:t>
            </a:r>
            <a:r>
              <a:rPr lang="en-US" sz="3200">
                <a:solidFill>
                  <a:srgbClr val="1F51FF"/>
                </a:solidFill>
                <a:latin typeface="FiraGO" panose="020B0803050000020004" pitchFamily="34" charset="0"/>
                <a:cs typeface="FiraGO" panose="020B0803050000020004" pitchFamily="34" charset="0"/>
              </a:rPr>
              <a:t>vs </a:t>
            </a:r>
            <a:r>
              <a:rPr lang="ka-GE" sz="3200">
                <a:solidFill>
                  <a:srgbClr val="1F51FF"/>
                </a:solidFill>
                <a:latin typeface="FiraGO" panose="020B0803050000020004" pitchFamily="34" charset="0"/>
                <a:cs typeface="FiraGO" panose="020B0803050000020004" pitchFamily="34" charset="0"/>
              </a:rPr>
              <a:t>ფსევდო ელემენტი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3200" b="0" i="0" u="none" strike="noStrike" kern="0" cap="none" spc="0" normalizeH="0" baseline="0" noProof="0">
              <a:ln>
                <a:noFill/>
              </a:ln>
              <a:solidFill>
                <a:srgbClr val="1F51FF"/>
              </a:solidFill>
              <a:effectLst/>
              <a:uLnTx/>
              <a:uFillTx/>
              <a:latin typeface="FiraGO" panose="020B0803050000020004" pitchFamily="34" charset="0"/>
              <a:cs typeface="FiraGO" panose="020B0803050000020004" pitchFamily="34" charset="0"/>
              <a:sym typeface="Arial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445506" y="3098431"/>
            <a:ext cx="573563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a-GE" sz="1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/>
                <a:sym typeface="Arial"/>
              </a:rPr>
              <a:t>.</a:t>
            </a:r>
            <a:endParaRPr kumimoji="0" lang="ka-GE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Arial"/>
              <a:sym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020" y="1141931"/>
            <a:ext cx="9502816" cy="293777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504711" y="4519474"/>
            <a:ext cx="908612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a-GE" sz="2400">
                <a:solidFill>
                  <a:schemeClr val="bg1"/>
                </a:solidFill>
                <a:latin typeface="FiraGO" panose="020B0803050000020004" pitchFamily="34" charset="0"/>
                <a:cs typeface="FiraGO" panose="020B0803050000020004" pitchFamily="34" charset="0"/>
              </a:rPr>
              <a:t>ფსევდო კლასები მართავენ ელემენტის მდგომარეობებს (მაგალითად </a:t>
            </a:r>
            <a:r>
              <a:rPr lang="en-US" sz="2400">
                <a:solidFill>
                  <a:schemeClr val="bg1"/>
                </a:solidFill>
                <a:latin typeface="FiraGO" panose="020B0803050000020004" pitchFamily="34" charset="0"/>
                <a:cs typeface="FiraGO" panose="020B0803050000020004" pitchFamily="34" charset="0"/>
              </a:rPr>
              <a:t>hover </a:t>
            </a:r>
            <a:r>
              <a:rPr lang="ka-GE" sz="2400">
                <a:solidFill>
                  <a:schemeClr val="bg1"/>
                </a:solidFill>
                <a:latin typeface="FiraGO" panose="020B0803050000020004" pitchFamily="34" charset="0"/>
                <a:cs typeface="FiraGO" panose="020B0803050000020004" pitchFamily="34" charset="0"/>
              </a:rPr>
              <a:t>ან </a:t>
            </a:r>
            <a:r>
              <a:rPr lang="en-US" sz="2400">
                <a:solidFill>
                  <a:schemeClr val="bg1"/>
                </a:solidFill>
                <a:latin typeface="FiraGO" panose="020B0803050000020004" pitchFamily="34" charset="0"/>
                <a:cs typeface="FiraGO" panose="020B0803050000020004" pitchFamily="34" charset="0"/>
              </a:rPr>
              <a:t>focus), </a:t>
            </a:r>
            <a:r>
              <a:rPr lang="ka-GE" sz="2400">
                <a:solidFill>
                  <a:schemeClr val="bg1"/>
                </a:solidFill>
                <a:latin typeface="FiraGO" panose="020B0803050000020004" pitchFamily="34" charset="0"/>
                <a:cs typeface="FiraGO" panose="020B0803050000020004" pitchFamily="34" charset="0"/>
              </a:rPr>
              <a:t>ხოლო ფსევდო ელემენტები ვირტუალურად აჩენენ ახალ ვიზუალურ ელემენტებს.</a:t>
            </a:r>
          </a:p>
        </p:txBody>
      </p:sp>
    </p:spTree>
    <p:extLst>
      <p:ext uri="{BB962C8B-B14F-4D97-AF65-F5344CB8AC3E}">
        <p14:creationId xmlns:p14="http://schemas.microsoft.com/office/powerpoint/2010/main" val="36469675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01">
          <a:extLst>
            <a:ext uri="{FF2B5EF4-FFF2-40B4-BE49-F238E27FC236}">
              <a16:creationId xmlns:a16="http://schemas.microsoft.com/office/drawing/2014/main" id="{AA1C56B9-8CDC-D13A-D566-89EA34096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6">
            <a:extLst>
              <a:ext uri="{FF2B5EF4-FFF2-40B4-BE49-F238E27FC236}">
                <a16:creationId xmlns:a16="http://schemas.microsoft.com/office/drawing/2014/main" id="{98E62D9D-4B85-5ED2-373B-8E0998C56A8F}"/>
              </a:ext>
            </a:extLst>
          </p:cNvPr>
          <p:cNvSpPr txBox="1"/>
          <p:nvPr/>
        </p:nvSpPr>
        <p:spPr>
          <a:xfrm>
            <a:off x="288042" y="138935"/>
            <a:ext cx="11720969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a-DK" sz="4400" b="1" i="0" dirty="0" smtClean="0">
                <a:solidFill>
                  <a:srgbClr val="F4DA33"/>
                </a:solidFill>
                <a:effectLst/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//</a:t>
            </a:r>
            <a:r>
              <a:rPr lang="ka-GE" sz="4400" b="1" i="0" dirty="0" smtClean="0">
                <a:solidFill>
                  <a:srgbClr val="1F51FF"/>
                </a:solidFill>
                <a:effectLst/>
                <a:latin typeface="FiraGO" panose="020B0503050000020004" pitchFamily="34" charset="0"/>
                <a:ea typeface="FiraGO" panose="020B0503050000020004" pitchFamily="34" charset="0"/>
                <a:cs typeface="FiraGO" panose="020B0503050000020004" pitchFamily="34" charset="0"/>
              </a:rPr>
              <a:t>დავალება</a:t>
            </a:r>
            <a:endParaRPr lang="ka-GE" sz="2800" b="1" dirty="0">
              <a:solidFill>
                <a:srgbClr val="1F51FF"/>
              </a:solidFill>
              <a:latin typeface="FiraGO" panose="020B0503050000020004" pitchFamily="34" charset="0"/>
              <a:ea typeface="FiraGO" panose="020B0503050000020004" pitchFamily="34" charset="0"/>
              <a:cs typeface="FiraGO" panose="020B0503050000020004" pitchFamily="34" charset="0"/>
              <a:sym typeface="Arial"/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288042" y="1322308"/>
            <a:ext cx="11321366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FiraGO" panose="020B0803050000020004" pitchFamily="34" charset="0"/>
                <a:cs typeface="FiraGO" panose="020B0803050000020004" pitchFamily="34" charset="0"/>
              </a:rPr>
              <a:t>შექმენით პატარა "კონტაქტის ბარათი", რომელიც შეიცავს შემდეგს: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FiraGO" panose="020B0803050000020004" pitchFamily="34" charset="0"/>
                <a:cs typeface="FiraGO" panose="020B0803050000020004" pitchFamily="34" charset="0"/>
              </a:rPr>
              <a:t>✅ ელემენტი div კლასით card</a:t>
            </a:r>
            <a:br>
              <a:rPr kumimoji="0" lang="en-US" altLang="en-US" sz="2800" b="0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FiraGO" panose="020B0803050000020004" pitchFamily="34" charset="0"/>
                <a:cs typeface="FiraGO" panose="020B0803050000020004" pitchFamily="34" charset="0"/>
              </a:rPr>
            </a:br>
            <a:r>
              <a:rPr kumimoji="0" lang="en-US" altLang="en-US" sz="2800" b="0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FiraGO" panose="020B0803050000020004" pitchFamily="34" charset="0"/>
                <a:cs typeface="FiraGO" panose="020B0803050000020004" pitchFamily="34" charset="0"/>
              </a:rPr>
              <a:t>✅ შიგნით h2 სათაური და p აღწერა</a:t>
            </a:r>
            <a:br>
              <a:rPr kumimoji="0" lang="en-US" altLang="en-US" sz="2800" b="0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FiraGO" panose="020B0803050000020004" pitchFamily="34" charset="0"/>
                <a:cs typeface="FiraGO" panose="020B0803050000020004" pitchFamily="34" charset="0"/>
              </a:rPr>
            </a:br>
            <a:r>
              <a:rPr kumimoji="0" lang="en-US" altLang="en-US" sz="2800" b="0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FiraGO" panose="020B0803050000020004" pitchFamily="34" charset="0"/>
                <a:cs typeface="FiraGO" panose="020B0803050000020004" pitchFamily="34" charset="0"/>
              </a:rPr>
              <a:t>✅ ::before გამოიყენეთ ბარათის მარცხნივ დეკორატიული ელემენტის დასამატებლად (მაგ. ფერის ზოლი ან ემოჯი)</a:t>
            </a:r>
            <a:br>
              <a:rPr kumimoji="0" lang="en-US" altLang="en-US" sz="2800" b="0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FiraGO" panose="020B0803050000020004" pitchFamily="34" charset="0"/>
                <a:cs typeface="FiraGO" panose="020B0803050000020004" pitchFamily="34" charset="0"/>
              </a:rPr>
            </a:br>
            <a:r>
              <a:rPr kumimoji="0" lang="en-US" altLang="en-US" sz="2800" b="0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FiraGO" panose="020B0803050000020004" pitchFamily="34" charset="0"/>
                <a:cs typeface="FiraGO" panose="020B0803050000020004" pitchFamily="34" charset="0"/>
              </a:rPr>
              <a:t>✅ :hover გამოიყენეთ ბარათის ჩრდილის ან ზომის ეფექტისთვის</a:t>
            </a:r>
            <a:br>
              <a:rPr kumimoji="0" lang="en-US" altLang="en-US" sz="2800" b="0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FiraGO" panose="020B0803050000020004" pitchFamily="34" charset="0"/>
                <a:cs typeface="FiraGO" panose="020B0803050000020004" pitchFamily="34" charset="0"/>
              </a:rPr>
            </a:br>
            <a:r>
              <a:rPr kumimoji="0" lang="en-US" altLang="en-US" sz="2800" b="0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FiraGO" panose="020B0803050000020004" pitchFamily="34" charset="0"/>
                <a:cs typeface="FiraGO" panose="020B0803050000020004" pitchFamily="34" charset="0"/>
              </a:rPr>
              <a:t>✅ :first-child გამოიყენეთ სტილის მისაცემად პირველ ბარათს</a:t>
            </a:r>
          </a:p>
        </p:txBody>
      </p:sp>
    </p:spTree>
    <p:extLst>
      <p:ext uri="{BB962C8B-B14F-4D97-AF65-F5344CB8AC3E}">
        <p14:creationId xmlns:p14="http://schemas.microsoft.com/office/powerpoint/2010/main" val="24683828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6614108-75a9-4e66-8a32-9441b5203e5d">
      <Terms xmlns="http://schemas.microsoft.com/office/infopath/2007/PartnerControls"/>
    </lcf76f155ced4ddcb4097134ff3c332f>
    <TaxCatchAll xmlns="03d70116-57c7-4d11-b8b6-fca79f70cc49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6B30F4B5B4F1C4F898D01A5B6D6EAC6" ma:contentTypeVersion="11" ma:contentTypeDescription="Create a new document." ma:contentTypeScope="" ma:versionID="5799349a26875bb54342e6f15b0d7dd3">
  <xsd:schema xmlns:xsd="http://www.w3.org/2001/XMLSchema" xmlns:xs="http://www.w3.org/2001/XMLSchema" xmlns:p="http://schemas.microsoft.com/office/2006/metadata/properties" xmlns:ns2="c6614108-75a9-4e66-8a32-9441b5203e5d" xmlns:ns3="03d70116-57c7-4d11-b8b6-fca79f70cc49" targetNamespace="http://schemas.microsoft.com/office/2006/metadata/properties" ma:root="true" ma:fieldsID="39757c6bdb6c88709aaa91037d09d708" ns2:_="" ns3:_="">
    <xsd:import namespace="c6614108-75a9-4e66-8a32-9441b5203e5d"/>
    <xsd:import namespace="03d70116-57c7-4d11-b8b6-fca79f70cc4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6614108-75a9-4e66-8a32-9441b5203e5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34b8e8dd-1825-4134-a8d0-63b7970bc4a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3d70116-57c7-4d11-b8b6-fca79f70cc49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9c49b0b1-cf67-49ef-9804-19a02ea3f661}" ma:internalName="TaxCatchAll" ma:showField="CatchAllData" ma:web="03d70116-57c7-4d11-b8b6-fca79f70cc4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AE8887C-1181-4408-93E7-585542DE347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A9CC135-CD56-4F8B-921B-D95EF0B22F3D}">
  <ds:schemaRefs>
    <ds:schemaRef ds:uri="http://schemas.microsoft.com/office/2006/metadata/properties"/>
    <ds:schemaRef ds:uri="http://schemas.microsoft.com/office/infopath/2007/PartnerControls"/>
    <ds:schemaRef ds:uri="6641dcd3-7dc6-4696-bf59-c6211389010d"/>
    <ds:schemaRef ds:uri="61bf6615-2d26-442b-9d24-621696d9153b"/>
  </ds:schemaRefs>
</ds:datastoreItem>
</file>

<file path=customXml/itemProps3.xml><?xml version="1.0" encoding="utf-8"?>
<ds:datastoreItem xmlns:ds="http://schemas.openxmlformats.org/officeDocument/2006/customXml" ds:itemID="{DDF7D125-9945-4618-9AC9-A5095940F926}"/>
</file>

<file path=docProps/app.xml><?xml version="1.0" encoding="utf-8"?>
<Properties xmlns="http://schemas.openxmlformats.org/officeDocument/2006/extended-properties" xmlns:vt="http://schemas.openxmlformats.org/officeDocument/2006/docPropsVTypes">
  <TotalTime>267</TotalTime>
  <Words>346</Words>
  <Application>Microsoft Office PowerPoint</Application>
  <PresentationFormat>Widescreen</PresentationFormat>
  <Paragraphs>40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FiraGO Light</vt:lpstr>
      <vt:lpstr>Calibri</vt:lpstr>
      <vt:lpstr>FiraGO</vt:lpstr>
      <vt:lpstr>Noto Sans</vt:lpstr>
      <vt:lpstr>Office Theme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ბაია გურაბანიძე</dc:creator>
  <cp:lastModifiedBy>Ani Beroshvili</cp:lastModifiedBy>
  <cp:revision>26</cp:revision>
  <dcterms:created xsi:type="dcterms:W3CDTF">2024-10-25T12:59:50Z</dcterms:created>
  <dcterms:modified xsi:type="dcterms:W3CDTF">2025-04-22T08:56:29Z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0x010100C6B30F4B5B4F1C4F898D01A5B6D6EAC6</vt:lpwstr>
  </property>
</Properties>
</file>